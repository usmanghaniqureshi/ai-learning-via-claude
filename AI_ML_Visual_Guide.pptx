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96FF"/>
                </a:solidFill>
              </a:defRPr>
            </a:pPr>
            <a:r>
              <a:t>AI &amp;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Visual Study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8C8D2"/>
                </a:solidFill>
              </a:defRPr>
            </a:pPr>
            <a:r>
              <a:t>From Intelligence to Reinforcement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C8D2"/>
                </a:solidFill>
              </a:defRPr>
            </a:pPr>
            <a:r>
              <a:t>Personal Study Guide  |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FF"/>
                </a:solidFill>
              </a:defRPr>
            </a:pPr>
            <a:r>
              <a:t>1. What is Intelligence?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C8D2"/>
                </a:solidFill>
              </a:defRPr>
            </a:pPr>
            <a:r>
              <a:t>The ability to Learn, Understand, Decide, and Adapt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2560320" cy="2286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C864"/>
                </a:solidFill>
              </a:defRPr>
            </a:pPr>
            <a:r>
              <a:t>LEARN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C8D2"/>
                </a:solidFill>
              </a:defRPr>
            </a:pPr>
            <a:r>
              <a:t>Get better from</a:t>
            </a:r>
            <a:br/>
            <a:r>
              <a:t>past experience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828800"/>
            <a:ext cx="2560320" cy="2286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920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</a:defRPr>
            </a:pPr>
            <a:r>
              <a:t>UNDERSTAND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46888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C8D2"/>
                </a:solidFill>
              </a:defRPr>
            </a:pPr>
            <a:r>
              <a:t>Make sense of</a:t>
            </a:r>
            <a:br/>
            <a:r>
              <a:t>new situations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828800"/>
            <a:ext cx="2560320" cy="2286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A500"/>
                </a:solidFill>
              </a:defRPr>
            </a:pPr>
            <a:r>
              <a:t>DECIDE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6888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C8D2"/>
                </a:solidFill>
              </a:defRPr>
            </a:pPr>
            <a:r>
              <a:t>Choose the best</a:t>
            </a:r>
            <a:br/>
            <a:r>
              <a:t>action to take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828800"/>
            <a:ext cx="2560320" cy="2286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920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464FF"/>
                </a:solidFill>
              </a:defRPr>
            </a:pPr>
            <a:r>
              <a:t>ADAPT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46888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C8D2"/>
                </a:solidFill>
              </a:defRPr>
            </a:pPr>
            <a:r>
              <a:t>Change behavior</a:t>
            </a:r>
            <a:br/>
            <a:r>
              <a:t>when things change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72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C8D2"/>
                </a:solidFill>
              </a:defRPr>
            </a:pPr>
            <a:r>
              <a:t>Dark clouds -&gt; remember rain -&gt; walk faster -&gt; carry umbrella next time</a:t>
            </a:r>
            <a:br/>
            <a:r>
              <a:t>That process = Intelligence!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FF"/>
                </a:solidFill>
              </a:defRPr>
            </a:pPr>
            <a:r>
              <a:t>2. What is AI?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C8D2"/>
                </a:solidFill>
              </a:defRPr>
            </a:pPr>
            <a:r>
              <a:t>Teaching machines to do what normally needs human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4572000" cy="2286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9202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64"/>
                </a:solidFill>
              </a:defRPr>
            </a:pPr>
            <a:r>
              <a:t>HUMAN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240280"/>
            <a:ext cx="42976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Brain learns from experience</a:t>
            </a:r>
            <a:br/>
            <a:r>
              <a:t>Understands context</a:t>
            </a:r>
            <a:br/>
            <a:r>
              <a:t>Makes decisions</a:t>
            </a:r>
            <a:br/>
            <a:r>
              <a:t>Adapts to change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828800"/>
            <a:ext cx="4572000" cy="2286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9202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</a:defRPr>
            </a:pPr>
            <a:r>
              <a:t>ARTIFICIAL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240280"/>
            <a:ext cx="42976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Software learns from data</a:t>
            </a:r>
            <a:br/>
            <a:r>
              <a:t>Finds patterns</a:t>
            </a:r>
            <a:br/>
            <a:r>
              <a:t>Makes predictions</a:t>
            </a:r>
            <a:br/>
            <a:r>
              <a:t>Improves over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A500"/>
                </a:solidFill>
              </a:defRPr>
            </a:pPr>
            <a:r>
              <a:t>AI = Brain (Software)     |     Robot = Body (Hardware)     |     Most AI has NO body!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12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C8D2"/>
                </a:solidFill>
              </a:defRPr>
            </a:pPr>
            <a:r>
              <a:t>Examples: Instagram recommendations, Gmail spam filter, Google Maps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FF"/>
                </a:solidFill>
              </a:defRPr>
            </a:pPr>
            <a:r>
              <a:t>3. Types of AI - 3 Levels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0058400" cy="155448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864"/>
                </a:solidFill>
              </a:defRPr>
            </a:pPr>
            <a:r>
              <a:t>NARROW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2"/>
                </a:solidFill>
              </a:defRPr>
            </a:pPr>
            <a:r>
              <a:t>One thing really well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280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64"/>
                </a:solidFill>
              </a:defRPr>
            </a:pPr>
            <a:r>
              <a:t>EXISTS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691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2"/>
                </a:solidFill>
              </a:defRPr>
            </a:pPr>
            <a:r>
              <a:t>Google Maps, Siri, ChatGPT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017520"/>
            <a:ext cx="10058400" cy="155448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500"/>
                </a:solidFill>
              </a:defRPr>
            </a:pPr>
            <a:r>
              <a:t>GENERAL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204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2"/>
                </a:solidFill>
              </a:defRPr>
            </a:pPr>
            <a:r>
              <a:t>Everything a human can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500"/>
                </a:solidFill>
              </a:defRPr>
            </a:pPr>
            <a:r>
              <a:t>NOT YET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5204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2"/>
                </a:solidFill>
              </a:defRPr>
            </a:pPr>
            <a:r>
              <a:t>Science fiction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846320"/>
            <a:ext cx="10058400" cy="155448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9377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5050"/>
                </a:solidFill>
              </a:defRPr>
            </a:pPr>
            <a:r>
              <a:t>SUPER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349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2"/>
                </a:solidFill>
              </a:defRPr>
            </a:pPr>
            <a:r>
              <a:t>Better than ALL humans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49377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5050"/>
                </a:solidFill>
              </a:defRPr>
            </a:pPr>
            <a:r>
              <a:t>SCI-FI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5349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2"/>
                </a:solidFill>
              </a:defRPr>
            </a:pPr>
            <a:r>
              <a:t>Ultron, Skynet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FF"/>
                </a:solidFill>
              </a:defRPr>
            </a:pPr>
            <a:r>
              <a:t>4. Traditional Programming vs Machine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029200" cy="27432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5050"/>
                </a:solidFill>
              </a:defRPr>
            </a:pPr>
            <a:r>
              <a:t>TRADITIONAL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RULES + DATA  --&gt;  ANSWERS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C8D2"/>
                </a:solidFill>
              </a:defRPr>
            </a:pPr>
            <a:r>
              <a:t>Human writes all the rules</a:t>
            </a:r>
            <a:br/>
            <a:r>
              <a:t>Computer just follows blindly</a:t>
            </a:r>
            <a:br/>
            <a:r>
              <a:t>Like a recipe book - follow steps</a:t>
            </a:r>
            <a:br/>
            <a:br/>
            <a:r>
              <a:t>"IF contains lottery THEN spam"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371600"/>
            <a:ext cx="5029200" cy="27432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C864"/>
                </a:solidFill>
              </a:defRPr>
            </a:pPr>
            <a:r>
              <a:t>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DATA + ANSWERS  --&gt; 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5603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C8D2"/>
                </a:solidFill>
              </a:defRPr>
            </a:pPr>
            <a:r>
              <a:t>Computer learns rules by itself</a:t>
            </a:r>
            <a:br/>
            <a:r>
              <a:t>Finds patterns from examples</a:t>
            </a:r>
            <a:br/>
            <a:r>
              <a:t>Like tasting 1000 dishes</a:t>
            </a:r>
            <a:br/>
            <a:br/>
            <a:r>
              <a:t>"Show 50K emails -&gt; learns spam patterns"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720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A500"/>
                </a:solidFill>
              </a:defRPr>
            </a:pPr>
            <a:r>
              <a:t>ML is better when rules are too complex for humans</a:t>
            </a:r>
            <a:br/>
            <a:r>
              <a:t>(Face recognition, language understanding, spam detection)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FF"/>
                </a:solidFill>
              </a:defRPr>
            </a:pPr>
            <a:r>
              <a:t>5. The AI Hierarchy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188720"/>
            <a:ext cx="9418320" cy="5029200"/>
          </a:xfrm>
          <a:prstGeom prst="rect">
            <a:avLst/>
          </a:prstGeom>
          <a:solidFill>
            <a:srgbClr val="283246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876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</a:defRPr>
            </a:pPr>
            <a:r>
              <a:t>AI - Any smart machine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103120" y="1828800"/>
            <a:ext cx="7955279" cy="4114800"/>
          </a:xfrm>
          <a:prstGeom prst="rect">
            <a:avLst/>
          </a:prstGeom>
          <a:solidFill>
            <a:srgbClr val="283C32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40279" y="1920240"/>
            <a:ext cx="76809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64"/>
                </a:solidFill>
              </a:defRPr>
            </a:pPr>
            <a:r>
              <a:t>ML - Learns from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2468880"/>
            <a:ext cx="6492240" cy="3200400"/>
          </a:xfrm>
          <a:prstGeom prst="rect">
            <a:avLst/>
          </a:prstGeom>
          <a:solidFill>
            <a:srgbClr val="3C283C"/>
          </a:solidFill>
          <a:ln w="25400">
            <a:solidFill>
              <a:srgbClr val="B4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0" y="256032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464FF"/>
                </a:solidFill>
              </a:defRPr>
            </a:pPr>
            <a:r>
              <a:t>Deep Learning - Neural networks with layers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3108960"/>
            <a:ext cx="4846320" cy="2286000"/>
          </a:xfrm>
          <a:prstGeom prst="rect">
            <a:avLst/>
          </a:prstGeom>
          <a:solidFill>
            <a:srgbClr val="463228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6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500"/>
                </a:solidFill>
              </a:defRPr>
            </a:pPr>
            <a:r>
              <a:t>LLMs - Deep Learning for language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B464FF"/>
                </a:solidFill>
              </a:defRPr>
            </a:pPr>
            <a:r>
              <a:t>How Deep Learning Works -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103120" cy="2286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6FF"/>
                </a:solidFill>
              </a:defRPr>
            </a:pPr>
            <a:r>
              <a:t>Layer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01168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C8D2"/>
                </a:solidFill>
              </a:defRPr>
            </a:pPr>
            <a:r>
              <a:t>Find edges</a:t>
            </a:r>
            <a:br/>
            <a:r>
              <a:t>&amp; 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C32"/>
                </a:solidFill>
              </a:defRPr>
            </a:pPr>
            <a:r>
              <a:t>&gt;&gt;&gt;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1371600"/>
            <a:ext cx="2103120" cy="2286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0" y="1463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C864"/>
                </a:solidFill>
              </a:defRPr>
            </a:pPr>
            <a:r>
              <a:t>Layer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59" y="201168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C8D2"/>
                </a:solidFill>
              </a:defRPr>
            </a:pPr>
            <a:r>
              <a:t>Combine into</a:t>
            </a:r>
            <a:br/>
            <a:r>
              <a:t>shapes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C32"/>
                </a:solidFill>
              </a:defRPr>
            </a:pPr>
            <a:r>
              <a:t>&gt;&gt;&gt;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371600"/>
            <a:ext cx="2103120" cy="2286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63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A500"/>
                </a:solidFill>
              </a:defRPr>
            </a:pPr>
            <a:r>
              <a:t>Layer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201168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C8D2"/>
                </a:solidFill>
              </a:defRPr>
            </a:pPr>
            <a:r>
              <a:t>Assemble</a:t>
            </a:r>
            <a:br/>
            <a:r>
              <a:t>face parts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59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C32"/>
                </a:solidFill>
              </a:defRPr>
            </a:pPr>
            <a:r>
              <a:t>&gt;&gt;&gt;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59" y="1371600"/>
            <a:ext cx="2103120" cy="2286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59" y="1463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5050"/>
                </a:solidFill>
              </a:defRPr>
            </a:pPr>
            <a:r>
              <a:t>Layer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3999" y="201168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C8D2"/>
                </a:solidFill>
              </a:defRPr>
            </a:pPr>
            <a:r>
              <a:t>Identify</a:t>
            </a:r>
            <a:br/>
            <a:r>
              <a:t>the person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D2"/>
                </a:solidFill>
              </a:defRPr>
            </a:pPr>
            <a:r>
              <a:t>Each layer builds on the previous: Simple -&gt; Complex -&gt; Answer</a:t>
            </a:r>
            <a:br/>
            <a:r>
              <a:t>"DEEP" = Many layers deep!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5029200"/>
            <a:ext cx="10058400" cy="109728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120640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500"/>
                </a:solidFill>
              </a:defRPr>
            </a:pPr>
            <a:r>
              <a:t>Training = Guitar Tuning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48640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</a:defRPr>
            </a:pPr>
            <a:r>
              <a:t>Show photo -&gt; Model guesses -&gt; If wrong, math finds which weights caused mistake -&gt; Adjust slightly -&gt; Repeat 50,000+ times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FF"/>
                </a:solidFill>
              </a:defRPr>
            </a:pPr>
            <a:r>
              <a:t>6. Supervised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C8D2"/>
                </a:solidFill>
              </a:defRPr>
            </a:pPr>
            <a:r>
              <a:t>Learning WITH a teacher  |  Data + Labels (correct answers)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212080" cy="292608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864"/>
                </a:solidFill>
              </a:defRPr>
            </a:pPr>
            <a:r>
              <a:t>CLASSIFICATION = Answer is a WORD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</a:defRPr>
            </a:pPr>
            <a:r>
              <a:t>"Which box does this go in?"</a:t>
            </a:r>
            <a:br/>
            <a:br/>
            <a:r>
              <a:t>Is this spam? -&gt; Yes / No</a:t>
            </a:r>
            <a:br/>
            <a:r>
              <a:t>What animal? -&gt; Cat / Dog / Bird</a:t>
            </a:r>
            <a:br/>
            <a:r>
              <a:t>Is bone broken? -&gt; Broken / Not Broken</a:t>
            </a:r>
            <a:br/>
            <a:r>
              <a:t>T-shirt size? -&gt; S / M / L / XL</a:t>
            </a:r>
            <a:br/>
            <a:br/>
            <a:r>
              <a:t>Like a fruit sorting machine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212080" cy="292608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500"/>
                </a:solidFill>
              </a:defRPr>
            </a:pPr>
            <a:r>
              <a:t>REGRESSION = Answer is a 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</a:defRPr>
            </a:pPr>
            <a:r>
              <a:t>"What value will this be?"</a:t>
            </a:r>
            <a:br/>
            <a:br/>
            <a:r>
              <a:t>House price? -&gt; Rs 45 lakhs</a:t>
            </a:r>
            <a:br/>
            <a:r>
              <a:t>Temperature tomorrow? -&gt; 33 deg C</a:t>
            </a:r>
            <a:br/>
            <a:r>
              <a:t>Delivery time? -&gt; 2.5 hours</a:t>
            </a:r>
            <a:br/>
            <a:r>
              <a:t>Student marks? -&gt; 87/100</a:t>
            </a:r>
            <a:br/>
            <a:br/>
            <a:r>
              <a:t>Like mango shopkeeper predicting price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DC32"/>
                </a:solidFill>
              </a:defRPr>
            </a:pPr>
            <a:r>
              <a:t>Same question can be either: "Will student pass?" = Classification  |  "What marks?" = Regression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864"/>
                </a:solidFill>
              </a:defRPr>
            </a:pPr>
            <a:r>
              <a:t>Famous Classification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103120" cy="36576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864"/>
                </a:solidFill>
              </a:defRPr>
            </a:pPr>
            <a:r>
              <a:t>Logistic</a:t>
            </a:r>
            <a:br/>
            <a:r>
              <a:t>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FF"/>
                </a:solidFill>
              </a:defRPr>
            </a:pPr>
            <a:r>
              <a:t>How: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Draws a line</a:t>
            </a:r>
            <a:br/>
            <a:r>
              <a:t>between groups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500"/>
                </a:solidFill>
              </a:defRPr>
            </a:pPr>
            <a:r>
              <a:t>Analogy: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Fence between</a:t>
            </a:r>
            <a:br/>
            <a:r>
              <a:t>apples &amp; oranges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188720"/>
            <a:ext cx="2103120" cy="36576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12801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864"/>
                </a:solidFill>
              </a:defRPr>
            </a:pPr>
            <a:r>
              <a:t>Decision</a:t>
            </a:r>
            <a:br/>
            <a:r>
              <a:t>Tree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0116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FF"/>
                </a:solidFill>
              </a:defRPr>
            </a:pPr>
            <a:r>
              <a:t>How: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2860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Flowchart of</a:t>
            </a:r>
            <a:br/>
            <a:r>
              <a:t>yes/no 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1089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500"/>
                </a:solidFill>
              </a:defRPr>
            </a:pPr>
            <a:r>
              <a:t>Analogy: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3832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Playing 20</a:t>
            </a:r>
            <a:br/>
            <a:r>
              <a:t>Questions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1188720"/>
            <a:ext cx="2103120" cy="36576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12801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864"/>
                </a:solidFill>
              </a:defRPr>
            </a:pPr>
            <a:r>
              <a:t>Random</a:t>
            </a:r>
            <a:br/>
            <a:r>
              <a:t>Forest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0116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FF"/>
                </a:solidFill>
              </a:defRPr>
            </a:pPr>
            <a:r>
              <a:t>How: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2860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100+ trees</a:t>
            </a:r>
            <a:br/>
            <a:r>
              <a:t>vote together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1089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500"/>
                </a:solidFill>
              </a:defRPr>
            </a:pPr>
            <a:r>
              <a:t>Analogy: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3832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100 doctors,</a:t>
            </a:r>
            <a:br/>
            <a:r>
              <a:t>majority wins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1188720"/>
            <a:ext cx="2103120" cy="36576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12801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864"/>
                </a:solidFill>
              </a:defRPr>
            </a:pPr>
            <a:r>
              <a:t>SVM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20116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FF"/>
                </a:solidFill>
              </a:defRPr>
            </a:pPr>
            <a:r>
              <a:t>How: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22860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Best boundary</a:t>
            </a:r>
            <a:br/>
            <a:r>
              <a:t>with max gap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31089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500"/>
                </a:solidFill>
              </a:defRPr>
            </a:pPr>
            <a:r>
              <a:t>Analogy: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33832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Wall with max</a:t>
            </a:r>
            <a:br/>
            <a:r>
              <a:t>empty space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1188720"/>
            <a:ext cx="2103120" cy="36576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0" y="12801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864"/>
                </a:solidFill>
              </a:defRPr>
            </a:pPr>
            <a:r>
              <a:t>KNN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20116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FF"/>
                </a:solidFill>
              </a:defRPr>
            </a:pPr>
            <a:r>
              <a:t>How: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22860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K closest</a:t>
            </a:r>
            <a:br/>
            <a:r>
              <a:t>neighbors decide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31089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A500"/>
                </a:solidFill>
              </a:defRPr>
            </a:pPr>
            <a:r>
              <a:t>Analogy: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33832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Rich neighbors</a:t>
            </a:r>
            <a:br/>
            <a:r>
              <a:t>= expensive house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A500"/>
                </a:solidFill>
              </a:defRPr>
            </a:pPr>
            <a:r>
              <a:t>Famous Regression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2377440" cy="36576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500"/>
                </a:solidFill>
              </a:defRPr>
            </a:pPr>
            <a:r>
              <a:t>Linear</a:t>
            </a:r>
            <a:br/>
            <a:r>
              <a:t>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FF"/>
                </a:solidFill>
              </a:defRPr>
            </a:pPr>
            <a:r>
              <a:t>How: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Best straight line</a:t>
            </a:r>
            <a:br/>
            <a:r>
              <a:t>through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1089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</a:defRPr>
            </a:pPr>
            <a:r>
              <a:t>Analogy: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832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House size vs</a:t>
            </a:r>
            <a:br/>
            <a:r>
              <a:t>price 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188720"/>
            <a:ext cx="2377440" cy="36576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2801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500"/>
                </a:solidFill>
              </a:defRPr>
            </a:pPr>
            <a:r>
              <a:t>Polynomial</a:t>
            </a:r>
            <a:br/>
            <a:r>
              <a:t>Regression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0116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FF"/>
                </a:solidFill>
              </a:defRPr>
            </a:pPr>
            <a:r>
              <a:t>How: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286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Curved line</a:t>
            </a:r>
            <a:br/>
            <a:r>
              <a:t>instead of straight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1089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</a:defRPr>
            </a:pPr>
            <a:r>
              <a:t>Analogy: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3832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Real life isn't</a:t>
            </a:r>
            <a:br/>
            <a:r>
              <a:t>always straight!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2377440" cy="36576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12801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500"/>
                </a:solidFill>
              </a:defRPr>
            </a:pPr>
            <a:r>
              <a:t>Random Forest</a:t>
            </a:r>
            <a:br/>
            <a:r>
              <a:t>Regression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20116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FF"/>
                </a:solidFill>
              </a:defRPr>
            </a:pPr>
            <a:r>
              <a:t>How: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2286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100+ trees average</a:t>
            </a:r>
            <a:br/>
            <a:r>
              <a:t>their predictions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31089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</a:defRPr>
            </a:pPr>
            <a:r>
              <a:t>Analogy: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33832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Same as classification</a:t>
            </a:r>
            <a:br/>
            <a:r>
              <a:t>but predicts numbers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69680" y="1188720"/>
            <a:ext cx="2377440" cy="36576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19" y="12801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500"/>
                </a:solidFill>
              </a:defRPr>
            </a:pPr>
            <a:r>
              <a:t>Neural</a:t>
            </a:r>
            <a:br/>
            <a:r>
              <a:t>Networks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0116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FF"/>
                </a:solidFill>
              </a:defRPr>
            </a:pPr>
            <a:r>
              <a:t>How: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19" y="22860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Many layers, finds</a:t>
            </a:r>
            <a:br/>
            <a:r>
              <a:t>complex patterns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19" y="31089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</a:defRPr>
            </a:pPr>
            <a:r>
              <a:t>Analogy: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19" y="33832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Most powerful,</a:t>
            </a:r>
            <a:br/>
            <a:r>
              <a:t>needs lots of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FF"/>
                </a:solidFill>
              </a:defRPr>
            </a:pPr>
            <a:r>
              <a:t>7. Unsupervised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C8D2"/>
                </a:solidFill>
              </a:defRPr>
            </a:pPr>
            <a:r>
              <a:t>Learning WITHOUT a teacher  |  Data with NO labels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212080" cy="32004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864"/>
                </a:solidFill>
              </a:defRPr>
            </a:pPr>
            <a:r>
              <a:t>CLUSTERING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"Group similar things together"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Customer segmentation: budget/luxury/deal hunters</a:t>
            </a:r>
            <a:br/>
            <a:r>
              <a:t>Spotify: songs by mood/style/energy</a:t>
            </a:r>
            <a:br/>
            <a:r>
              <a:t>Google Photos: groups faces before you name them</a:t>
            </a:r>
            <a:br/>
            <a:r>
              <a:t>News apps: articles by topic</a:t>
            </a:r>
            <a:br/>
            <a:br/>
            <a:r>
              <a:t>School Photo Analogy: Group 50 photos with</a:t>
            </a:r>
            <a:br/>
            <a:r>
              <a:t>NO names by similarity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212080" cy="32004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050"/>
                </a:solidFill>
              </a:defRPr>
            </a:pPr>
            <a:r>
              <a:t>ANOMALY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"Find the weird one that doesn't fit"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7432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Credit card: sudden Rs 500K in Tokyo</a:t>
            </a:r>
            <a:br/>
            <a:r>
              <a:t>Factory: machine jumps from 1000 to 1500 RPM</a:t>
            </a:r>
            <a:br/>
            <a:r>
              <a:t>Student: always 40%, suddenly 100% (cheating?)</a:t>
            </a:r>
            <a:br/>
            <a:r>
              <a:t>User: online during unusual hours (hacked?)</a:t>
            </a:r>
            <a:br/>
            <a:br/>
            <a:r>
              <a:t>Shopping Mall Analogy: 10K customers,</a:t>
            </a:r>
            <a:br/>
            <a:r>
              <a:t>model discovers Daily/Luxury/Deal groups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20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DC32"/>
                </a:solidFill>
              </a:defRPr>
            </a:pPr>
            <a:r>
              <a:t>Clustering = "Who belongs TOGETHER?"     |     Anomaly = "Who DOESN'T belong?"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FF"/>
                </a:solidFill>
              </a:defRPr>
            </a:pPr>
            <a:r>
              <a:t>8. Reinforcement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C8D2"/>
                </a:solidFill>
              </a:defRPr>
            </a:pPr>
            <a:r>
              <a:t>Learn by trying + feedback  |  We define WHAT. Model discovers HOW.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2651760" cy="25603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C864"/>
                </a:solidFill>
              </a:defRPr>
            </a:pPr>
            <a:r>
              <a:t>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D2"/>
                </a:solidFill>
              </a:defRPr>
            </a:pPr>
            <a:r>
              <a:t>The learner</a:t>
            </a:r>
            <a:br/>
            <a:r>
              <a:t>making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You on bicycle</a:t>
            </a:r>
            <a:br/>
            <a:r>
              <a:t>Batsman in cricket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645920"/>
            <a:ext cx="2651760" cy="25603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737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FF"/>
                </a:solidFill>
              </a:defRPr>
            </a:pPr>
            <a:r>
              <a:t>ENVIRONMENT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1945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D2"/>
                </a:solidFill>
              </a:defRPr>
            </a:pPr>
            <a:r>
              <a:t>The world agent</a:t>
            </a:r>
            <a:br/>
            <a:r>
              <a:t>interacts with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31089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The road</a:t>
            </a:r>
            <a:br/>
            <a:r>
              <a:t>The cricket pitch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645920"/>
            <a:ext cx="2651760" cy="25603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1737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C32"/>
                </a:solidFill>
              </a:defRPr>
            </a:pPr>
            <a:r>
              <a:t>REWARD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21945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D2"/>
                </a:solidFill>
              </a:defRPr>
            </a:pPr>
            <a:r>
              <a:t>Positive feedback</a:t>
            </a:r>
            <a:br/>
            <a:r>
              <a:t>'Do more of this!'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1089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Staying balanced</a:t>
            </a:r>
            <a:br/>
            <a:r>
              <a:t>Hitting a four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1645920"/>
            <a:ext cx="2651760" cy="25603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19" y="1737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5050"/>
                </a:solidFill>
              </a:defRPr>
            </a:pPr>
            <a:r>
              <a:t>PENALTY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19" y="21945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D2"/>
                </a:solidFill>
              </a:defRPr>
            </a:pPr>
            <a:r>
              <a:t>Negative feedback</a:t>
            </a:r>
            <a:br/>
            <a:r>
              <a:t>'Don't do this!'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19" y="31089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Falling down</a:t>
            </a:r>
            <a:br/>
            <a:r>
              <a:t>Getting out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572000"/>
            <a:ext cx="10698480" cy="16459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663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500"/>
                </a:solidFill>
              </a:defRPr>
            </a:pPr>
            <a:r>
              <a:t>Bicycle Analogy: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</a:defRPr>
            </a:pPr>
            <a:r>
              <a:t>Get on -&gt; fall (penalty) -&gt; try again -&gt; balance (reward!) -&gt; fall -&gt; try -&gt; eventually ride perfectly. Trial and error!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5778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500"/>
                </a:solidFill>
              </a:defRPr>
            </a:pPr>
            <a:r>
              <a:t>Chai Analogy: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</a:defRPr>
            </a:pPr>
            <a:r>
              <a:t>"Make me chai. Good = happy (reward). Bad = face (penalty). Figure it out." After 50 attempts -&gt; perfect chai!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FF"/>
                </a:solidFill>
              </a:defRPr>
            </a:pPr>
            <a:r>
              <a:t>How Reinforcement Learning is Set Up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651760" cy="2286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6FF"/>
                </a:solidFill>
              </a:defRPr>
            </a:pPr>
            <a:r>
              <a:t>1.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D2"/>
                </a:solidFill>
              </a:defRPr>
            </a:pPr>
            <a:r>
              <a:t>Engineer builds</a:t>
            </a:r>
            <a:br/>
            <a:r>
              <a:t>the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Chess board,</a:t>
            </a:r>
            <a:br/>
            <a:r>
              <a:t>road simulation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C32"/>
                </a:solidFill>
              </a:defRPr>
            </a:pPr>
            <a:r>
              <a:t>&gt;&gt;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188720"/>
            <a:ext cx="2651760" cy="2286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280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C864"/>
                </a:solidFill>
              </a:defRPr>
            </a:pPr>
            <a:r>
              <a:t>2.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7373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D2"/>
                </a:solidFill>
              </a:defRPr>
            </a:pPr>
            <a:r>
              <a:t>Define what agent</a:t>
            </a:r>
            <a:br/>
            <a:r>
              <a:t>can 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5603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Move pieces,</a:t>
            </a:r>
            <a:br/>
            <a:r>
              <a:t>turn, brake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C32"/>
                </a:solidFill>
              </a:defRPr>
            </a:pPr>
            <a:r>
              <a:t>&gt;&gt;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2651760" cy="2286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1280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A500"/>
                </a:solidFill>
              </a:defRPr>
            </a:pPr>
            <a:r>
              <a:t>3. REWARDS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17373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D2"/>
                </a:solidFill>
              </a:defRPr>
            </a:pPr>
            <a:r>
              <a:t>Define what's</a:t>
            </a:r>
            <a:br/>
            <a:r>
              <a:t>good and bad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25603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Win = +100</a:t>
            </a:r>
            <a:br/>
            <a:r>
              <a:t>Crash = -100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C32"/>
                </a:solidFill>
              </a:defRPr>
            </a:pPr>
            <a:r>
              <a:t>&gt;&gt;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1188720"/>
            <a:ext cx="2651760" cy="2286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19" y="1280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5050"/>
                </a:solidFill>
              </a:defRPr>
            </a:pPr>
            <a:r>
              <a:t>4. START!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19" y="17373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D2"/>
                </a:solidFill>
              </a:defRPr>
            </a:pPr>
            <a:r>
              <a:t>Model begins</a:t>
            </a:r>
            <a:br/>
            <a:r>
              <a:t>learning on its 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19" y="25603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Trial and error</a:t>
            </a:r>
            <a:br/>
            <a:r>
              <a:t>for thousands of rounds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840480"/>
            <a:ext cx="5029200" cy="2286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319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5050"/>
                </a:solidFill>
              </a:defRPr>
            </a:pPr>
            <a:r>
              <a:t>TRADITIONAL PROGRAMMING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976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We define: Goal + exact steps (HOW)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7548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"IF pipe 200px away THEN flap"</a:t>
            </a:r>
            <a:br/>
            <a:r>
              <a:t>"IF red light THEN stop"</a:t>
            </a:r>
            <a:br/>
            <a:r>
              <a:t>500+ rules for every situation</a:t>
            </a:r>
            <a:br/>
            <a:r>
              <a:t>Model follows rules BLINDLY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840480"/>
            <a:ext cx="5029200" cy="22860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39319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64"/>
                </a:solidFill>
              </a:defRPr>
            </a:pPr>
            <a:r>
              <a:t>REINFORCEMENT LEARNING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2976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We define: ONLY the goal (WHAT)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7548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"Pass pipe = +1, Hit pipe = -1"</a:t>
            </a:r>
            <a:br/>
            <a:r>
              <a:t>"Reach destination = +100, Crash = -100"</a:t>
            </a:r>
            <a:br/>
            <a:r>
              <a:t>Only 3 lines! Model discovers WHEN</a:t>
            </a:r>
            <a:br/>
            <a:r>
              <a:t>and HOW by itself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FF"/>
                </a:solidFill>
              </a:defRPr>
            </a:pPr>
            <a:r>
              <a:t>The 3 Types of ML - How They're DIFFERENT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3566160" cy="475488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C864"/>
                </a:solidFill>
              </a:defRPr>
            </a:pPr>
            <a:r>
              <a:t>SUPERVISED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"WHAT is this?"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C864"/>
                </a:solidFill>
              </a:defRPr>
            </a:pPr>
            <a:r>
              <a:t>Recognition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Data WITH labels</a:t>
            </a:r>
            <a:br/>
            <a:r>
              <a:t>Model learns input-&gt;output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4903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C32"/>
                </a:solidFill>
              </a:defRPr>
            </a:pPr>
            <a:r>
              <a:t>Cricket Example: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That's a cricket ball</a:t>
            </a:r>
            <a:br/>
            <a:r>
              <a:t>That's a bat</a:t>
            </a:r>
            <a:br/>
            <a:r>
              <a:t>That's a bowler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3566160" cy="475488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280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464FF"/>
                </a:solidFill>
              </a:defRPr>
            </a:pPr>
            <a:r>
              <a:t>UNSUPERVISED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737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"What PATTERNS exist?"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1945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64FF"/>
                </a:solidFill>
              </a:defRPr>
            </a:pPr>
            <a:r>
              <a:t>Discovery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6517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Data with NO labels</a:t>
            </a:r>
            <a:br/>
            <a:r>
              <a:t>Model finds hidden groups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74903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C32"/>
                </a:solidFill>
              </a:defRPr>
            </a:pPr>
            <a:r>
              <a:t>Cricket Example: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41148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Fielders always stand in</a:t>
            </a:r>
            <a:br/>
            <a:r>
              <a:t>certain positions...</a:t>
            </a:r>
            <a:br/>
            <a:r>
              <a:t>that one's weird!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188720"/>
            <a:ext cx="3566160" cy="475488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280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A500"/>
                </a:solidFill>
              </a:defRPr>
            </a:pPr>
            <a:r>
              <a:t>REINFORCEMENT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737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"HOW do I do this well?"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1945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A500"/>
                </a:solidFill>
              </a:defRPr>
            </a:pPr>
            <a:r>
              <a:t>Strategy over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6517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No data at all!</a:t>
            </a:r>
            <a:br/>
            <a:r>
              <a:t>Learn by trial + feedback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74903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C32"/>
                </a:solidFill>
              </a:defRPr>
            </a:pPr>
            <a:r>
              <a:t>Cricket Example: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1148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Should I hit or defend?</a:t>
            </a:r>
            <a:br/>
            <a:r>
              <a:t>Sacrifice now to score later?</a:t>
            </a:r>
            <a:br/>
            <a:r>
              <a:t>Learn through 1000 innings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C32"/>
                </a:solidFill>
              </a:defRPr>
            </a:pPr>
            <a:r>
              <a:t>Key: Supervised = recognize  |  Unsupervised = discover  |  Reinforcement = strategize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A500"/>
                </a:solidFill>
              </a:defRPr>
            </a:pPr>
            <a:r>
              <a:t>Why Reinforcement Learning Can Plan AHEAD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C8D2"/>
                </a:solidFill>
              </a:defRPr>
            </a:pPr>
            <a:r>
              <a:t>Unlike classification (answers one question NOW), RL thinks OVER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32720" cy="13716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FF"/>
                </a:solidFill>
              </a:defRPr>
            </a:pPr>
            <a:r>
              <a:t>CHESS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737360"/>
            <a:ext cx="7772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2"/>
                </a:solidFill>
              </a:defRPr>
            </a:pPr>
            <a:r>
              <a:t>Sacrifice queen (-penalty NOW)</a:t>
            </a:r>
            <a:br/>
            <a:r>
              <a:t>5 moves later -&gt; CHECKMATE (+huge reward)</a:t>
            </a:r>
            <a:br/>
            <a:r>
              <a:t>Short-term loss = Long-term WIN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291840"/>
            <a:ext cx="10332720" cy="13716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864"/>
                </a:solidFill>
              </a:defRPr>
            </a:pPr>
            <a:r>
              <a:t>CRICKET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383280"/>
            <a:ext cx="7772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2"/>
                </a:solidFill>
              </a:defRPr>
            </a:pPr>
            <a:r>
              <a:t>Play defensive on tough ball (0 runs now)</a:t>
            </a:r>
            <a:br/>
            <a:r>
              <a:t>Survive to smash next ball (6 runs!)</a:t>
            </a:r>
            <a:br/>
            <a:r>
              <a:t>Patience NOW = Big score LATER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937760"/>
            <a:ext cx="10332720" cy="13716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029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A500"/>
                </a:solidFill>
              </a:defRPr>
            </a:pPr>
            <a:r>
              <a:t>FLAPPY BIRD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5029200"/>
            <a:ext cx="7772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D2"/>
                </a:solidFill>
              </a:defRPr>
            </a:pPr>
            <a:r>
              <a:t>Don't flap yet (looks risky NOW)</a:t>
            </a:r>
            <a:br/>
            <a:r>
              <a:t>Wait 0.3 seconds then flap</a:t>
            </a:r>
            <a:br/>
            <a:r>
              <a:t>Perfect timing = Pass the pipe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DC32"/>
                </a:solidFill>
              </a:defRPr>
            </a:pPr>
            <a:r>
              <a:t>Model learns: Sometimes short-term penalty = long-term reward!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FF"/>
                </a:solidFill>
              </a:defRPr>
            </a:pPr>
            <a:r>
              <a:t>Real Project: Exam Monitoring 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C8D2"/>
                </a:solidFill>
              </a:defRPr>
            </a:pPr>
            <a:r>
              <a:t>Real projects use ALL 3 types of learning together!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3566160" cy="43891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C864"/>
                </a:solidFill>
              </a:defRPr>
            </a:pPr>
            <a:r>
              <a:t>SUPERVISED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Camera recognizes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DC32"/>
                </a:solidFill>
              </a:defRPr>
            </a:pPr>
            <a:r>
              <a:t>"That student is looking</a:t>
            </a:r>
            <a:br/>
            <a:r>
              <a:t>at neighbor's paper"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Label 10K video clips as</a:t>
            </a:r>
            <a:br/>
            <a:r>
              <a:t>cheating / not cheating</a:t>
            </a:r>
            <a:br/>
            <a:r>
              <a:t>Model learns what cheating</a:t>
            </a:r>
            <a:br/>
            <a:r>
              <a:t>LOOKS like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554480"/>
            <a:ext cx="3566160" cy="43891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6459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464FF"/>
                </a:solidFill>
              </a:defRPr>
            </a:pPr>
            <a:r>
              <a:t>UNSUPERVISED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1031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Spots unknown methods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651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DC32"/>
                </a:solidFill>
              </a:defRPr>
            </a:pPr>
            <a:r>
              <a:t>"This behavior doesn't</a:t>
            </a:r>
            <a:br/>
            <a:r>
              <a:t>match normal patterns"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56616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Model learns normal behavior</a:t>
            </a:r>
            <a:br/>
            <a:r>
              <a:t>Flags ANYTHING unusual</a:t>
            </a:r>
            <a:br/>
            <a:r>
              <a:t>even if never seen before</a:t>
            </a:r>
            <a:br/>
            <a:r>
              <a:t>(Anomaly Detection)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554480"/>
            <a:ext cx="3566160" cy="43891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6459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A500"/>
                </a:solidFill>
              </a:defRPr>
            </a:pPr>
            <a:r>
              <a:t>REINFORCEMENT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1031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Decides when to alert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651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DC32"/>
                </a:solidFill>
              </a:defRPr>
            </a:pPr>
            <a:r>
              <a:t>"Should I flag this</a:t>
            </a:r>
            <a:br/>
            <a:r>
              <a:t>or ignore it?"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56616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Bot flags -&gt; examiner confirms</a:t>
            </a:r>
            <a:br/>
            <a:r>
              <a:t>Correct alert = +10 reward</a:t>
            </a:r>
            <a:br/>
            <a:r>
              <a:t>False alarm = -10 penalty</a:t>
            </a:r>
            <a:br/>
            <a:r>
              <a:t>Learns WHEN to alert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5050"/>
                </a:solidFill>
              </a:defRPr>
            </a:pPr>
            <a:r>
              <a:t>Self-Driving Car: How AI Handles Emergencies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029200" cy="27432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</a:defRPr>
            </a:pPr>
            <a:r>
              <a:t>AI Evaluates ALL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</a:defRPr>
            </a:pPr>
            <a:r>
              <a:t>When child appears on road:</a:t>
            </a:r>
            <a:br/>
            <a:br/>
            <a:r>
              <a:t>1. Brake hard?</a:t>
            </a:r>
            <a:br/>
            <a:r>
              <a:t>2. Swerve left?</a:t>
            </a:r>
            <a:br/>
            <a:r>
              <a:t>3. Swerve right?</a:t>
            </a:r>
            <a:br/>
            <a:r>
              <a:t>4. Brake + slight swerve?</a:t>
            </a:r>
            <a:br/>
            <a:br/>
            <a:r>
              <a:t>Calculates harm score for EACH option</a:t>
            </a:r>
            <a:br/>
            <a:r>
              <a:t>Picks option with LEAST total harm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188720"/>
            <a:ext cx="5029200" cy="27432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2801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500"/>
                </a:solidFill>
              </a:defRPr>
            </a:pPr>
            <a:r>
              <a:t>Engineer Priority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</a:defRPr>
            </a:pPr>
            <a:r>
              <a:t>Human life:     -1000 points</a:t>
            </a:r>
            <a:br/>
            <a:r>
              <a:t>Human injury:  -500 points</a:t>
            </a:r>
            <a:br/>
            <a:r>
              <a:t>Car damage:    -30 points</a:t>
            </a:r>
            <a:br/>
            <a:br/>
            <a:r>
              <a:t>AI ALWAYS saves human lives first!</a:t>
            </a:r>
            <a:br/>
            <a:br/>
            <a:r>
              <a:t>Priorities are set by engineers</a:t>
            </a:r>
            <a:br/>
            <a:r>
              <a:t>AI follows them automatically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206240"/>
            <a:ext cx="10698480" cy="201168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864"/>
                </a:solidFill>
              </a:defRPr>
            </a:pPr>
            <a:r>
              <a:t>AI is SAFER Than Humans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</a:defRPr>
            </a:pPr>
            <a:r>
              <a:t>AI reacts in 0.001 seconds</a:t>
            </a:r>
            <a:br/>
            <a:r>
              <a:t>Human panics for 1-2 seconds</a:t>
            </a:r>
            <a:br/>
            <a:r>
              <a:t>Trained on 10 MILLION simulations</a:t>
            </a:r>
            <a:br/>
            <a:r>
              <a:t>Evaluates every possible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75488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2"/>
                </a:solidFill>
              </a:defRPr>
            </a:pPr>
            <a:r>
              <a:t>PREVENTS emergencies too!</a:t>
            </a:r>
            <a:br/>
            <a:r>
              <a:t>Detects child near road 5 sec BEFORE</a:t>
            </a:r>
            <a:br/>
            <a:r>
              <a:t>Starts slowing down early</a:t>
            </a:r>
            <a:br/>
            <a:r>
              <a:t>AI doesn't panic - calculates!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FF"/>
                </a:solidFill>
              </a:defRPr>
            </a:pPr>
            <a:r>
              <a:t>Key Terms - Quick Reference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486400" cy="54864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</a:defRPr>
            </a:pPr>
            <a:r>
              <a:t>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143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Learn + Understand + Decide + Adapt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83080"/>
            <a:ext cx="5486400" cy="54864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</a:defRPr>
            </a:pPr>
            <a:r>
              <a:t>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Teaching machines to learn and make decisions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5486400" cy="54864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</a:defRPr>
            </a:pPr>
            <a:r>
              <a:t>Narrow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514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One specific task (ALL current AI)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54680"/>
            <a:ext cx="5486400" cy="54864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00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</a:defRPr>
            </a:pPr>
            <a:r>
              <a:t>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Computer learns rules from data by itself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5486400" cy="54864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886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</a:defRPr>
            </a:pPr>
            <a:r>
              <a:t>Deep 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886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Neural networks with many layers for complex patterns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526280"/>
            <a:ext cx="5486400" cy="54864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572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</a:defRPr>
            </a:pPr>
            <a:r>
              <a:t>LLM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4572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Deep Learning trained on language (ChatGPT, Claude)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212080"/>
            <a:ext cx="5486400" cy="54864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257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</a:defRPr>
            </a:pPr>
            <a:r>
              <a:t>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5257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Input data / qualities the model looks at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897880"/>
            <a:ext cx="5486400" cy="54864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943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</a:defRPr>
            </a:pPr>
            <a:r>
              <a:t>Labels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5943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Correct answers provided with training data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1097280"/>
            <a:ext cx="5486400" cy="54864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59" y="1143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</a:defRPr>
            </a:pPr>
            <a:r>
              <a:t>Classification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1143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Predict a WORD/CATEGORY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1783080"/>
            <a:ext cx="5486400" cy="54864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59" y="1828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</a:defRPr>
            </a:pPr>
            <a:r>
              <a:t>Regression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Predict a NUMBER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2468880"/>
            <a:ext cx="5486400" cy="54864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59" y="2514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</a:defRPr>
            </a:pPr>
            <a:r>
              <a:t>Clustering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2514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Group similar things without labels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3154680"/>
            <a:ext cx="5486400" cy="54864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59" y="3200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</a:defRPr>
            </a:pPr>
            <a:r>
              <a:t>Anomaly Detection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Spot the weird one that doesn't fit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3840480"/>
            <a:ext cx="5486400" cy="54864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59" y="3886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</a:defRPr>
            </a:pPr>
            <a:r>
              <a:t>Agent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3886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The learner making decisions (in RL)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4526280"/>
            <a:ext cx="5486400" cy="54864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59" y="4572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</a:defRPr>
            </a:pPr>
            <a:r>
              <a:t>Environment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4572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The world the agent interacts with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5212080"/>
            <a:ext cx="5486400" cy="54864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59" y="5257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64"/>
                </a:solidFill>
              </a:defRPr>
            </a:pPr>
            <a:r>
              <a:t>Reward / Penalty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5257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D2"/>
                </a:solidFill>
              </a:defRPr>
            </a:pPr>
            <a:r>
              <a:t>Positive / Negative feedback for learning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