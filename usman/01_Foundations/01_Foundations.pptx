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8FF"/>
                </a:solidFill>
              </a:defRPr>
            </a:pPr>
            <a:r>
              <a:t>01 — Foundations of AI &amp; ML</a:t>
            </a:r>
          </a:p>
          <a:p>
            <a:pPr algn="ctr">
              <a:spcBef>
                <a:spcPts val="1200"/>
              </a:spcBef>
              <a:defRPr sz="2000" b="0">
                <a:solidFill>
                  <a:srgbClr val="C8C8D2"/>
                </a:solidFill>
              </a:defRPr>
            </a:pPr>
            <a:r>
              <a:t>Everything You Need to Know Before Building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0"/>
            <a:ext cx="3474720" cy="2560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1600" b="1">
                <a:solidFill>
                  <a:srgbClr val="00C8FF"/>
                </a:solidFill>
              </a:defRPr>
            </a:pPr>
            <a:r>
              <a:t>Section A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Understanding AI &amp; ML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C8C8D2"/>
                </a:solidFill>
              </a:defRPr>
            </a:pPr>
            <a:r>
              <a:t>Intelligence, AI, Types of AI,</a:t>
            </a:r>
            <a:br/>
            <a:r>
              <a:t>Traditional vs ML, AI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3200400"/>
            <a:ext cx="3474720" cy="2560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1600" b="1">
                <a:solidFill>
                  <a:srgbClr val="FFAA32"/>
                </a:solidFill>
              </a:defRPr>
            </a:pPr>
            <a:r>
              <a:t>Section B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Types of Machine Learning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C8C8D2"/>
                </a:solidFill>
              </a:defRPr>
            </a:pPr>
            <a:r>
              <a:t>Supervised, Unsupervised,</a:t>
            </a:r>
            <a:br/>
            <a:r>
              <a:t>Reinforcement, Models &amp;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200400"/>
            <a:ext cx="3474720" cy="2560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1600" b="1">
                <a:solidFill>
                  <a:srgbClr val="64FFA0"/>
                </a:solidFill>
              </a:defRPr>
            </a:pPr>
            <a:r>
              <a:t>Section C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How It Works Inside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C8C8D2"/>
                </a:solidFill>
              </a:defRPr>
            </a:pPr>
            <a:r>
              <a:t>Neural Networks, Vectors, Math,</a:t>
            </a:r>
            <a:br/>
            <a:r>
              <a:t>Gradient Descent, Training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5"/>
                </a:solidFill>
              </a:defRPr>
            </a:pPr>
            <a:r>
              <a:t>Usman's AI/ML Learning Journey  |  11 Topics  |  22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What is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The 4 Pillars That Define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97480" cy="14630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800" b="1">
                <a:solidFill>
                  <a:srgbClr val="00C8FF"/>
                </a:solidFill>
              </a:defRPr>
            </a:pPr>
            <a:r>
              <a:t>LEARN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8C8D2"/>
                </a:solidFill>
              </a:defRPr>
            </a:pPr>
            <a:r>
              <a:t>Gain new knowledge</a:t>
            </a:r>
            <a:br/>
            <a:r>
              <a:t>from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97480" cy="14630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800" b="1">
                <a:solidFill>
                  <a:srgbClr val="64FFA0"/>
                </a:solidFill>
              </a:defRPr>
            </a:pPr>
            <a:r>
              <a:t>UNDERSTAND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8C8D2"/>
                </a:solidFill>
              </a:defRPr>
            </a:pPr>
            <a:r>
              <a:t>Comprehend context,</a:t>
            </a:r>
            <a:br/>
            <a:r>
              <a:t>not just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2697480" cy="14630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800" b="1">
                <a:solidFill>
                  <a:srgbClr val="FFAA32"/>
                </a:solidFill>
              </a:defRPr>
            </a:pPr>
            <a:r>
              <a:t>DECIDE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8C8D2"/>
                </a:solidFill>
              </a:defRPr>
            </a:pPr>
            <a:r>
              <a:t>Choose the best action</a:t>
            </a:r>
            <a:br/>
            <a:r>
              <a:t>among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188720"/>
            <a:ext cx="2697480" cy="14630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800" b="1">
                <a:solidFill>
                  <a:srgbClr val="B482FF"/>
                </a:solidFill>
              </a:defRPr>
            </a:pPr>
            <a:r>
              <a:t>ADAPT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8C8D2"/>
                </a:solidFill>
              </a:defRPr>
            </a:pPr>
            <a:r>
              <a:t>Change behaviour when</a:t>
            </a:r>
            <a:br/>
            <a:r>
              <a:t>conditions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A32"/>
                </a:solidFill>
              </a:defRPr>
            </a:pPr>
            <a:r>
              <a:t>Is This Intelligence?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291840"/>
          <a:ext cx="6858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1005840"/>
                <a:gridCol w="822960"/>
                <a:gridCol w="822960"/>
                <a:gridCol w="1097280"/>
              </a:tblGrid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Learn?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Understand?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Decide?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Adapt?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Intelligent?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Cat avoids hot stove after burn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Calculator doing 2+2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Child changes route to avoid bully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Parrot repeating 'Hello'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Delivery driver finding shortcut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0" y="2880360"/>
            <a:ext cx="3474720" cy="32004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600" b="1">
                <a:solidFill>
                  <a:srgbClr val="FFAA32"/>
                </a:solidFill>
              </a:defRPr>
            </a:pPr>
            <a:r>
              <a:t>KEY INSIGHT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Intelligence is NOT just knowing things.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A calculator KNOWS math but isn't intelligent — it can't learn, understand context, or adapt.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True intelligence requires ALL 4 pillars working together.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This is why building AI is so hard — we need machines that can do all four.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Making machines that can think, learn, and decide like humans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64FFA0"/>
                </a:solidFill>
              </a:defRPr>
            </a:pPr>
            <a:r>
              <a:t>HUMAN INTELLIGENCE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Brain: 86 billion neurons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Learns from: Life experiences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Understands: Context &amp; emotions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Develops: Over years of growth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Limited by: Energy, time, bias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47472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00C8FF"/>
                </a:solidFill>
              </a:defRPr>
            </a:pPr>
            <a:r>
              <a:t>ARTIFICIAL INTELLIGENCE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Processor: Billions of calculations/sec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Learns from: Data (millions of examples)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Understands: Patterns in numbers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Develops: Over hours of training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Limited by: Data quality &amp; 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A32"/>
                </a:solidFill>
              </a:defRPr>
            </a:pPr>
            <a:r>
              <a:t>AI in Your Daily Life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14800"/>
          <a:ext cx="7498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4297680"/>
              </a:tblGrid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Feature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Instagram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Recommendation Engine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Analyzes your likes, time spent, shares → shows posts you'll engage with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Gmail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Smart Compose + Spam Filter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Predicts next words as you type; blocks 99.9% of spam automatically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Google Maps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Traffic Prediction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Combines GPS data from millions of phones → predicts traffic 30 min ahead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Netflix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Personalization Engine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Analyzes viewing patterns of similar users → recommends shows you'll like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600" b="1">
                <a:solidFill>
                  <a:srgbClr val="FFAA32"/>
                </a:solidFill>
              </a:defRPr>
            </a:pPr>
            <a:r>
              <a:t>AI = BRAIN, ROBOT = BODY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Common misconception: AI = Robots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AI is the INTELLIGENCE (software) that can think, learn, and decide.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A Robot is just a BODY (hardware) that moves and interacts.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AI without a robot: Gmail spam filter, Netflix recommendations, ChatGPT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Robot without AI: Factory arm doing same motion repeatedly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Robot WITH AI: Self-driving car, Boston Dynamics robot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Most AI has NO physical body — it lives inside apps and servers.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Types of AI: Three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From what we have today to what might come tomorrow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4206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l">
              <a:defRPr sz="1600" b="1">
                <a:solidFill>
                  <a:srgbClr val="00C8FF"/>
                </a:solidFill>
              </a:defRPr>
            </a:pPr>
            <a:r>
              <a:t>NARROW AI (ANI)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Specialist — ONE task only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CAN: Beat world champion at chess, drive a car, translate languages, detect cancer in X-rays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CAN'T: Do anything outside its specific training — a chess AI can't even play checkers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Examples: Siri, ChatGPT, Tesla Autopilot, Google Translate, Spam filters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Status: This is ALL current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657600" cy="4206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l">
              <a:defRPr sz="1600" b="1">
                <a:solidFill>
                  <a:srgbClr val="FFAA32"/>
                </a:solidFill>
              </a:defRPr>
            </a:pPr>
            <a:r>
              <a:t>GENERAL AI (AGI)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Human-level — ANY intellectual task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CAN (theoretically): Learn any new skill, transfer knowledge between domains, reason abstractly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CAN'T: Exist yet — no one has built this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Would be like: A single AI that can cook, code, write poetry, AND diagnose diseases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Status: 10-50+ years away (debated)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188720"/>
            <a:ext cx="3657600" cy="4206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l">
              <a:defRPr sz="1600" b="1">
                <a:solidFill>
                  <a:srgbClr val="FF6464"/>
                </a:solidFill>
              </a:defRPr>
            </a:pPr>
            <a:r>
              <a:t>SUPER AI (ASI)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Beyond human — SURPASSES all humans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CAN (theoretically): Outthink every human in every domain simultaneously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CAN'T: Even be properly imagined — by definition beyond our comprehension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Would be like: An intelligence that solves cancer, climate change, and physics in a day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C8C8D2"/>
                </a:solidFill>
              </a:defRPr>
            </a:pPr>
            <a:r>
              <a:t>Status: Purely theoretical, may never exist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577840"/>
            <a:ext cx="11430000" cy="914400"/>
          </a:xfrm>
          <a:prstGeom prst="roundRect">
            <a:avLst/>
          </a:prstGeom>
          <a:solidFill>
            <a:srgbClr val="321E1E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6464"/>
                </a:solidFill>
              </a:defRPr>
            </a:pPr>
            <a:r>
              <a:t>IMPORTANT: All current AI — including ChatGPT, Claude, Gemini — is Narrow AI.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It seems smart because it's VERY good at language, but it can't truly understand, feel, or generalize. It predicts the next word based on patterns in training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Traditional Programming vs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Two fundamentally different approaches to solving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303520" cy="16459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600" b="1">
                <a:solidFill>
                  <a:srgbClr val="00C8FF"/>
                </a:solidFill>
              </a:defRPr>
            </a:pPr>
            <a:r>
              <a:t>TRADITIONAL PROGRAMMING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Human writes explicit RULES + gives DATA → Computer follows rules → ANSWERS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Example: IF email contains 'lottery' AND sender not in contacts → mark as spam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Programmer must think of EVERY possible case. Miss one rule = wrong answer.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Works when: Rules are clear, few exceptions, logic is straightforward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17520"/>
            <a:ext cx="5303520" cy="16459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600" b="1">
                <a:solidFill>
                  <a:srgbClr val="64FFA0"/>
                </a:solidFill>
              </a:defRPr>
            </a:pPr>
            <a:r>
              <a:t>MACHINE LEARNING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Human gives DATA + correct ANSWERS → Computer discovers RULES on its own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Example: Give 10,000 emails labeled spam/not-spam → ML finds patterns humans miss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Computer finds patterns across millions of examples. Gets better with more data.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Works when: Too many rules, patterns are complex, data is abundant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2"/>
                </a:solidFill>
              </a:defRPr>
            </a:pPr>
            <a:r>
              <a:t>Traditional or ML? — Real Problems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41732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3474720"/>
              </a:tblGrid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Why?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Spam Detection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Spammers constantly change tactics; rules can't keep up. ML adapts to new patterns.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Tax Calculation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Tax rules are fixed by law. Clear formulas. No ambiguity.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Face Recognition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Impossible to write rules for every face angle, lighting, age change. ML learns from examples.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Language Translation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Languages have too many exceptions, idioms, context. ML learns from millions of translated texts.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0" y="3657600"/>
            <a:ext cx="5760720" cy="2560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AA32"/>
                </a:solidFill>
              </a:defRPr>
            </a:pPr>
            <a:r>
              <a:t>DECISION GUIDE: Which Approach?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1. Can you write ALL the rules clearly?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→ YES: Use Traditional Programming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→ NO: Continue to step 2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2. Do you have lots of labeled data (examples with answers)?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→ YES: Use Machine Learning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→ NO: Continue to step 3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3. Can you collect/create that data?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→ YES: Collect data, then use ML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→ NO: Try Traditional with best-effort rules, or use pre-trained ML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AI Hierarchy: AI → ML → DL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Each layer is a SUBSET of the one above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943600" cy="5120640"/>
          </a:xfrm>
          <a:prstGeom prst="rect">
            <a:avLst/>
          </a:prstGeom>
          <a:solidFill>
            <a:srgbClr val="1E1E28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7360" y="1148080"/>
            <a:ext cx="574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FF"/>
                </a:solidFill>
              </a:defRPr>
            </a:pPr>
            <a:r>
              <a:t>AI — Artificial Intelligence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Any technique making machines seem intelligent (includes rule-based systems, expert systems, ML, etc.)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4846320" cy="4206240"/>
          </a:xfrm>
          <a:prstGeom prst="rect">
            <a:avLst/>
          </a:prstGeom>
          <a:solidFill>
            <a:srgbClr val="23232D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605280"/>
            <a:ext cx="464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FFA0"/>
                </a:solidFill>
              </a:defRPr>
            </a:pPr>
            <a:r>
              <a:t>ML — Machine Learning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Machines learn from DATA instead of being explicitly programmed with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011680"/>
            <a:ext cx="3749039" cy="3291839"/>
          </a:xfrm>
          <a:prstGeom prst="rect">
            <a:avLst/>
          </a:prstGeom>
          <a:solidFill>
            <a:srgbClr val="282832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4640" y="2062480"/>
            <a:ext cx="3545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2"/>
                </a:solidFill>
              </a:defRPr>
            </a:pPr>
            <a:r>
              <a:t>DL — Deep Learning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ML using NEURAL NETWORKS with many layers — learns complex patterns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79" y="2468880"/>
            <a:ext cx="2651760" cy="2377439"/>
          </a:xfrm>
          <a:prstGeom prst="rect">
            <a:avLst/>
          </a:prstGeom>
          <a:solidFill>
            <a:srgbClr val="2D2D37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3279" y="2519680"/>
            <a:ext cx="244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82FF"/>
                </a:solidFill>
              </a:defRPr>
            </a:pPr>
            <a:r>
              <a:t>LLM — Large Language Models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Massive DL models trained on internet-scale text data using Transformer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A32"/>
                </a:solidFill>
              </a:defRPr>
            </a:pPr>
            <a:r>
              <a:t>Which Level? — Real Examples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417320"/>
            <a:ext cx="4846320" cy="9144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l">
              <a:defRPr sz="1300" b="1">
                <a:solidFill>
                  <a:srgbClr val="64FFA0"/>
                </a:solidFill>
              </a:defRPr>
            </a:pPr>
            <a:r>
              <a:t>Spam Filter  →  ML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Learns patterns from labeled emails (spam/not-spam). Uses algorithms like Naive Bayes. Doesn't need deep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423160"/>
            <a:ext cx="4846320" cy="9144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l">
              <a:defRPr sz="1300" b="1">
                <a:solidFill>
                  <a:srgbClr val="FFAA32"/>
                </a:solidFill>
              </a:defRPr>
            </a:pPr>
            <a:r>
              <a:t>Google Photos — Face Recognition  →  DL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Uses Convolutional Neural Networks (CNN) with many layers to detect and recognize faces across angles/lighting.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429000"/>
            <a:ext cx="4846320" cy="9144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l">
              <a:defRPr sz="1300" b="1">
                <a:solidFill>
                  <a:srgbClr val="B482FF"/>
                </a:solidFill>
              </a:defRPr>
            </a:pPr>
            <a:r>
              <a:t>ChatGPT / Claude  →  LLM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Transformer-based model trained on billions of text documents. Predicts next token. 175B+ parameters.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434840"/>
            <a:ext cx="4846320" cy="9144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l">
              <a:defRPr sz="1300" b="1">
                <a:solidFill>
                  <a:srgbClr val="00C8FF"/>
                </a:solidFill>
              </a:defRPr>
            </a:pPr>
            <a:r>
              <a:t>Chess Engine (Minimax)  →  AI (not ML)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Uses search trees and rules programmed by humans. No learning from data — pure algorithmic intelligence.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440680"/>
            <a:ext cx="4846320" cy="9144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l">
              <a:defRPr sz="1300" b="1">
                <a:solidFill>
                  <a:srgbClr val="FFAA32"/>
                </a:solidFill>
              </a:defRPr>
            </a:pPr>
            <a:r>
              <a:t>YouTube Recommendations  →  DL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Deep neural networks process your watch history, demographics, and video features to predict what you'll click.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669280"/>
            <a:ext cx="4846320" cy="822960"/>
          </a:xfrm>
          <a:prstGeom prst="roundRect">
            <a:avLst/>
          </a:prstGeom>
          <a:solidFill>
            <a:srgbClr val="2D2337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200" b="1">
                <a:solidFill>
                  <a:srgbClr val="B482FF"/>
                </a:solidFill>
              </a:defRPr>
            </a:pPr>
            <a:r>
              <a:t>WHY TRANSFORMERS CHANGED EVERYTHING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2017 paper 'Attention Is All You Need' introduced Transformers. Unlike older models that read text word-by-word, Transformers read ALL words at once using 'self-attention'. This made GPT, BERT, and all modern LLMs possible.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Supervised Learning: Classification &amp;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The teacher shows correct answers → model learns the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201168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600" b="1">
                <a:solidFill>
                  <a:srgbClr val="00C8FF"/>
                </a:solidFill>
              </a:defRPr>
            </a:pPr>
            <a:r>
              <a:t>CLASSIFICATION — Predict a WORD (Category)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Output: A label/category from a fixed set of options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Email → Spam or Not Spam        |  Image → Cat or Dog or Bird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Tumor → Benign or Malignant     |  Transaction → Fraud or Legit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Review → Positive or Negative   |  Loan → Approve or Reject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Binary (2 options) or Multi-class (3+ options)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383280"/>
            <a:ext cx="5486400" cy="18288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600" b="1">
                <a:solidFill>
                  <a:srgbClr val="64FFA0"/>
                </a:solidFill>
              </a:defRPr>
            </a:pPr>
            <a:r>
              <a:t>REGRESSION — Predict a NUMBER (Continuous value)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Output: A specific number on a continuous scale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House features → Price (₹45.7 lakhs)  |  Student hours → Score (78.5%)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Weather data → Temperature (32.4°C)     |  Ad spend → Revenue ($14,230)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The number can be ANY value, not from a fixed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5577840" cy="4846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FFAA32"/>
                </a:solidFill>
              </a:defRPr>
            </a:pPr>
            <a:r>
              <a:t>REAL EXAMPLE: Hospital Diabetes Prediction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The hospital wants to predict if a patient will develop diabetes.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FEATURES (Input data for each patient):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• Age (years)         • Blood Pressure (mmHg)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• BMI (body mass index) • Glucose Level (mg/dL)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• Insulin Level       • Family History (yes/no)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LABEL (What we want to predict):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• Diabetic: YES or NO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TRAINING DATA: 768 patient records with known outcomes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HOW IT WORKS: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1. Feed 768 patients with features + known labels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2. Model finds patterns (high glucose + high BMI → likely diabetic)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3. New patient arrives → model predicts YES/NO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This is CLASSIFICATION (predicting a category: Yes/No).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If we predicted glucose LEVEL instead → that would be REGRESSION.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Classification Models: The Complete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7 models every ML practitioner should know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3474720"/>
                <a:gridCol w="3566160"/>
              </a:tblGrid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Real-World Example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Draws a straight line to separate two categories. Outputs a probability (0-1). Simple but effective for linearly separable data.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Predict if a customer will buy (yes/no) based on age, income, browsing time. Banks use it for loan approval.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Small dataset, 2 categories, need explainable results, quick baseline model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Asks yes/no questions in sequence like a flowchart. Splits data at each node based on the most informative feature.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Doctor diagnosis: Fever? → Yes → Cough? → Yes → Duration&gt;7 days? → Yes → Possible pneumonia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Need to EXPLAIN decisions to non-technical people, mixed data types, medium datasets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Builds 100+ decision trees on random subsets of data, then takes a majority vote. Reduces overfitting of single trees.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Credit card fraud detection: 500 trees each vote fraud/legit. If 400 say fraud → flag it.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Best overall accuracy needed, large datasets, don't mind black-box results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SVM (Support Vector Machine)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Finds the widest possible gap (margin) between categories. Can handle non-linear boundaries using kernel tricks.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Handwriting recognition: Separates digit '1' from '7' by finding the optimal boundary in pixel space.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Medium datasets, clear margin between classes, high-dimensional data like text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KNN (K-Nearest Neighbors)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 training phase. For new data, finds K closest known examples and picks the majority label. 'You are your neighbors.'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Movie recommendation: Your taste is similar to 5 users → recommend what they liked. Simple but slow on big data.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Small datasets, quick prototype needed, data has clear clusters, no training time budget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Uses probability theory (Bayes' theorem). Assumes features are independent. Fast and works well on text data.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Spam filter: P(spam|'free','winner','click') is very high because those words appear often in spam emails.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Text classification (spam, sentiment), very fast training needed, works with small data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CNN (Convolutional Neural Network)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Deep learning model that processes images using filters. Detects edges → shapes → objects in layers.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Google Photos face recognition: Detects faces across different angles, lighting, and ages automatically.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Image/video data, pattern recognition in spatial data, large training datasets available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Classification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Which model should you pick? Follow this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1148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Is your data IMAGES or VIDEO?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097280"/>
            <a:ext cx="27432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400" b="1">
                <a:solidFill>
                  <a:srgbClr val="00C8FF"/>
                </a:solidFill>
              </a:defRPr>
            </a:pPr>
            <a:r>
              <a:t>→ Use CNN (Convolutional Neural Network)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09728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CNN sees edges, shapes, textures — no other model handles raw pixels well.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41148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Do you need to EXPLAIN the decision to humans?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03120"/>
            <a:ext cx="27432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400" b="1">
                <a:solidFill>
                  <a:srgbClr val="64FFA0"/>
                </a:solidFill>
              </a:defRPr>
            </a:pPr>
            <a:r>
              <a:t>→ Use 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0312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Shows clear IF/THEN rules. Doctors, banks, and courts need explainability.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108960"/>
            <a:ext cx="41148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Need the BEST ACCURACY and have lots of data?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08960"/>
            <a:ext cx="27432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400" b="1">
                <a:solidFill>
                  <a:srgbClr val="FFAA32"/>
                </a:solidFill>
              </a:defRPr>
            </a:pPr>
            <a:r>
              <a:t>→ Use 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1089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500 trees voting together beat any single model. Most Kaggle competitions use this.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41148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Small dataset with only 2 categories?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114800"/>
            <a:ext cx="27432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400" b="1">
                <a:solidFill>
                  <a:srgbClr val="B482FF"/>
                </a:solidFill>
              </a:defRPr>
            </a:pPr>
            <a:r>
              <a:t>→ Use 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1148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Simple, fast, no overfitting risk. Great first baseline. Add complexity only if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120640"/>
            <a:ext cx="41148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Working with TEXT data (emails, reviews, documents)?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5120640"/>
            <a:ext cx="27432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400" b="1">
                <a:solidFill>
                  <a:srgbClr val="FF6464"/>
                </a:solidFill>
              </a:defRPr>
            </a:pPr>
            <a:r>
              <a:t>→ Use Naive Bayes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12064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Treats each word as independent feature. Very fast training even on large vocabularies.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943600"/>
            <a:ext cx="41148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Medium data, need good margins between classes?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943600"/>
            <a:ext cx="2743200" cy="7772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defRPr sz="1400" b="1">
                <a:solidFill>
                  <a:srgbClr val="FFC832"/>
                </a:solidFill>
              </a:defRPr>
            </a:pPr>
            <a:r>
              <a:t>→ Use SVM (Support Vector Machine)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9436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Finds the widest gap. Kernel trick handles non-linear data. Good for text &amp; genomics.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Regression Models: Predicting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5 models from simple to powerful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474720"/>
                <a:gridCol w="3474720"/>
              </a:tblGrid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Real-World Example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Draws a straight line through data points (y = mx + b). Finds the best-fit line that minimizes total error.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Predict house price from size: Price = 5000 × sqft + 200000. Simple, interpretable relationship.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ALWAYS try this first. Linear relationship, need baseline, explainability needed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Polynomial Regression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Fits a curved line (y = ax² + bx + c). Captures non-linear relationships that a straight line misses.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Salary vs experience: Growth is slow at start, fast in middle, plateaus at senior level. Curve fits better.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Data shows curves when plotted, linear gives poor results, relationship isn't straight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Decision Tree Regression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Splits data into regions using IF/THEN rules. Each leaf node predicts the average value of training points in that region.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Predict used car price: IF year&gt;2020 AND km&lt;30000 AND brand=Toyota → avg price ₹8.5L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Mixed data types, need explainability, non-linear patterns, quick results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Random Forest Regression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Builds hundreds of decision trees on random data subsets, averages their predictions. Much more stable than single tree.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Zillow/Housing.com: Predicts home values using 100+ features (size, location, age, nearby schools, crime rate).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Complex relationships, many features, best accuracy needed, large dataset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Neural Network Regression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Multiple layers of neurons learn incredibly complex patterns. Can approximate ANY mathematical function.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Stock price prediction, weather forecasting, drug response prediction — patterns too complex for other models.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Massive data (100K+ rows), very complex patterns, accuracy &gt; explainability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937760"/>
            <a:ext cx="11612880" cy="13716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FFAA32"/>
                </a:solidFill>
              </a:defRPr>
            </a:pPr>
            <a:r>
              <a:t>REGRESSION DECISION PATH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ALWAYS start with Linear Regression → Plot residuals. If pattern is curved → try Polynomial Regression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→ If still bad or many features interact → Random Forest Regression (usually wins on tabular data)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→ If data is MASSIVE (100K+ rows) and patterns are very complex → Neural Network Regression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→ Need to EXPLAIN predictions to business stakeholders? → Decision Tree Regression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Evaluation Metrics: How Good Is Your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Why accuracy alone can lie to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474720" cy="23774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6464"/>
                </a:solidFill>
              </a:defRPr>
            </a:pPr>
            <a:r>
              <a:t>ACCURACY — And Why It Lies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Accuracy = Correct / Total predictions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Sounds good, right? But consider this: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Dataset: 990 legit + 10 fraud transactions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Model says EVERYTHING is legit: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Accuracy = 990/1000 = 99%!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But it caught ZERO fraud! Useless!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This is the 'accuracy trap' with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imbalanced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3840480" cy="23774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64FFA0"/>
                </a:solidFill>
              </a:defRPr>
            </a:pPr>
            <a:r>
              <a:t>PRECISION, RECALL, F1-SCORE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PRECISION: Of all 'spam' predictions, how many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were actually spam? (Don't cry wolf!)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= True Positives / (True Pos + False Pos)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RECALL: Of all actual spam emails, how many did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we catch? (Don't miss any!)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= True Positives / (True Pos + False Neg)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F1-SCORE: Harmonic mean of Precision &amp; Recall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Best single metric for imbalanced data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= 2 × (Precision × Recall) / (Precision + Recall)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657600" cy="23774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B482FF"/>
                </a:solidFill>
              </a:defRPr>
            </a:pPr>
            <a:r>
              <a:t>CONFUSION MATRIX — Spam Example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              Predicted:   Predicted: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              Spam         Not Spam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Actually Spam:   85 (TP)      15 (FN)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Actually Legit:  5  (FP)      895 (TN)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TP = Correctly caught spam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FP = Legit email marked as spam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FN = Spam that slipped through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TN = Correctly allowed legit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11430000" cy="2560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AA32"/>
                </a:solidFill>
              </a:defRPr>
            </a:pPr>
            <a:r>
              <a:t>WHEN TO USE WHICH METRIC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PRECISION matters most when: False Positives are costly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  → Spam filter (marking legit email as spam loses important messages)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  → Criminal justice (convicting an innocent person is devastating)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RECALL matters most when: False Negatives are dangerous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  → Cancer screening (missing a cancer case could be fatal)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  → Fraud detection (missing fraud means losing money)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F1-SCORE: Use when you need balance between Precision &amp; Recall, or when data is imbalanced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ACCURACY: Only trustworthy when classes are roughly balanced (50/50 or close)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Unsupervised Learning: All 5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No labels, no teacher — find hidden patterns in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l">
              <a:defRPr sz="1200" b="1">
                <a:solidFill>
                  <a:srgbClr val="00C8FF"/>
                </a:solidFill>
              </a:defRPr>
            </a:pPr>
            <a:r>
              <a:t>K-MEANS CLUSTERING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What: Groups data into K clusters by minimizing distance to cluster centers. You choose K.</a:t>
            </a:r>
            <a:br/>
            <a:r>
              <a:t>Use ELBOW METHOD: plot K vs error, pick the 'elbow' bend.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FFFFF"/>
                </a:solidFill>
              </a:defRPr>
            </a:pPr>
            <a:r>
              <a:t>Example: Customer segmentation: Group 10,000 customers into 5 segments (budget, regular, premium, etc.) for targeted marketing.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When: Know how many groups you want, data is roughly spherical clusters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21408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l">
              <a:defRPr sz="1200" b="1">
                <a:solidFill>
                  <a:srgbClr val="64FFA0"/>
                </a:solidFill>
              </a:defRPr>
            </a:pPr>
            <a:r>
              <a:t>DBSCAN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What: Finds clusters of ANY shape based on density. Points in dense regions = cluster. Sparse points = noise/outliers. No need to specify K!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FFFFF"/>
                </a:solidFill>
              </a:defRPr>
            </a:pPr>
            <a:r>
              <a:t>Example: Mapping hotspots: Find crime clusters in a city — some clusters are circular, others follow streets. K-Means would fail here.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When: Don't know # of groups, irregular shapes, want outlier detection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236976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l">
              <a:defRPr sz="1200" b="1">
                <a:solidFill>
                  <a:srgbClr val="FF6464"/>
                </a:solidFill>
              </a:defRPr>
            </a:pPr>
            <a:r>
              <a:t>ISOLATION FOREST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What: Randomly splits data with trees. Anomalies are EASY to isolate (few splits). Normal points need many splits.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FFFFF"/>
                </a:solidFill>
              </a:defRPr>
            </a:pPr>
            <a:r>
              <a:t>Example: Credit card fraud: Isolate unusual transactions (3 AM purchase, foreign country, 10x normal amount) automatically.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When: Detect rare anomalies (&lt;1% of data), no labeled fraud examples available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352544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l">
              <a:defRPr sz="1200" b="1">
                <a:solidFill>
                  <a:srgbClr val="FFAA32"/>
                </a:solidFill>
              </a:defRPr>
            </a:pPr>
            <a:r>
              <a:t>AUTOENCODER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What: Neural network that compresses data then reconstructs it. Trained on NORMAL data. Anomalies reconstruct poorly = high error.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FFFFF"/>
                </a:solidFill>
              </a:defRPr>
            </a:pPr>
            <a:r>
              <a:t>Example: Factory quality: Train on 10,000 good product images. Defective products look 'wrong' → high reconstruction error → flagged.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When: Complex data (images, time series), need to learn 'normal' pattern, deep learning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468112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l">
              <a:defRPr sz="1200" b="1">
                <a:solidFill>
                  <a:srgbClr val="B482FF"/>
                </a:solidFill>
              </a:defRPr>
            </a:pPr>
            <a:r>
              <a:t>PCA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</a:defRPr>
            </a:pPr>
            <a:r>
              <a:t>What: Reduces dimensions while keeping maximum information. Projects data onto top principal components.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FFFFFF"/>
                </a:solidFill>
              </a:defRPr>
            </a:pPr>
            <a:r>
              <a:t>Example: Gene analysis: Reduce 20,000 gene features to 50 principal components. Visualize and cluster cancer types.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When: Too many features (curse of dimensionality), visualization needed, preprocessing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6537960"/>
            <a:ext cx="11612880" cy="228600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00" b="1">
                <a:solidFill>
                  <a:srgbClr val="00C8FF"/>
                </a:solidFill>
              </a:defRPr>
            </a:pPr>
          </a:p>
          <a:p>
            <a:pPr algn="l">
              <a:spcBef>
                <a:spcPts val="300"/>
              </a:spcBef>
              <a:defRPr sz="100" b="0">
                <a:solidFill>
                  <a:srgbClr val="C8C8D2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2"/>
                </a:solidFill>
              </a:defRPr>
            </a:pPr>
            <a:r>
              <a:t>DECISION: Know groups? → K-Means  |  Don't know? → DBSCAN  |  Rare events? → Isolation Forest  |  Learn normal? → Autoencoder  |  Too many features? → PCA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Reinforcement Learning: Learn by Trial &amp;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No data, no labels — just rewards and penalties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697480" cy="10058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00C8FF"/>
                </a:solidFill>
              </a:defRPr>
            </a:pPr>
            <a:r>
              <a:t>AGENT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The learner/decision-maker that takes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097280"/>
            <a:ext cx="2697480" cy="10058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64FFA0"/>
                </a:solidFill>
              </a:defRPr>
            </a:pPr>
            <a:r>
              <a:t>ENVIRONMENT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The world the agent interacts with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2697480" cy="10058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FFAA32"/>
                </a:solidFill>
              </a:defRPr>
            </a:pPr>
            <a:r>
              <a:t>REWARD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Positive feedback for good actions (+points)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097280"/>
            <a:ext cx="2697480" cy="100584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FF6464"/>
                </a:solidFill>
              </a:defRPr>
            </a:pPr>
            <a:r>
              <a:t>PENALTY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Negative feedback for bad actions (-points)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86000"/>
            <a:ext cx="7772400" cy="960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/>
          <a:lstStyle/>
          <a:p>
            <a:pPr algn="l">
              <a:defRPr sz="1300" b="1">
                <a:solidFill>
                  <a:srgbClr val="00C8FF"/>
                </a:solidFill>
              </a:defRPr>
            </a:pPr>
            <a:r>
              <a:t>YouTube Algorithm</a:t>
            </a:r>
          </a:p>
          <a:p>
            <a:r>
              <a:rPr sz="1000" b="0">
                <a:solidFill>
                  <a:srgbClr val="C8C8D2"/>
                </a:solidFill>
              </a:rPr>
              <a:t>Agent: Recommendation engine  |  </a:t>
            </a:r>
            <a:r>
              <a:rPr sz="1000" b="0">
                <a:solidFill>
                  <a:srgbClr val="FFFFFF"/>
                </a:solidFill>
              </a:rPr>
              <a:t>Reward: User watches full video (+), User clicks away (-)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Result: Learns to suggest videos that maximize watch time. Gets better the more you use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37560"/>
            <a:ext cx="7772400" cy="960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/>
          <a:lstStyle/>
          <a:p>
            <a:pPr algn="l">
              <a:defRPr sz="1300" b="1">
                <a:solidFill>
                  <a:srgbClr val="64FFA0"/>
                </a:solidFill>
              </a:defRPr>
            </a:pPr>
            <a:r>
              <a:t>Chess AI (AlphaZero)</a:t>
            </a:r>
          </a:p>
          <a:p>
            <a:r>
              <a:rPr sz="1000" b="0">
                <a:solidFill>
                  <a:srgbClr val="C8C8D2"/>
                </a:solidFill>
              </a:rPr>
              <a:t>Agent: Chess-playing program  |  </a:t>
            </a:r>
            <a:r>
              <a:rPr sz="1000" b="0">
                <a:solidFill>
                  <a:srgbClr val="FFFFFF"/>
                </a:solidFill>
              </a:rPr>
              <a:t>Reward: Win (+1), Draw (0), Lose (-1)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Result: Played itself millions of games. Beat world champion engine in 4 hours of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89120"/>
            <a:ext cx="7772400" cy="960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/>
          <a:lstStyle/>
          <a:p>
            <a:pPr algn="l">
              <a:defRPr sz="1300" b="1">
                <a:solidFill>
                  <a:srgbClr val="FFAA32"/>
                </a:solidFill>
              </a:defRPr>
            </a:pPr>
            <a:r>
              <a:t>Self-Driving Car</a:t>
            </a:r>
          </a:p>
          <a:p>
            <a:r>
              <a:rPr sz="1000" b="0">
                <a:solidFill>
                  <a:srgbClr val="C8C8D2"/>
                </a:solidFill>
              </a:rPr>
              <a:t>Agent: Driving AI system  |  </a:t>
            </a:r>
            <a:r>
              <a:rPr sz="1000" b="0">
                <a:solidFill>
                  <a:srgbClr val="FFFFFF"/>
                </a:solidFill>
              </a:rPr>
              <a:t>Reward: Safe driving (+), Lane departure (-), Crash (--)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Result: Learns safe driving policy through simulation. Tesla uses this with real-world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440679"/>
            <a:ext cx="7772400" cy="960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/>
          <a:lstStyle/>
          <a:p>
            <a:pPr algn="l">
              <a:defRPr sz="1300" b="1">
                <a:solidFill>
                  <a:srgbClr val="B482FF"/>
                </a:solidFill>
              </a:defRPr>
            </a:pPr>
            <a:r>
              <a:t>ExamGuard (Our Project)</a:t>
            </a:r>
          </a:p>
          <a:p>
            <a:r>
              <a:rPr sz="1000" b="0">
                <a:solidFill>
                  <a:srgbClr val="C8C8D2"/>
                </a:solidFill>
              </a:rPr>
              <a:t>Agent: Monitoring system  |  </a:t>
            </a:r>
            <a:r>
              <a:rPr sz="1000" b="0">
                <a:solidFill>
                  <a:srgbClr val="FFFFFF"/>
                </a:solidFill>
              </a:rPr>
              <a:t>Reward: Correctly flag cheating (+), Correctly allow legit (-penalty for false flags)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696A5"/>
                </a:solidFill>
              </a:defRPr>
            </a:pPr>
            <a:r>
              <a:t>Result: Learns to distinguish cheating from normal behavior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286000"/>
            <a:ext cx="3383280" cy="384048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AA32"/>
                </a:solidFill>
              </a:defRPr>
            </a:pPr>
            <a:r>
              <a:t>EXPLORATION vs EXPLOITATION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The core dilemma of RL: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EXPLOITATION: Keep doing what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works (go to same restaurant).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EXPLORATION: Try new things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(try a new restaurant — might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be better or worse).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Too much exploitation = stuck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in local optimum, miss better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options.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Too much exploration = waste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time on bad options.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Solution: Start with lots of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exploration, gradually shift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to exploitation (epsilon-greedy).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Three Types of ML: Side-by-Side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Supervised vs Unsupervised vs Reinforcement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91840"/>
                <a:gridCol w="3474720"/>
                <a:gridCol w="3474720"/>
              </a:tblGrid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Supervised Learning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Unsupervised Learning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Reinforcement Learning</a:t>
                      </a:r>
                    </a:p>
                  </a:txBody>
                  <a:tcPr>
                    <a:solidFill>
                      <a:srgbClr val="282837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WHAT is this? (classify/predict)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What PATTERNS exist?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HOW should I act?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Labeled (input + correct answer)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Unlabeled (input only, no answers)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 data — learns from interaction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Teacher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Has a teacher with answer key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No teacher — self-discovery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Has rewards/penalties (coach)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Predict correct output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Find hidden structure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Maximize total reward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Cricket Analogy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Coach shows video of perfect shots, you copy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You watch 1000 matches, find patterns yourself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You play matches, win=reward, lose=penalty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Label (spam/not) or Number (price)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Groups, anomalies, reduced features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Policy (best action for each situation)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Key Models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Logistic Reg, Random Forest, CNN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K-Means, DBSCAN, PCA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Q-Learning, Policy Gradient, DQN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  <a:tr h="365760"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Real Example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Predict if patient has diabetes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Group customers by behavior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defRPr sz="1100" b="0">
                          <a:solidFill>
                            <a:srgbClr val="C8C8D2"/>
                          </a:solidFill>
                        </a:defRPr>
                      </a:pPr>
                      <a:r>
                        <a:t>Train robot to walk</a:t>
                      </a:r>
                    </a:p>
                  </a:txBody>
                  <a:tcPr>
                    <a:solidFill>
                      <a:srgbClr val="23233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5120640"/>
            <a:ext cx="11612880" cy="1371600"/>
          </a:xfrm>
          <a:prstGeom prst="roundRect">
            <a:avLst/>
          </a:prstGeom>
          <a:solidFill>
            <a:srgbClr val="322819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600" b="1">
                <a:solidFill>
                  <a:srgbClr val="FFAA32"/>
                </a:solidFill>
              </a:defRPr>
            </a:pPr>
            <a:r>
              <a:t>ExamGuard USES ALL THREE TYPES!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SUPERVISED: Train face recognition model on labeled images (student A, student B, ...) to verify identity during exams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UNSUPERVISED: Cluster student behavior patterns to find unusual groups (potential organized cheating rings)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REINFORCEMENT: System learns over time which flagged behaviors are actually cheating vs false alarms, improving accuracy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Neural Networks: The Engine of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Inspired by the human brain — layers of connected neurons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19456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00C8FF"/>
                </a:solidFill>
              </a:defRPr>
            </a:pPr>
            <a:r>
              <a:t>INPUT LAYER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Receives raw data</a:t>
            </a:r>
            <a:br/>
            <a:r>
              <a:t>(pixels, numbers,</a:t>
            </a:r>
            <a:br/>
            <a:r>
              <a:t>words as vectors)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Neurons = # of features</a:t>
            </a:r>
            <a:br/>
            <a:r>
              <a:t>No computation here</a:t>
            </a:r>
            <a:br/>
            <a:r>
              <a:t>Just passes data 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219456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64FFA0"/>
                </a:solidFill>
              </a:defRPr>
            </a:pPr>
            <a:r>
              <a:t>HIDDEN LAYERS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Process &amp; transform</a:t>
            </a:r>
            <a:br/>
            <a:r>
              <a:t>data through learned</a:t>
            </a:r>
            <a:br/>
            <a:r>
              <a:t>weights &amp; biases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Where learning happens</a:t>
            </a:r>
            <a:br/>
            <a:r>
              <a:t>1-1000+ layers possible</a:t>
            </a:r>
            <a:br/>
            <a:r>
              <a:t>More layers = 'deeper'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097280"/>
            <a:ext cx="219456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FFAA32"/>
                </a:solidFill>
              </a:defRPr>
            </a:pPr>
            <a:r>
              <a:t>OUTPUT LAYER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Produces final</a:t>
            </a:r>
            <a:br/>
            <a:r>
              <a:t>prediction/answer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Classification: probabilities</a:t>
            </a:r>
            <a:br/>
            <a:r>
              <a:t>Regression: single number</a:t>
            </a:r>
            <a:br/>
            <a:r>
              <a:t>Neurons = # of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66160"/>
            <a:ext cx="3383280" cy="155448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00C8FF"/>
                </a:solidFill>
              </a:defRPr>
            </a:pPr>
            <a:r>
              <a:t>FORWARD PROPAGATION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Data flows INPUT → HIDDEN → OUTPUT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Each neuron: output = activation(Σ(weight × input) + bias)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Layer by layer, data gets transformed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Final output = prediction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This is how the network USES what it learned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566160"/>
            <a:ext cx="3383280" cy="155448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FF6464"/>
                </a:solidFill>
              </a:defRPr>
            </a:pPr>
            <a:r>
              <a:t>BACKPROPAGATION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Error flows BACKWARD: Output → Hidden → Input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Calculates how much each weight contributed to error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Uses chain rule of calculus (derivatives)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Updates weights to reduce error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This is how the network LEARNS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97280"/>
            <a:ext cx="4297680" cy="2194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B482FF"/>
                </a:solidFill>
              </a:defRPr>
            </a:pPr>
            <a:r>
              <a:t>ACTIVATION FUNCTIONS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Without activation: network = fancy linear equation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Activation adds NON-LINEARITY (curves!)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ReLU: max(0, x) — kills negatives, keeps positives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  Most popular for hidden layers. Fast. Simple.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Sigmoid: squashes to 0-1 — good for probability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  Used in binary classification output layer.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Softmax: squashes to probabilities that sum to 1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  Used in multi-class output (cat/dog/bird).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566160"/>
            <a:ext cx="4297680" cy="155448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FFAA32"/>
                </a:solidFill>
              </a:defRPr>
            </a:pPr>
            <a:r>
              <a:t>TYPES OF NEURAL NETWORKS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CNN: Convolutional — for images. Learns spatial patterns (edges, shapes, objects)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RNN/LSTM: Recurrent — for sequences. Remembers past (text, audio, time series)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Transformer: Attention mechanism — processes ALL tokens at once. Powers GPT, BERT, Claude.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</a:defRPr>
            </a:pPr>
            <a:r>
              <a:t>GAN: Generator + Discriminator — creates realistic fake data (images, audio)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303520"/>
            <a:ext cx="11430000" cy="1097280"/>
          </a:xfrm>
          <a:prstGeom prst="roundRect">
            <a:avLst/>
          </a:prstGeom>
          <a:solidFill>
            <a:srgbClr val="282837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AA32"/>
                </a:solidFill>
              </a:defRPr>
            </a:pPr>
            <a:r>
              <a:t>NEURAL NETWORK TRAINING CYCLE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1. Forward pass: input → prediction  |  2. Calculate loss: how wrong?  |  3. Backward pass: which weights caused error?  |  4. Update weights  |  5. REPEAT thousands of times until loss is low (convergence)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Vectors: How Computers See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Everything becomes a list of numbers — that's a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 rIns="127000"/>
          <a:lstStyle/>
          <a:p>
            <a:pPr algn="ctr"/>
            <a:r>
              <a:rPr sz="1400" b="1">
                <a:solidFill>
                  <a:srgbClr val="00C8FF"/>
                </a:solidFill>
              </a:rPr>
              <a:t>STUDENT  </a:t>
            </a:r>
            <a:r>
              <a:rPr sz="1300" b="1">
                <a:solidFill>
                  <a:srgbClr val="FFFFFF"/>
                </a:solidFill>
              </a:rPr>
              <a:t>[20, 170, 85, 90]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696A5"/>
                </a:solidFill>
              </a:defRPr>
            </a:pPr>
            <a:r>
              <a:t>Dimensions: [age, height_cm, weight_kg, score]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A student IS a point in 4D space. Similar students = nearby points. The computer doesn't see 'Usman' — it sees [20, 170, 85, 90].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21408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 rIns="127000"/>
          <a:lstStyle/>
          <a:p>
            <a:pPr algn="ctr"/>
            <a:r>
              <a:rPr sz="1400" b="1">
                <a:solidFill>
                  <a:srgbClr val="64FFA0"/>
                </a:solidFill>
              </a:rPr>
              <a:t>HOUSE  </a:t>
            </a:r>
            <a:r>
              <a:rPr sz="1300" b="1">
                <a:solidFill>
                  <a:srgbClr val="FFFFFF"/>
                </a:solidFill>
              </a:rPr>
              <a:t>[3, 1200, 2, 10]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696A5"/>
                </a:solidFill>
              </a:defRPr>
            </a:pPr>
            <a:r>
              <a:t>Dimensions: [bedrooms, sqft, bathrooms, age_years]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Every house becomes coordinates in a space. Houses with similar vectors have similar prices. ML finds the pattern: vector → price.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236976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 rIns="127000"/>
          <a:lstStyle/>
          <a:p>
            <a:pPr algn="ctr"/>
            <a:r>
              <a:rPr sz="1400" b="1">
                <a:solidFill>
                  <a:srgbClr val="FFAA32"/>
                </a:solidFill>
              </a:rPr>
              <a:t>PHOTO  </a:t>
            </a:r>
            <a:r>
              <a:rPr sz="1300" b="1">
                <a:solidFill>
                  <a:srgbClr val="FFFFFF"/>
                </a:solidFill>
              </a:rPr>
              <a:t>[0.12, 0.87, 0.45, ... × 10,000]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696A5"/>
                </a:solidFill>
              </a:defRPr>
            </a:pPr>
            <a:r>
              <a:t>Dimensions: Each number = one pixel's brightness (0=black, 1=white)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A 100×100 grayscale image = vector of 10,000 numbers. Color images have 3 values per pixel (RGB) → 30,000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352544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 rIns="127000"/>
          <a:lstStyle/>
          <a:p>
            <a:pPr algn="ctr"/>
            <a:r>
              <a:rPr sz="1400" b="1">
                <a:solidFill>
                  <a:srgbClr val="FF6464"/>
                </a:solidFill>
              </a:rPr>
              <a:t>EMAIL  </a:t>
            </a:r>
            <a:r>
              <a:rPr sz="1300" b="1">
                <a:solidFill>
                  <a:srgbClr val="FFFFFF"/>
                </a:solidFill>
              </a:rPr>
              <a:t>[7, 4, 1, 1, 0, 1]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696A5"/>
                </a:solidFill>
              </a:defRPr>
            </a:pPr>
            <a:r>
              <a:t>Dimensions: [word_count_hundreds, links, has_attachment, has_'free', has_'urgent', from_unknown]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An email becomes a feature vector. Spam emails cluster together in this space (many links, unknown sender, 'free' keyword).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468112"/>
            <a:ext cx="11612880" cy="10515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63500" rIns="127000"/>
          <a:lstStyle/>
          <a:p>
            <a:pPr algn="ctr"/>
            <a:r>
              <a:rPr sz="1400" b="1">
                <a:solidFill>
                  <a:srgbClr val="B482FF"/>
                </a:solidFill>
              </a:rPr>
              <a:t>CRICKET PLAYER  </a:t>
            </a:r>
            <a:r>
              <a:rPr sz="1300" b="1">
                <a:solidFill>
                  <a:srgbClr val="FFFFFF"/>
                </a:solidFill>
              </a:rPr>
              <a:t>[274, 13906, 52.7, 46]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696A5"/>
                </a:solidFill>
              </a:defRPr>
            </a:pPr>
            <a:r>
              <a:t>Dimensions: [matches, runs, average, centuries]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</a:defRPr>
            </a:pPr>
            <a:r>
              <a:t>Sachin = [463, 18426, 44.8, 49]. Kohli = [274, 13906, 52.7, 46]. Dot product tells us how similar they are!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6537960"/>
            <a:ext cx="11612880" cy="228600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00" b="1">
                <a:solidFill>
                  <a:srgbClr val="00C8FF"/>
                </a:solidFill>
              </a:defRPr>
            </a:pPr>
          </a:p>
          <a:p>
            <a:pPr algn="l">
              <a:spcBef>
                <a:spcPts val="300"/>
              </a:spcBef>
              <a:defRPr sz="100" b="0">
                <a:solidFill>
                  <a:srgbClr val="C8C8D2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A32"/>
                </a:solidFill>
              </a:defRPr>
            </a:pPr>
            <a:r>
              <a:t>KEY: ML doesn't understand 'houses' or 'students'. It only sees vectors (lists of numbers). Our job: convert real-world things into good vectors.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Dot Product: Measuring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Multiply matching positions, add them up — higher = more similar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029200" cy="201168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00C8FF"/>
                </a:solidFill>
              </a:defRPr>
            </a:pPr>
            <a:r>
              <a:t>NETFLIX EXAMPLE: Movie Ratings (1-5 stars)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             Action  Romance  Comedy  Horror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You     =  [   5,      1,       3,      4   ]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User B  =  [   4,      2,       3,      5   ]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User C  =  [   1,      5,       4,      1   ]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You love Action &amp; Horror, hate Romance.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User B also loves Action &amp; Horror!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User C loves Romance — opposite of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097280"/>
            <a:ext cx="6217920" cy="201168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64FFA0"/>
                </a:solidFill>
              </a:defRPr>
            </a:pPr>
            <a:r>
              <a:t>THE MATH: Multiply matching positions, sum up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You · User B = (5×4) + (1×2) + (3×3) + (4×5)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           =  20   +   2   +   9   +  20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           =  51     ← HIGH similarity!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You · User C = (5×1) + (1×5) + (3×4) + (4×1)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           =   5   +   5   +  12   +   4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           =  26     ← LOW similarity!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383280"/>
            <a:ext cx="5029200" cy="18288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FFAA32"/>
                </a:solidFill>
              </a:defRPr>
            </a:pPr>
            <a:r>
              <a:t>RESULT: Netflix Recommends!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You vs User B = 51 (SIMILAR taste!)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You vs User C = 26 (DIFFERENT taste)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Netflix says: 'User B loved Interstellar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and you haven't seen it yet...'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RECOMMENDATION: Watch Interstellar!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(Because User B's taste matches yours)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383280"/>
            <a:ext cx="6217920" cy="18288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B482FF"/>
                </a:solidFill>
              </a:defRPr>
            </a:pPr>
            <a:r>
              <a:t>WHY DOT PRODUCT WORKS FOR SIMILARITY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When both users rate a genre HIGH → big positive product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  (5 × 4 = 20 for Action) ← both love it!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When one rates HIGH and other LOW → small product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  (1 × 5 = 5 for Romance) ← disagreement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When both rate LOW → small product (doesn't help)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C8C8D2"/>
                </a:solidFill>
              </a:defRPr>
            </a:pPr>
            <a:r>
              <a:t>Sum of all these = overall similarity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486400"/>
            <a:ext cx="11430000" cy="914400"/>
          </a:xfrm>
          <a:prstGeom prst="roundRect">
            <a:avLst/>
          </a:prstGeom>
          <a:solidFill>
            <a:srgbClr val="282837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AA32"/>
                </a:solidFill>
              </a:defRPr>
            </a:pPr>
            <a:r>
              <a:t>DOT PRODUCT IS EVERYWHERE IN ML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FFFFF"/>
                </a:solidFill>
              </a:defRPr>
            </a:pPr>
            <a:r>
              <a:t>Every neuron in a neural network computes a dot product: output = dot(weights, inputs) + bias  |  Word similarity in LLMs: dot product of word vectors  |  Attention mechanism in Transformers: dot product of query &amp; key vectors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Derivatives: The Rate of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How fast is something changing? That's the derivative.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486400" cy="2560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00C8FF"/>
                </a:solidFill>
              </a:defRPr>
            </a:pPr>
            <a:r>
              <a:t>SAMOSA SHOP EXAMPLE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You sell samosas. You change the PRICE and see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how SALES change.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Price ₹10 → Sell 100/day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Price ₹12 → Sell 80/day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Price ₹15 → Sell 50/day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Rate of change (derivative):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From ₹10→₹12: Δsales/Δprice = -20/2 = -10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'For every ₹1 increase, you lose 10 sales'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This RATE OF CHANGE is the derivative!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It tells you the DIRECTION and SPEED of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097280"/>
            <a:ext cx="5760720" cy="2560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64FFA0"/>
                </a:solidFill>
              </a:defRPr>
            </a:pPr>
            <a:r>
              <a:t>ML EXAMPLE: House Price Model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Model: Price = weight × size + bias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Current weight = 0.01 (per sqft)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House: 1000 sqft, actual price = ₹50 Lakhs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Model prediction: 0.01 × 1000 + 10 = ₹20 Lakhs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Error = (20 - 50)² = 900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Derivative of error with respect to weight: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d(error)/d(weight) = -60,000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What this means in plain English: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'The weight for size is TOO LOW!'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'Increase it to reduce the error'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'Specifically, increase by ~0.008'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This derivative GUIDES the weight update.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931920"/>
            <a:ext cx="11430000" cy="25603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FFAA32"/>
                </a:solidFill>
              </a:defRPr>
            </a:pPr>
            <a:r>
              <a:t>WHY DERIVATIVES MATTER IN ML — The Big Picture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1. We make a PREDICTION (forward pass)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2. We calculate the ERROR (loss function): how wrong were we?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3. We take the DERIVATIVE of the error with respect to each weight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 → This tells us: should this weight go UP or DOWN? By how much?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4. We UPDATE the weight in the direction that REDUCES error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5. REPEAT thousands of times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Without derivatives, we'd have to guess randomly which direction to adjust weights.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Derivatives give us the EXACT direction and magnitude to move — like a compass pointing to lower error.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Positive derivative → weight is too high → decrease it  |  Negative derivative → weight is too low → increase it  |  Zero derivative → perfect! (or stuck at local minimum)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Gradient Descent: Finding the Best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The algorithm that makes neural networks 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00C8FF"/>
                </a:solidFill>
              </a:defRPr>
            </a:pPr>
            <a:r>
              <a:t>ANALOGY: Blindfolded on a Hill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You're blindfolded on a hilly landscape.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Goal: reach the LOWEST point (valley).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You can't SEE, but you can FEEL: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• Which direction slopes downward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• How steep the slope is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Strategy: Take a step in the steepest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downward direction. Repeat.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That's EXACTLY what gradient descent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does with weights and error!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384048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64FFA0"/>
                </a:solidFill>
              </a:defRPr>
            </a:pPr>
            <a:r>
              <a:t>WORKED EXAMPLE: Weight Update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Current weight = 0.5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Learning rate (step size) = 0.1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Gradient (slope) = 2.0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Formula: new_weight = old - LR × gradient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new_weight = 0.5 - 0.1 × 2.0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new_weight = 0.5 - 0.2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new_weight = 0.3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The weight decreased from 0.5 to 0.3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because the gradient said 'you're too high,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go down!'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749039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AA32"/>
                </a:solidFill>
              </a:defRPr>
            </a:pPr>
            <a:r>
              <a:t>LEARNING RATE: The Step Size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TOO BIG (LR = 1.0):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Takes huge steps → overshoots the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minimum → bounces around → never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converges. Like running downhill.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JUST RIGHT (LR = 0.01-0.1):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Steady steps → reliably reaches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minimum → stable training.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TOO SMALL (LR = 0.0001):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Tiny steps → takes forever to reach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minimum → training never finishes.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657600"/>
            <a:ext cx="5486400" cy="27432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6464"/>
                </a:solidFill>
              </a:defRPr>
            </a:pPr>
            <a:r>
              <a:t>LOCAL MINIMA: The Trap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Gradient descent follows the slope DOWN. But what if there are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multiple valleys? It might get stuck in a SHALLOW valley (local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minimum) instead of reaching the DEEPEST valley (global minimum).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Solutions used in practice: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• Momentum: Like a ball rolling — carries speed to escape shallow valleys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• Adam optimizer: Adapts learning rate per weight (most popular today)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• Random restarts: Try from multiple starting points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• Batch size variation: Different data subsets → different gradients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In practice with neural networks, local minima are usually 'good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enough' — the loss landscape has many valleys of similar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657600"/>
            <a:ext cx="5760720" cy="27432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B482FF"/>
                </a:solidFill>
              </a:defRPr>
            </a:pPr>
            <a:r>
              <a:t>GRADIENT DESCENT VARIANTS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BATCH GD: Use ALL data to compute gradient each step.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Most accurate gradient. Very slow on large datasets.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STOCHASTIC GD (SGD): Use ONE random sample per step.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Noisy but fast. Can escape local minima due to noise.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MINI-BATCH GD: Use small batch (32-256 samples) per step.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Best of both worlds. This is what everyone actually uses.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ADAM: Mini-batch + adaptive learning rate + momentum.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The default optimizer in modern deep learning.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Works well 'out of the box' on most problems.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Train/Test Split, Overfitting &amp; Underfitting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Why we split data and what goes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00C8FF"/>
                </a:solidFill>
              </a:defRPr>
            </a:pPr>
            <a:r>
              <a:t>80/20 TRAIN-TEST SPLIT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1000 data points → 800 train + 200 test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TRAINING SET (80%): Model learns from this.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Sees features AND correct answers.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Adjusts weights to minimize error.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TEST SET (20%): Model is TESTED on this.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Never seen during training!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Measures real-world performance.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Like studying from practice questions,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then taking a DIFFERENT final exam.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3840480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6464"/>
                </a:solidFill>
              </a:defRPr>
            </a:pPr>
            <a:r>
              <a:t>OVERFITTING — Memorized, Not Learned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Train accuracy: 99%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Test accuracy:  30%  ← HUGE gap!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The model MEMORIZED the training data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including noise and outliers, instead of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learning the general pattern.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Like a student who memorizes answers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to practice questions but can't solve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new problems on the exam.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Fixes: More data, simpler model, dropout,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regularization, early stopping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749039" cy="22860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400" b="1">
                <a:solidFill>
                  <a:srgbClr val="FFAA32"/>
                </a:solidFill>
              </a:defRPr>
            </a:pPr>
            <a:r>
              <a:t>UNDERFITTING — Too Simple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Train accuracy: 50%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Test accuracy:  48%  ← Both low!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The model is TOO SIMPLE to capture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the patterns in the data.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Like using a straight line to fit data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that clearly curves — it can't learn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the real relationship.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Like a student who only studied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chapter 1 for a 10-chapter exam.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Fixes: More complex model, more features,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train longer, reduce regularization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657600"/>
            <a:ext cx="11430000" cy="274320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500" b="1">
                <a:solidFill>
                  <a:srgbClr val="64FFA0"/>
                </a:solidFill>
              </a:defRPr>
            </a:pPr>
            <a:r>
              <a:t>HOW DO YOU TEST DIFFERENT ML TYPES?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SUPERVISED LEARNING — Automatic evaluation (easiest!)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Split data 80/20 → Train on 80% → Predict on 20% → Compare predictions vs actual labels → Get accuracy/F1/etc.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You know the RIGHT ANSWERS, so you can measure exactly how well the model performs.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UNSUPERVISED LEARNING — Human evaluation needed (hardest!)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No labels to compare against! How do you know if clusters are 'correct'?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Methods: Silhouette score (math check), domain expert review, downstream task performance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Example: Show customer segments to marketing team → 'Do these groups make business sense?'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REINFORCEMENT LEARNING — Performance in environment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Let agent play the game/drive the car/manage the system → Measure total reward over time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Compare against: random policy, human performance, previous version of the agent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  Example: Chess AI wins 95% of games against previous version → improvement confirmed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Full Training Cycle: 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House price prediction — 6 steps with real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749039" cy="2103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00C8FF"/>
                </a:solidFill>
              </a:defRPr>
            </a:pPr>
            <a:r>
              <a:t>STEP 1: VECTORIZE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House = [1000 sqft, 5 km from city]</a:t>
            </a:r>
            <a:br/>
            <a:r>
              <a:t>Vector: [1000, 5]</a:t>
            </a:r>
            <a:br/>
            <a:r>
              <a:t>Weights: [0.01, -2.0], Bias: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005840"/>
            <a:ext cx="3749039" cy="2103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64FFA0"/>
                </a:solidFill>
              </a:defRPr>
            </a:pPr>
            <a:r>
              <a:t>STEP 2: PREDICT (Forward Pass)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Price = (0.01×1000) + (-2.0×5) + 10</a:t>
            </a:r>
            <a:br/>
            <a:r>
              <a:t>Price = 10 - 10 + 10 = ₹20.05 Lakhs</a:t>
            </a:r>
            <a:br/>
            <a:r>
              <a:t>But actual price = ₹50 Lakhs!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05840"/>
            <a:ext cx="3749039" cy="2103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FF6464"/>
                </a:solidFill>
              </a:defRPr>
            </a:pPr>
            <a:r>
              <a:t>STEP 3: CALCULATE LOSS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Loss = (predicted - actual)² = (20.05 - 50)²</a:t>
            </a:r>
            <a:br/>
            <a:r>
              <a:t>Loss = (-29.95)² = 897</a:t>
            </a:r>
            <a:br/>
            <a:r>
              <a:t>This is MSE — Mean Squared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291840"/>
            <a:ext cx="3749039" cy="2103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B482FF"/>
                </a:solidFill>
              </a:defRPr>
            </a:pPr>
            <a:r>
              <a:t>STEP 4: DERIVATIVES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d(loss)/d(size_weight) = -59,900</a:t>
            </a:r>
            <a:br/>
            <a:r>
              <a:t>Meaning: 'Size weight is WAY too low!'</a:t>
            </a:r>
            <a:br/>
            <a:r>
              <a:t>d(loss)/d(distance_weight) = 299.5</a:t>
            </a:r>
            <a:br/>
            <a:r>
              <a:t>Meaning: 'Distance weight is slightly too negative'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291840"/>
            <a:ext cx="3749039" cy="2103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FFAA32"/>
                </a:solidFill>
              </a:defRPr>
            </a:pPr>
            <a:r>
              <a:t>STEP 5: UPDATE WEIGHTS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LR = 0.0001</a:t>
            </a:r>
            <a:br/>
            <a:r>
              <a:t>size_weight: 0.01 - (0.0001 × -59900) = 0.01 + 5.99 → clipped to 0.018</a:t>
            </a:r>
            <a:br/>
            <a:r>
              <a:t>dist_weight: -2.0 - (0.0001 × 299.5) = -2.03</a:t>
            </a:r>
            <a:br/>
            <a:r>
              <a:t>Weights moved toward BETTER values!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291840"/>
            <a:ext cx="3749039" cy="210312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64FFA0"/>
                </a:solidFill>
              </a:defRPr>
            </a:pPr>
            <a:r>
              <a:t>STEP 6: REPEAT × 500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After 500 iterations:</a:t>
            </a:r>
            <a:br/>
            <a:r>
              <a:t>Weights: [0.042, -1.5], Bias: 12</a:t>
            </a:r>
            <a:br/>
            <a:r>
              <a:t>Prediction: (0.042×1000)+(-1.5×5)+12 = ₹46.5L</a:t>
            </a:r>
            <a:br/>
            <a:r>
              <a:t>Much closer to ₹50L! MODEL IS TRAINED!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669280"/>
            <a:ext cx="5486400" cy="8229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FF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FFAA32"/>
                </a:solidFill>
              </a:defRPr>
            </a:pPr>
            <a:r>
              <a:t>CONVERGENCE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</a:defRPr>
            </a:pPr>
            <a:r>
              <a:t>When loss stops decreasing significantly between iterations, the model has 'converged'. Training is complete. Typical: 100-10,000 iterations depending on complexity.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5669280"/>
            <a:ext cx="5760720" cy="822960"/>
          </a:xfrm>
          <a:prstGeom prst="roundRect">
            <a:avLst/>
          </a:prstGeom>
          <a:solidFill>
            <a:srgbClr val="2D2D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>
              <a:defRPr sz="1300" b="1">
                <a:solidFill>
                  <a:srgbClr val="00C8FF"/>
                </a:solidFill>
              </a:defRPr>
            </a:pPr>
            <a:r>
              <a:t>5 THINGS TO REMEMBER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FFFFF"/>
                </a:solidFill>
              </a:defRPr>
            </a:pPr>
            <a:r>
              <a:t>1. Everything is vectors  2. Forward pass = prediction  3. Loss = how wrong  4. Derivatives = direction to fix  5. Gradient descent = actually fixing weights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</a:defRPr>
            </a:pPr>
            <a:r>
              <a:t>Key Terms Reference: 25 Terms You Must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5"/>
                </a:solidFill>
              </a:defRPr>
            </a:pPr>
            <a:r>
              <a:t>Quick-reference glossary for all Foundations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AI: </a:t>
            </a:r>
            <a:r>
              <a:rPr sz="1100" b="0">
                <a:solidFill>
                  <a:srgbClr val="C8C8D2"/>
                </a:solidFill>
              </a:rPr>
              <a:t>Making machines that can think, learn, decide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ML: </a:t>
            </a:r>
            <a:r>
              <a:rPr sz="1100" b="0">
                <a:solidFill>
                  <a:srgbClr val="C8C8D2"/>
                </a:solidFill>
              </a:rPr>
              <a:t>Machines learn from data instead of explicit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8600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Deep Learning: </a:t>
            </a:r>
            <a:r>
              <a:rPr sz="1100" b="0">
                <a:solidFill>
                  <a:srgbClr val="C8C8D2"/>
                </a:solidFill>
              </a:rPr>
              <a:t>ML with multi-layer neural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926079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LLM: </a:t>
            </a:r>
            <a:r>
              <a:rPr sz="1100" b="0">
                <a:solidFill>
                  <a:srgbClr val="C8C8D2"/>
                </a:solidFill>
              </a:rPr>
              <a:t>Large language model (GPT, Claude) using Transformers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56616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Supervised: </a:t>
            </a:r>
            <a:r>
              <a:rPr sz="1100" b="0">
                <a:solidFill>
                  <a:srgbClr val="C8C8D2"/>
                </a:solidFill>
              </a:rPr>
              <a:t>Learn from labeled data (input + answer)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20624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Unsupervised: </a:t>
            </a:r>
            <a:r>
              <a:rPr sz="1100" b="0">
                <a:solidFill>
                  <a:srgbClr val="C8C8D2"/>
                </a:solidFill>
              </a:rPr>
              <a:t>Find patterns in unlabeled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846319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Reinforcement: </a:t>
            </a:r>
            <a:r>
              <a:rPr sz="1100" b="0">
                <a:solidFill>
                  <a:srgbClr val="C8C8D2"/>
                </a:solidFill>
              </a:rPr>
              <a:t>Learn by trial, error, rewards &amp; penalties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48640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Classification: </a:t>
            </a:r>
            <a:r>
              <a:rPr sz="1100" b="0">
                <a:solidFill>
                  <a:srgbClr val="C8C8D2"/>
                </a:solidFill>
              </a:rPr>
              <a:t>Predict a category/label (spam or not)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6126479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Regression: </a:t>
            </a:r>
            <a:r>
              <a:rPr sz="1100" b="0">
                <a:solidFill>
                  <a:srgbClr val="C8C8D2"/>
                </a:solidFill>
              </a:rPr>
              <a:t>Predict a continuous number (house price)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00584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Feature: </a:t>
            </a:r>
            <a:r>
              <a:rPr sz="1100" b="0">
                <a:solidFill>
                  <a:srgbClr val="C8C8D2"/>
                </a:solidFill>
              </a:rPr>
              <a:t>Input variable (age, size, pixels)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Label: </a:t>
            </a:r>
            <a:r>
              <a:rPr sz="1100" b="0">
                <a:solidFill>
                  <a:srgbClr val="C8C8D2"/>
                </a:solidFill>
              </a:rPr>
              <a:t>Correct answer in training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28600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Vector: </a:t>
            </a:r>
            <a:r>
              <a:rPr sz="1100" b="0">
                <a:solidFill>
                  <a:srgbClr val="C8C8D2"/>
                </a:solidFill>
              </a:rPr>
              <a:t>List of numbers representing something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926079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Dot Product: </a:t>
            </a:r>
            <a:r>
              <a:rPr sz="1100" b="0">
                <a:solidFill>
                  <a:srgbClr val="C8C8D2"/>
                </a:solidFill>
              </a:rPr>
              <a:t>Multiply matching positions &amp; sum — measures similarity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56616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Neural Network: </a:t>
            </a:r>
            <a:r>
              <a:rPr sz="1100" b="0">
                <a:solidFill>
                  <a:srgbClr val="C8C8D2"/>
                </a:solidFill>
              </a:rPr>
              <a:t>Layers of neurons that learn patterns from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420624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Forward Pass: </a:t>
            </a:r>
            <a:r>
              <a:rPr sz="1100" b="0">
                <a:solidFill>
                  <a:srgbClr val="C8C8D2"/>
                </a:solidFill>
              </a:rPr>
              <a:t>Data flows input→output to make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846319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Backpropagation: </a:t>
            </a:r>
            <a:r>
              <a:rPr sz="1100" b="0">
                <a:solidFill>
                  <a:srgbClr val="C8C8D2"/>
                </a:solidFill>
              </a:rPr>
              <a:t>Error flows backward to update weights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48640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Loss Function: </a:t>
            </a:r>
            <a:r>
              <a:rPr sz="1100" b="0">
                <a:solidFill>
                  <a:srgbClr val="C8C8D2"/>
                </a:solidFill>
              </a:rPr>
              <a:t>Measures how wrong the prediction 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6126479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Derivative: </a:t>
            </a:r>
            <a:r>
              <a:rPr sz="1100" b="0">
                <a:solidFill>
                  <a:srgbClr val="C8C8D2"/>
                </a:solidFill>
              </a:rPr>
              <a:t>Rate of change — tells direction to adjust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00584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Gradient Descent: </a:t>
            </a:r>
            <a:r>
              <a:rPr sz="1100" b="0">
                <a:solidFill>
                  <a:srgbClr val="C8C8D2"/>
                </a:solidFill>
              </a:rPr>
              <a:t>Algorithm that minimizes loss by following slope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64592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Learning Rate: </a:t>
            </a:r>
            <a:r>
              <a:rPr sz="1100" b="0">
                <a:solidFill>
                  <a:srgbClr val="C8C8D2"/>
                </a:solidFill>
              </a:rPr>
              <a:t>Step size for weight updates (too big/small = bad)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28600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Overfitting: </a:t>
            </a:r>
            <a:r>
              <a:rPr sz="1100" b="0">
                <a:solidFill>
                  <a:srgbClr val="C8C8D2"/>
                </a:solidFill>
              </a:rPr>
              <a:t>Memorized training data, fails on new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926079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Underfitting: </a:t>
            </a:r>
            <a:r>
              <a:rPr sz="1100" b="0">
                <a:solidFill>
                  <a:srgbClr val="C8C8D2"/>
                </a:solidFill>
              </a:rPr>
              <a:t>Model too simple, fails on all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56616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Train/Test Split: </a:t>
            </a:r>
            <a:r>
              <a:rPr sz="1100" b="0">
                <a:solidFill>
                  <a:srgbClr val="C8C8D2"/>
                </a:solidFill>
              </a:rPr>
              <a:t>80% learn, 20% evaluate real performance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206240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Activation Function: </a:t>
            </a:r>
            <a:r>
              <a:rPr sz="1100" b="0">
                <a:solidFill>
                  <a:srgbClr val="C8C8D2"/>
                </a:solidFill>
              </a:rPr>
              <a:t>Adds non-linearity (ReLU, Sigmoid, Softmax)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846319"/>
            <a:ext cx="3749039" cy="576072"/>
          </a:xfrm>
          <a:prstGeom prst="round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 rIns="101600"/>
          <a:lstStyle/>
          <a:p>
            <a:pPr algn="ctr"/>
            <a:r>
              <a:rPr sz="1200" b="1">
                <a:solidFill>
                  <a:srgbClr val="00C8FF"/>
                </a:solidFill>
              </a:rPr>
              <a:t>Convergence: </a:t>
            </a:r>
            <a:r>
              <a:rPr sz="1100" b="0">
                <a:solidFill>
                  <a:srgbClr val="C8C8D2"/>
                </a:solidFill>
              </a:rPr>
              <a:t>When loss stops decreasing — training is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A32"/>
                </a:solidFill>
              </a:defRPr>
            </a:pPr>
            <a:r>
              <a:t>01 Foundations Complete — Next: 02 Data Science &amp; Feature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