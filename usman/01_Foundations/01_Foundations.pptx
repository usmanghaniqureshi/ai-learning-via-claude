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0096FF"/>
                </a:solidFill>
              </a:defRPr>
            </a:pPr>
            <a:r>
              <a:t>01 — Foundations of AI &amp; ML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</a:defRPr>
            </a:pPr>
            <a:r>
              <a:t>Section A: Understanding AI &amp; ML (Topics 1-5)</a:t>
            </a:r>
            <a:br/>
            <a:r>
              <a:t>Section B: Types of Machine Learning — 3 Approaches (Topics 6-8)</a:t>
            </a:r>
            <a:br/>
            <a:r>
              <a:t>Section C: How It Works Inside (Topics 9-11)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657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8C8D2"/>
                </a:solidFill>
              </a:defRPr>
            </a:pPr>
            <a:r>
              <a:t>11 Topics | Every concept with analogies &amp; real-world examples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5720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C8C8D2"/>
                </a:solidFill>
              </a:defRPr>
            </a:pPr>
            <a:r>
              <a:t>Personal Study Guide | March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0096FF"/>
                </a:solidFill>
              </a:defRPr>
            </a:pPr>
            <a:r>
              <a:t>Section 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6576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FFFFFF"/>
                </a:solidFill>
              </a:defRPr>
            </a:pPr>
            <a:r>
              <a:t>Understanding AI &amp; 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5720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8C8D2"/>
                </a:solidFill>
              </a:defRPr>
            </a:pPr>
            <a:r>
              <a:t>Topics 1-5: Intelligence, AI, Types, Traditional vs ML, Hierarchy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96FF"/>
                </a:solidFill>
              </a:defRPr>
            </a:pPr>
            <a:r>
              <a:t>01. What is Intelligence?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C8C8D2"/>
                </a:solidFill>
              </a:defRPr>
            </a:pPr>
            <a:r>
              <a:t>The ability to learn, understand, decide, and adapt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2697480" cy="320040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2514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0C864"/>
                </a:solidFill>
              </a:defRPr>
            </a:pPr>
            <a:r>
              <a:t>LEARN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20240"/>
            <a:ext cx="2514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</a:defRPr>
            </a:pPr>
            <a:r>
              <a:t>Get better from</a:t>
            </a:r>
            <a:br/>
            <a:r>
              <a:t>past experience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017520"/>
            <a:ext cx="2514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C8C8D2"/>
                </a:solidFill>
              </a:defRPr>
            </a:pPr>
            <a:r>
              <a:t>Burned hand on stove</a:t>
            </a:r>
            <a:br/>
            <a:r>
              <a:t>-&gt; never touch again</a:t>
            </a:r>
          </a:p>
        </p:txBody>
      </p:sp>
      <p:sp>
        <p:nvSpPr>
          <p:cNvPr id="8" name="Rectangle 7"/>
          <p:cNvSpPr/>
          <p:nvPr/>
        </p:nvSpPr>
        <p:spPr>
          <a:xfrm>
            <a:off x="3337560" y="1371600"/>
            <a:ext cx="2697480" cy="320040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29000" y="1463040"/>
            <a:ext cx="2514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096FF"/>
                </a:solidFill>
              </a:defRPr>
            </a:pPr>
            <a:r>
              <a:t>UNDERSTAND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29000" y="1920240"/>
            <a:ext cx="2514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</a:defRPr>
            </a:pPr>
            <a:r>
              <a:t>Make sense of</a:t>
            </a:r>
            <a:br/>
            <a:r>
              <a:t>new situations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29000" y="3017520"/>
            <a:ext cx="2514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C8C8D2"/>
                </a:solidFill>
              </a:defRPr>
            </a:pPr>
            <a:r>
              <a:t>See dark clouds</a:t>
            </a:r>
            <a:br/>
            <a:r>
              <a:t>-&gt; know rain coming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371600"/>
            <a:ext cx="2697480" cy="320040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59" y="1463040"/>
            <a:ext cx="2514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A500"/>
                </a:solidFill>
              </a:defRPr>
            </a:pPr>
            <a:r>
              <a:t>DECIDE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59" y="1920240"/>
            <a:ext cx="2514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</a:defRPr>
            </a:pPr>
            <a:r>
              <a:t>Choose the</a:t>
            </a:r>
            <a:br/>
            <a:r>
              <a:t>best action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59" y="3017520"/>
            <a:ext cx="2514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C8C8D2"/>
                </a:solidFill>
              </a:defRPr>
            </a:pPr>
            <a:r>
              <a:t>Rain coming?</a:t>
            </a:r>
            <a:br/>
            <a:r>
              <a:t>-&gt; carry umbrella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098280" y="1371600"/>
            <a:ext cx="2697480" cy="320040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89719" y="1463040"/>
            <a:ext cx="2514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B464FF"/>
                </a:solidFill>
              </a:defRPr>
            </a:pPr>
            <a:r>
              <a:t>ADAPT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89719" y="1920240"/>
            <a:ext cx="2514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</a:defRPr>
            </a:pPr>
            <a:r>
              <a:t>Change behavior</a:t>
            </a:r>
            <a:br/>
            <a:r>
              <a:t>when things change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89719" y="3017520"/>
            <a:ext cx="2514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C8C8D2"/>
                </a:solidFill>
              </a:defRPr>
            </a:pPr>
            <a:r>
              <a:t>Route flooded?</a:t>
            </a:r>
            <a:br/>
            <a:r>
              <a:t>-&gt; take another road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846320"/>
            <a:ext cx="5303520" cy="109728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493776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DC32"/>
                </a:solidFill>
              </a:defRPr>
            </a:pPr>
            <a:r>
              <a:t>Dark Clouds: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25780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2"/>
                </a:solidFill>
              </a:defRPr>
            </a:pPr>
            <a:r>
              <a:t>See clouds -&gt; remember rain -&gt; walk faster -&gt; umbrella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17920" y="4846320"/>
            <a:ext cx="5303520" cy="109728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493776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DC32"/>
                </a:solidFill>
              </a:defRPr>
            </a:pPr>
            <a:r>
              <a:t>Video Game: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525780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2"/>
                </a:solidFill>
              </a:defRPr>
            </a:pPr>
            <a:r>
              <a:t>First play = terrible. Learn patterns -&gt; adapt -&gt; get better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0096FF"/>
                </a:solidFill>
              </a:defRPr>
            </a:pPr>
            <a:r>
              <a:t>02. What is Artificial Intelligence?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88720"/>
            <a:ext cx="5303520" cy="228600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0C864"/>
                </a:solidFill>
              </a:defRPr>
            </a:pPr>
            <a:r>
              <a:t>HUMAN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4937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8C8D2"/>
                </a:solidFill>
              </a:defRPr>
            </a:pPr>
            <a:r>
              <a:t>Brain learns from experience</a:t>
            </a:r>
            <a:br/>
            <a:r>
              <a:t>Understands context &amp; emotions</a:t>
            </a:r>
            <a:br/>
            <a:r>
              <a:t>Makes decisions, adapts</a:t>
            </a:r>
            <a:br/>
            <a:r>
              <a:t>Can do ANYTHING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0" y="1188720"/>
            <a:ext cx="5303520" cy="228600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0" y="128016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096FF"/>
                </a:solidFill>
              </a:defRPr>
            </a:pPr>
            <a:r>
              <a:t>ARTIFICIAL INTELLIGENCE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1737360"/>
            <a:ext cx="4937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8C8D2"/>
                </a:solidFill>
              </a:defRPr>
            </a:pPr>
            <a:r>
              <a:t>Software learns from data</a:t>
            </a:r>
            <a:br/>
            <a:r>
              <a:t>Finds patterns in numbers</a:t>
            </a:r>
            <a:br/>
            <a:r>
              <a:t>Makes predictions, improves</a:t>
            </a:r>
            <a:br/>
            <a:r>
              <a:t>Does ONE thing well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749039"/>
            <a:ext cx="10972800" cy="91440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840480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C864"/>
                </a:solidFill>
              </a:defRPr>
            </a:pPr>
            <a:r>
              <a:t>AI = Brain (Software) — lives in apps, no body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160520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A500"/>
                </a:solidFill>
              </a:defRPr>
            </a:pPr>
            <a:r>
              <a:t>Robot = Body (Hardware) — can have AI brain or be dumb (factory robot = no AI)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937760"/>
            <a:ext cx="10972800" cy="118872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983480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DC32"/>
                </a:solidFill>
              </a:defRPr>
            </a:pPr>
            <a:r>
              <a:t>Instagram Analogy: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30352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2"/>
                </a:solidFill>
              </a:defRPr>
            </a:pPr>
            <a:r>
              <a:t>Observes what you watch -&gt; Learns patterns -&gt; Recommends reels -&gt; Adapts when taste changes = AI!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0096FF"/>
                </a:solidFill>
              </a:defRPr>
            </a:pPr>
            <a:r>
              <a:t>03. Types of AI — 3 Levels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3611880" cy="530352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3429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C864"/>
                </a:solidFill>
              </a:defRPr>
            </a:pPr>
            <a:r>
              <a:t>NARROW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DC32"/>
                </a:solidFill>
              </a:defRPr>
            </a:pPr>
            <a:r>
              <a:t>EXISTS TODAY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28800"/>
            <a:ext cx="3429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8C8D2"/>
                </a:solidFill>
              </a:defRPr>
            </a:pPr>
            <a:r>
              <a:t>Does ONE thing really well</a:t>
            </a:r>
            <a:br/>
            <a:r>
              <a:t>but useless at everything else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017520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</a:defRPr>
            </a:pPr>
            <a:r>
              <a:t>Examples: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291840"/>
            <a:ext cx="34290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8C8D2"/>
                </a:solidFill>
              </a:defRPr>
            </a:pPr>
            <a:r>
              <a:t>Google Maps, Spam filter</a:t>
            </a:r>
            <a:br/>
            <a:r>
              <a:t>YouTube, ChatGPT, Siri</a:t>
            </a:r>
            <a:br/>
            <a:br/>
            <a:r>
              <a:t>Even ChatGPT = Narrow!</a:t>
            </a:r>
            <a:br/>
            <a:r>
              <a:t>Amazing at text but can't</a:t>
            </a:r>
            <a:br/>
            <a:r>
              <a:t>cook, drive, or feel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663440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DC32"/>
                </a:solidFill>
              </a:defRPr>
            </a:pPr>
            <a:r>
              <a:t>Student Analogy: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937760"/>
            <a:ext cx="3429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8C8D2"/>
                </a:solidFill>
              </a:defRPr>
            </a:pPr>
            <a:r>
              <a:t>Genius at math</a:t>
            </a:r>
            <a:br/>
            <a:r>
              <a:t>but can't boil an egg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51960" y="1005840"/>
            <a:ext cx="3611880" cy="530352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43400" y="1051560"/>
            <a:ext cx="3429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A500"/>
                </a:solidFill>
              </a:defRPr>
            </a:pPr>
            <a:r>
              <a:t>GENERAL AI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3400" y="1463040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5050"/>
                </a:solidFill>
              </a:defRPr>
            </a:pPr>
            <a:r>
              <a:t>NOT YET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43400" y="1828800"/>
            <a:ext cx="3429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8C8D2"/>
                </a:solidFill>
              </a:defRPr>
            </a:pPr>
            <a:r>
              <a:t>Can do ANYTHING a human</a:t>
            </a:r>
            <a:br/>
            <a:r>
              <a:t>Learn any subject, reason</a:t>
            </a:r>
            <a:br/>
            <a:r>
              <a:t>across domains, switch tasks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43400" y="3017520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</a:defRPr>
            </a:pPr>
            <a:r>
              <a:t>Examples: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43400" y="3291840"/>
            <a:ext cx="34290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8C8D2"/>
                </a:solidFill>
              </a:defRPr>
            </a:pPr>
            <a:r>
              <a:t>Would cook AND code</a:t>
            </a:r>
            <a:br/>
            <a:r>
              <a:t>AND drive AND converse</a:t>
            </a:r>
            <a:br/>
            <a:r>
              <a:t>AND learn new skills</a:t>
            </a:r>
            <a:br/>
            <a:br/>
            <a:r>
              <a:t>Alexa many things?</a:t>
            </a:r>
            <a:br/>
            <a:r>
              <a:t>= many narrow bundled</a:t>
            </a:r>
            <a:br/>
            <a:r>
              <a:t>NOT General AI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43400" y="4663440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DC32"/>
                </a:solidFill>
              </a:defRPr>
            </a:pPr>
            <a:r>
              <a:t>Student Analogy: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43400" y="4937760"/>
            <a:ext cx="3429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8C8D2"/>
                </a:solidFill>
              </a:defRPr>
            </a:pPr>
            <a:r>
              <a:t>Straight-A student</a:t>
            </a:r>
            <a:br/>
            <a:r>
              <a:t>+ sports + art + cooking</a:t>
            </a:r>
            <a:br/>
            <a:r>
              <a:t>+ social skills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46720" y="1005840"/>
            <a:ext cx="3611880" cy="530352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38160" y="1051560"/>
            <a:ext cx="3429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5050"/>
                </a:solidFill>
              </a:defRPr>
            </a:pPr>
            <a:r>
              <a:t>SUPER AI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0" y="1463040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5050"/>
                </a:solidFill>
              </a:defRPr>
            </a:pPr>
            <a:r>
              <a:t>SCIENCE FICTION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8160" y="1828800"/>
            <a:ext cx="3429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8C8D2"/>
                </a:solidFill>
              </a:defRPr>
            </a:pPr>
            <a:r>
              <a:t>Smarter than ALL humans</a:t>
            </a:r>
            <a:br/>
            <a:r>
              <a:t>COMBINED at EVERYTHING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8160" y="3017520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</a:defRPr>
            </a:pPr>
            <a:r>
              <a:t>Examples: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38160" y="3291840"/>
            <a:ext cx="34290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8C8D2"/>
                </a:solidFill>
              </a:defRPr>
            </a:pPr>
            <a:r>
              <a:t>Ultron (Avengers)</a:t>
            </a:r>
            <a:br/>
            <a:r>
              <a:t>Skynet (Terminator)</a:t>
            </a:r>
            <a:br/>
            <a:r>
              <a:t>HAL 9000 (2001)</a:t>
            </a:r>
            <a:br/>
            <a:br/>
            <a:r>
              <a:t>May never happen</a:t>
            </a:r>
            <a:br/>
            <a:r>
              <a:t>Not our concern now</a:t>
            </a:r>
            <a:br/>
            <a:r>
              <a:t>Focus on Narrow AI!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38160" y="4663440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DC32"/>
                </a:solidFill>
              </a:defRPr>
            </a:pPr>
            <a:r>
              <a:t>Student Analogy: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38160" y="4937760"/>
            <a:ext cx="3429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8C8D2"/>
                </a:solidFill>
              </a:defRPr>
            </a:pPr>
            <a:r>
              <a:t>Smarter than every</a:t>
            </a:r>
            <a:br/>
            <a:r>
              <a:t>human on Earth</a:t>
            </a:r>
            <a:br/>
            <a:r>
              <a:t>combined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96FF"/>
                </a:solidFill>
              </a:defRPr>
            </a:pPr>
            <a:r>
              <a:t>04. Traditional Programming vs ML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5303520" cy="274320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5050"/>
                </a:solidFill>
              </a:defRPr>
            </a:pPr>
            <a:r>
              <a:t>TRADITIONAL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RULES + DATA --&gt; ANSWERS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94560"/>
            <a:ext cx="4937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2"/>
                </a:solidFill>
              </a:defRPr>
            </a:pPr>
            <a:r>
              <a:t>Human writes ALL rules</a:t>
            </a:r>
            <a:br/>
            <a:br/>
            <a:r>
              <a:t>Spam: IF "free money" -&gt; SPAM</a:t>
            </a:r>
            <a:br/>
            <a:r>
              <a:t>Problem: "Fr33 m0ney" bypasses!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1097280"/>
            <a:ext cx="5303520" cy="274320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118872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0C864"/>
                </a:solidFill>
              </a:defRPr>
            </a:pPr>
            <a:r>
              <a:t>MACHINE LEARNING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164592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DATA + ANSWERS --&gt; RULES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194560"/>
            <a:ext cx="4937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2"/>
                </a:solidFill>
              </a:defRPr>
            </a:pPr>
            <a:r>
              <a:t>Computer learns rules BY ITSELF</a:t>
            </a:r>
            <a:br/>
            <a:br/>
            <a:r>
              <a:t>Show 10K labeled emails</a:t>
            </a:r>
            <a:br/>
            <a:r>
              <a:t>ML catches NEW tricks automatically!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4114800"/>
            <a:ext cx="10972800" cy="201168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4160520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DC32"/>
                </a:solidFill>
              </a:defRPr>
            </a:pPr>
            <a:r>
              <a:t>Face Recognition — Why ML wins: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48056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2"/>
                </a:solidFill>
              </a:defRPr>
            </a:pPr>
            <a:r>
              <a:t>Traditional:</a:t>
            </a:r>
            <a:br/>
            <a:r>
              <a:t>IF nose=2.3cm AND eyes=blue -&gt; John</a:t>
            </a:r>
            <a:br/>
            <a:r>
              <a:t>IMPOSSIBLE for 7 billion faces!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0" y="448056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2"/>
                </a:solidFill>
              </a:defRPr>
            </a:pPr>
            <a:r>
              <a:t>ML:</a:t>
            </a:r>
            <a:br/>
            <a:r>
              <a:t>Show 1000 photos labeled "John"</a:t>
            </a:r>
            <a:br/>
            <a:r>
              <a:t>ML figures out differences BY ITSELF</a:t>
            </a:r>
            <a:br/>
            <a:r>
              <a:t>Works even with glasses/new haircut!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96FF"/>
                </a:solidFill>
              </a:defRPr>
            </a:pPr>
            <a:r>
              <a:t>05. AI Hierarchy + Deep Learning Layers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10972800" cy="5029200"/>
          </a:xfrm>
          <a:prstGeom prst="rect">
            <a:avLst/>
          </a:prstGeom>
          <a:solidFill>
            <a:srgbClr val="283246"/>
          </a:solidFill>
          <a:ln w="25400">
            <a:solidFill>
              <a:srgbClr val="009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96FF"/>
                </a:solidFill>
              </a:defRPr>
            </a:pPr>
            <a:r>
              <a:t>AI — Any smart machine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1188720" y="1645920"/>
            <a:ext cx="9784080" cy="4114800"/>
          </a:xfrm>
          <a:prstGeom prst="rect">
            <a:avLst/>
          </a:prstGeom>
          <a:solidFill>
            <a:srgbClr val="283C32"/>
          </a:solidFill>
          <a:ln w="25400">
            <a:solidFill>
              <a:srgbClr val="00C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73736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C864"/>
                </a:solidFill>
              </a:defRPr>
            </a:pPr>
            <a:r>
              <a:t>ML — Learns from data (3 types: Supervised, Unsupervised, RL)</a:t>
            </a:r>
          </a:p>
        </p:txBody>
      </p:sp>
      <p:sp>
        <p:nvSpPr>
          <p:cNvPr id="7" name="Rectangle 6"/>
          <p:cNvSpPr/>
          <p:nvPr/>
        </p:nvSpPr>
        <p:spPr>
          <a:xfrm>
            <a:off x="1920240" y="2286000"/>
            <a:ext cx="8595360" cy="3200400"/>
          </a:xfrm>
          <a:prstGeom prst="rect">
            <a:avLst/>
          </a:prstGeom>
          <a:solidFill>
            <a:srgbClr val="3C283C"/>
          </a:solidFill>
          <a:ln w="25400">
            <a:solidFill>
              <a:srgbClr val="B46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103120" y="23774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B464FF"/>
                </a:solidFill>
              </a:defRPr>
            </a:pPr>
            <a:r>
              <a:t>Deep Learning — Neural nets with many layers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0" y="2926080"/>
            <a:ext cx="7132320" cy="2286000"/>
          </a:xfrm>
          <a:prstGeom prst="rect">
            <a:avLst/>
          </a:prstGeom>
          <a:solidFill>
            <a:srgbClr val="463228"/>
          </a:solidFill>
          <a:ln w="25400">
            <a:solidFill>
              <a:srgbClr val="FFA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80" y="3017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A500"/>
                </a:solidFill>
              </a:defRPr>
            </a:pPr>
            <a:r>
              <a:t>LLMs — DL for language (ChatGPT, Claude)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3474720"/>
            <a:ext cx="6766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DC32"/>
                </a:solidFill>
              </a:defRPr>
            </a:pPr>
            <a:r>
              <a:t>Detective Team — How layers find a face: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0" y="3840480"/>
            <a:ext cx="1554480" cy="1188720"/>
          </a:xfrm>
          <a:prstGeom prst="rect">
            <a:avLst/>
          </a:prstGeom>
          <a:solidFill>
            <a:srgbClr val="323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46120" y="3886200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00C864"/>
                </a:solidFill>
              </a:defRPr>
            </a:pPr>
            <a:r>
              <a:t>Layer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46120" y="4160520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C8C8D2"/>
                </a:solidFill>
              </a:defRPr>
            </a:pPr>
            <a:r>
              <a:t>Edges &amp; lines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4206240"/>
            <a:ext cx="137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DC32"/>
                </a:solidFill>
              </a:defRPr>
            </a:pPr>
            <a:r>
              <a:t>&gt;&gt;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892040" y="3840480"/>
            <a:ext cx="1554480" cy="1188720"/>
          </a:xfrm>
          <a:prstGeom prst="rect">
            <a:avLst/>
          </a:prstGeom>
          <a:solidFill>
            <a:srgbClr val="323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37759" y="3886200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0096FF"/>
                </a:solidFill>
              </a:defRPr>
            </a:pPr>
            <a:r>
              <a:t>Layer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37759" y="4160520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C8C8D2"/>
                </a:solidFill>
              </a:defRPr>
            </a:pPr>
            <a:r>
              <a:t>Shapes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4206240"/>
            <a:ext cx="137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DC32"/>
                </a:solidFill>
              </a:defRPr>
            </a:pPr>
            <a:r>
              <a:t>&gt;&gt;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0" y="3840480"/>
            <a:ext cx="1554480" cy="1188720"/>
          </a:xfrm>
          <a:prstGeom prst="rect">
            <a:avLst/>
          </a:prstGeom>
          <a:solidFill>
            <a:srgbClr val="323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29400" y="3886200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A500"/>
                </a:solidFill>
              </a:defRPr>
            </a:pPr>
            <a:r>
              <a:t>Layer 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29400" y="4160520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C8C8D2"/>
                </a:solidFill>
              </a:defRPr>
            </a:pPr>
            <a:r>
              <a:t>Face parts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8160" y="4206240"/>
            <a:ext cx="137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DC32"/>
                </a:solidFill>
              </a:defRPr>
            </a:pPr>
            <a:r>
              <a:t>&gt;&gt;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75320" y="3840480"/>
            <a:ext cx="1554480" cy="1188720"/>
          </a:xfrm>
          <a:prstGeom prst="rect">
            <a:avLst/>
          </a:prstGeom>
          <a:solidFill>
            <a:srgbClr val="323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21040" y="3886200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5050"/>
                </a:solidFill>
              </a:defRPr>
            </a:pPr>
            <a:r>
              <a:t>Layer 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21040" y="4160520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C8C8D2"/>
                </a:solidFill>
              </a:defRPr>
            </a:pPr>
            <a:r>
              <a:t>"That's Rahul!"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00C864"/>
                </a:solidFill>
              </a:defRPr>
            </a:pPr>
            <a:r>
              <a:t>Section 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FFFFFF"/>
                </a:solidFill>
              </a:defRPr>
            </a:pPr>
            <a:r>
              <a:t>Types of Machine Learning</a:t>
            </a:r>
            <a:br/>
            <a:r>
              <a:t>— 3 Approaches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5720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8C8D2"/>
                </a:solidFill>
              </a:defRPr>
            </a:pPr>
            <a:r>
              <a:t>Topics 6-8: How machines learn</a:t>
            </a:r>
            <a:br/>
            <a:r>
              <a:t>Supervised (with labels) | Unsupervised (no labels) | Reinforcement (trial &amp; error)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C864"/>
                </a:solidFill>
              </a:defRPr>
            </a:pPr>
            <a:r>
              <a:t>06. Supervised Learning — WITH a Teacher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C8C8D2"/>
                </a:solidFill>
              </a:defRPr>
            </a:pPr>
            <a:r>
              <a:t>DATA + CORRECT ANSWERS (labels) -&gt; Model learns pattern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5486400" cy="256032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C864"/>
                </a:solidFill>
              </a:defRPr>
            </a:pPr>
            <a:r>
              <a:t>CLASSIFICATION = Answer is a WORD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51206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2"/>
                </a:solidFill>
              </a:defRPr>
            </a:pPr>
            <a:r>
              <a:t>Email -&gt; Spam or Not Spam?</a:t>
            </a:r>
            <a:br/>
            <a:r>
              <a:t>Photo -&gt; Cat or Dog?</a:t>
            </a:r>
            <a:br/>
            <a:r>
              <a:t>Patient -&gt; Diabetes Yes/No?</a:t>
            </a:r>
            <a:br/>
            <a:br/>
            <a:r>
              <a:t>New Teacher Analogy:</a:t>
            </a:r>
            <a:br/>
            <a:r>
              <a:t>Class photo WITH names -&gt; study</a:t>
            </a:r>
            <a:br/>
            <a:r>
              <a:t>-&gt; later identify WITHOUT names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1371600"/>
            <a:ext cx="5303520" cy="256032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146304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A500"/>
                </a:solidFill>
              </a:defRPr>
            </a:pPr>
            <a:r>
              <a:t>REGRESSION = Answer is a NUMBER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1920240"/>
            <a:ext cx="49377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2"/>
                </a:solidFill>
              </a:defRPr>
            </a:pPr>
            <a:r>
              <a:t>House -&gt; Rs 72 lakhs</a:t>
            </a:r>
            <a:br/>
            <a:r>
              <a:t>Temperature -&gt; 33.5 deg C</a:t>
            </a:r>
            <a:br/>
            <a:r>
              <a:t>Marks -&gt; 87/100</a:t>
            </a:r>
            <a:br/>
            <a:br/>
            <a:r>
              <a:t>Mango Shopkeeper:</a:t>
            </a:r>
            <a:br/>
            <a:r>
              <a:t>Sees size, color, smell</a:t>
            </a:r>
            <a:br/>
            <a:r>
              <a:t>-&gt; predicts exact price (NUMBER)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206240"/>
            <a:ext cx="10972800" cy="210312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4251960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DC32"/>
                </a:solidFill>
              </a:defRPr>
            </a:pPr>
            <a:r>
              <a:t>Hospital Example — Diabetes Prediction: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57200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2"/>
                </a:solidFill>
              </a:defRPr>
            </a:pPr>
            <a:r>
              <a:t>Features (inputs):</a:t>
            </a:r>
            <a:br/>
            <a:r>
              <a:t>Age: 52, Weight: 85kg</a:t>
            </a:r>
            <a:br/>
            <a:r>
              <a:t>BP: 140, Sugar: 210</a:t>
            </a:r>
            <a:br/>
            <a:r>
              <a:t>Family History: Yes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457200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2"/>
                </a:solidFill>
              </a:defRPr>
            </a:pPr>
            <a:r>
              <a:t>Label (answer): "YES — has diabetes"</a:t>
            </a:r>
            <a:br/>
            <a:br/>
            <a:r>
              <a:t>"Will patient have diabetes?" -&gt; Yes/No</a:t>
            </a:r>
            <a:br/>
            <a:r>
              <a:t>= WORD = Classification!</a:t>
            </a:r>
            <a:br/>
            <a:br/>
            <a:r>
              <a:t>"What will sugar be?" -&gt; 195 mg/dL</a:t>
            </a:r>
            <a:br/>
            <a:r>
              <a:t>= NUMBER = Regression!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0C864"/>
                </a:solidFill>
              </a:defRPr>
            </a:pPr>
            <a:r>
              <a:t>06a. Classification Models (Answer = WORD)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85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8C8D2"/>
                </a:solidFill>
              </a:defRPr>
            </a:pPr>
            <a:r>
              <a:t>Each model solves a different type of problem. Start simple, go complex only if needed.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051560"/>
            <a:ext cx="3703320" cy="265176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3520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0C864"/>
                </a:solidFill>
              </a:defRPr>
            </a:pPr>
            <a:r>
              <a:t>Logistic</a:t>
            </a:r>
            <a:br/>
            <a:r>
              <a:t>Regression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508760"/>
            <a:ext cx="1691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8C8D2"/>
                </a:solidFill>
              </a:defRPr>
            </a:pPr>
            <a:r>
              <a:t>Draws LINE between</a:t>
            </a:r>
            <a:br/>
            <a:r>
              <a:t>2 groups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48839" y="1508760"/>
            <a:ext cx="1737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</a:defRPr>
            </a:pPr>
            <a:r>
              <a:t>5K emails -&gt; Spam/Not</a:t>
            </a:r>
            <a:br/>
            <a:r>
              <a:t>Small data, explainable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743200"/>
            <a:ext cx="3520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DC32"/>
                </a:solidFill>
              </a:defRPr>
            </a:pPr>
            <a:r>
              <a:t>When: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971800"/>
            <a:ext cx="3520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8C8D2"/>
                </a:solidFill>
              </a:defRPr>
            </a:pPr>
            <a:r>
              <a:t>Small data, 2 categories</a:t>
            </a:r>
            <a:br/>
            <a:r>
              <a:t>Fast &amp; explainable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60520" y="1051560"/>
            <a:ext cx="3703320" cy="265176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51959" y="1097280"/>
            <a:ext cx="3520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096FF"/>
                </a:solidFill>
              </a:defRPr>
            </a:pPr>
            <a:r>
              <a:t>Decision</a:t>
            </a:r>
            <a:br/>
            <a:r>
              <a:t>Tree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51959" y="1508760"/>
            <a:ext cx="1691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8C8D2"/>
                </a:solidFill>
              </a:defRPr>
            </a:pPr>
            <a:r>
              <a:t>YES/NO flowchart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1508760"/>
            <a:ext cx="1737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</a:defRPr>
            </a:pPr>
            <a:r>
              <a:t>Bank Loan:</a:t>
            </a:r>
            <a:br/>
            <a:r>
              <a:t>Income&gt;50K? Credit&gt;700?</a:t>
            </a:r>
            <a:br/>
            <a:r>
              <a:t>-&gt; APPROVE!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51959" y="2743200"/>
            <a:ext cx="3520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DC32"/>
                </a:solidFill>
              </a:defRPr>
            </a:pPr>
            <a:r>
              <a:t>When: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59" y="2971800"/>
            <a:ext cx="3520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8C8D2"/>
                </a:solidFill>
              </a:defRPr>
            </a:pPr>
            <a:r>
              <a:t>Need to EXPLAIN why</a:t>
            </a:r>
            <a:br/>
            <a:r>
              <a:t>(banks, hospitals)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46720" y="1051560"/>
            <a:ext cx="3703320" cy="265176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8160" y="1097280"/>
            <a:ext cx="3520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A500"/>
                </a:solidFill>
              </a:defRPr>
            </a:pPr>
            <a:r>
              <a:t>Random</a:t>
            </a:r>
            <a:br/>
            <a:r>
              <a:t>Forest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8160" y="1508760"/>
            <a:ext cx="1691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8C8D2"/>
                </a:solidFill>
              </a:defRPr>
            </a:pPr>
            <a:r>
              <a:t>100+ trees VOTE</a:t>
            </a:r>
            <a:br/>
            <a:r>
              <a:t>Majority wins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921240" y="1508760"/>
            <a:ext cx="1737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</a:defRPr>
            </a:pPr>
            <a:r>
              <a:t>Disease Diagnosis:</a:t>
            </a:r>
            <a:br/>
            <a:r>
              <a:t>73 say Dengue, 18 Malaria</a:t>
            </a:r>
            <a:br/>
            <a:r>
              <a:t>-&gt; Answer: Dengue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60" y="2743200"/>
            <a:ext cx="3520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DC32"/>
                </a:solidFill>
              </a:defRPr>
            </a:pPr>
            <a:r>
              <a:t>When: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0" y="2971800"/>
            <a:ext cx="3520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8C8D2"/>
                </a:solidFill>
              </a:defRPr>
            </a:pPr>
            <a:r>
              <a:t>Best accuracy</a:t>
            </a:r>
            <a:br/>
            <a:r>
              <a:t>100 doctors &gt; 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3886200"/>
            <a:ext cx="3703320" cy="265176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" y="3931920"/>
            <a:ext cx="3520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B464FF"/>
                </a:solidFill>
              </a:defRPr>
            </a:pPr>
            <a:r>
              <a:t>SVM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4343400"/>
            <a:ext cx="1691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8C8D2"/>
                </a:solidFill>
              </a:defRPr>
            </a:pPr>
            <a:r>
              <a:t>WIDEST gap between</a:t>
            </a:r>
            <a:br/>
            <a:r>
              <a:t>2 groups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48839" y="4343400"/>
            <a:ext cx="1737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</a:defRPr>
            </a:pPr>
            <a:r>
              <a:t>Handwriting:</a:t>
            </a:r>
            <a:br/>
            <a:r>
              <a:t>Is this A or B?</a:t>
            </a:r>
            <a:br/>
            <a:r>
              <a:t>Strongest boundary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5577840"/>
            <a:ext cx="3520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DC32"/>
                </a:solidFill>
              </a:defRPr>
            </a:pPr>
            <a:r>
              <a:t>When: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5806440"/>
            <a:ext cx="3520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8C8D2"/>
                </a:solidFill>
              </a:defRPr>
            </a:pPr>
            <a:r>
              <a:t>Clear separation</a:t>
            </a:r>
            <a:br/>
            <a:r>
              <a:t>Medium data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60520" y="3886200"/>
            <a:ext cx="3703320" cy="265176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51959" y="3931920"/>
            <a:ext cx="3520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0B4B4"/>
                </a:solidFill>
              </a:defRPr>
            </a:pPr>
            <a:r>
              <a:t>KNN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51959" y="4343400"/>
            <a:ext cx="1691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8C8D2"/>
                </a:solidFill>
              </a:defRPr>
            </a:pPr>
            <a:r>
              <a:t>K NEAREST neighbors</a:t>
            </a:r>
            <a:br/>
            <a:r>
              <a:t>Majority wins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35040" y="4343400"/>
            <a:ext cx="1737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</a:defRPr>
            </a:pPr>
            <a:r>
              <a:t>House: 5 nearest</a:t>
            </a:r>
            <a:br/>
            <a:r>
              <a:t>3 expensive -&gt; yours</a:t>
            </a:r>
            <a:br/>
            <a:r>
              <a:t>= Expensive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51959" y="5577840"/>
            <a:ext cx="3520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DC32"/>
                </a:solidFill>
              </a:defRPr>
            </a:pPr>
            <a:r>
              <a:t>When: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51959" y="5806440"/>
            <a:ext cx="3520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8C8D2"/>
                </a:solidFill>
              </a:defRPr>
            </a:pPr>
            <a:r>
              <a:t>Small data, simple</a:t>
            </a:r>
            <a:br/>
            <a:r>
              <a:t>'You are your neighbors'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046720" y="3886200"/>
            <a:ext cx="3703320" cy="265176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138160" y="3931920"/>
            <a:ext cx="3520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5050"/>
                </a:solidFill>
              </a:defRPr>
            </a:pPr>
            <a:r>
              <a:t>CNN</a:t>
            </a:r>
            <a:br/>
            <a:r>
              <a:t>(Deep Learning)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38160" y="4343400"/>
            <a:ext cx="1691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8C8D2"/>
                </a:solidFill>
              </a:defRPr>
            </a:pPr>
            <a:r>
              <a:t>LAYERS find visual</a:t>
            </a:r>
            <a:br/>
            <a:r>
              <a:t>patterns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921240" y="4343400"/>
            <a:ext cx="1737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</a:defRPr>
            </a:pPr>
            <a:r>
              <a:t>ExamGuard:</a:t>
            </a:r>
            <a:br/>
            <a:r>
              <a:t>Frame -&gt; edges -&gt; shapes</a:t>
            </a:r>
            <a:br/>
            <a:r>
              <a:t>-&gt; 'CHEATING!'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38160" y="5577840"/>
            <a:ext cx="3520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DC32"/>
                </a:solidFill>
              </a:defRPr>
            </a:pPr>
            <a:r>
              <a:t>When: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138160" y="5806440"/>
            <a:ext cx="3520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8C8D2"/>
                </a:solidFill>
              </a:defRPr>
            </a:pPr>
            <a:r>
              <a:t>Images / Video</a:t>
            </a:r>
            <a:br/>
            <a:r>
              <a:t>ONLY option!</a:t>
            </a:r>
            <a:br/>
            <a:r>
              <a:t>Use Transfer Learning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A500"/>
                </a:solidFill>
              </a:defRPr>
            </a:pPr>
            <a:r>
              <a:t>06b. Regression Models (Answer = NUMBER)</a:t>
            </a:r>
          </a:p>
        </p:txBody>
      </p:sp>
      <p:sp>
        <p:nvSpPr>
          <p:cNvPr id="3" name="Rectangle 2"/>
          <p:cNvSpPr/>
          <p:nvPr/>
        </p:nvSpPr>
        <p:spPr>
          <a:xfrm>
            <a:off x="274320" y="914400"/>
            <a:ext cx="3703320" cy="502920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60120"/>
            <a:ext cx="3520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00C864"/>
                </a:solidFill>
              </a:defRPr>
            </a:pPr>
            <a:r>
              <a:t>Linear</a:t>
            </a:r>
            <a:br/>
            <a:r>
              <a:t>Regression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463040"/>
            <a:ext cx="3520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</a:defRPr>
            </a:pPr>
            <a:r>
              <a:t>Best STRAIGHT 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011680"/>
            <a:ext cx="3520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DC32"/>
                </a:solidFill>
              </a:defRPr>
            </a:pPr>
            <a:r>
              <a:t>Real Example: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286000"/>
            <a:ext cx="3520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8C8D2"/>
                </a:solidFill>
              </a:defRPr>
            </a:pPr>
            <a:r>
              <a:t>House Price:</a:t>
            </a:r>
            <a:br/>
            <a:r>
              <a:t>1000sqft=50L, 1500=75L</a:t>
            </a:r>
            <a:br/>
            <a:r>
              <a:t>New: 1400 -&gt; follow line</a:t>
            </a:r>
            <a:br/>
            <a:r>
              <a:t>-&gt; Rs 70 lakhs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4114800"/>
            <a:ext cx="3520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DC32"/>
                </a:solidFill>
              </a:defRPr>
            </a:pPr>
            <a:r>
              <a:t>When: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4389120"/>
            <a:ext cx="3520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8C8D2"/>
                </a:solidFill>
              </a:defRPr>
            </a:pPr>
            <a:r>
              <a:t>Simple relationship</a:t>
            </a:r>
            <a:br/>
            <a:r>
              <a:t>Small data, quick first try</a:t>
            </a:r>
            <a:br/>
            <a:r>
              <a:t>Like ruler through dots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60520" y="914400"/>
            <a:ext cx="3703320" cy="502920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51959" y="960120"/>
            <a:ext cx="3520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A500"/>
                </a:solidFill>
              </a:defRPr>
            </a:pPr>
            <a:r>
              <a:t>Polynomial</a:t>
            </a:r>
            <a:br/>
            <a:r>
              <a:t>Regression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51959" y="1463040"/>
            <a:ext cx="3520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</a:defRPr>
            </a:pPr>
            <a:r>
              <a:t>Best CURVED 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51959" y="2011680"/>
            <a:ext cx="3520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DC32"/>
                </a:solidFill>
              </a:defRPr>
            </a:pPr>
            <a:r>
              <a:t>Real Example: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51959" y="2286000"/>
            <a:ext cx="3520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8C8D2"/>
                </a:solidFill>
              </a:defRPr>
            </a:pPr>
            <a:r>
              <a:t>Crop Yield:</a:t>
            </a:r>
            <a:br/>
            <a:r>
              <a:t>Too little fertilizer=low</a:t>
            </a:r>
            <a:br/>
            <a:r>
              <a:t>Right amount=HIGH</a:t>
            </a:r>
            <a:br/>
            <a:r>
              <a:t>Too much=DROPS again!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59" y="4114800"/>
            <a:ext cx="3520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DC32"/>
                </a:solidFill>
              </a:defRPr>
            </a:pPr>
            <a:r>
              <a:t>When: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51959" y="4389120"/>
            <a:ext cx="3520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8C8D2"/>
                </a:solidFill>
              </a:defRPr>
            </a:pPr>
            <a:r>
              <a:t>Clearly curved data</a:t>
            </a:r>
            <a:br/>
            <a:r>
              <a:t>Start Linear first</a:t>
            </a:r>
            <a:br/>
            <a:r>
              <a:t>Polynomial only if needed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46720" y="914400"/>
            <a:ext cx="3703320" cy="502920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38160" y="960120"/>
            <a:ext cx="3520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5050"/>
                </a:solidFill>
              </a:defRPr>
            </a:pPr>
            <a:r>
              <a:t>Neural Network</a:t>
            </a:r>
            <a:br/>
            <a:r>
              <a:t>Regression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0" y="1463040"/>
            <a:ext cx="3520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</a:defRPr>
            </a:pPr>
            <a:r>
              <a:t>MANY LAYERS</a:t>
            </a:r>
            <a:br/>
            <a:r>
              <a:t>complex patterns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60" y="2011680"/>
            <a:ext cx="3520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DC32"/>
                </a:solidFill>
              </a:defRPr>
            </a:pPr>
            <a:r>
              <a:t>Real Example: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0" y="2286000"/>
            <a:ext cx="3520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8C8D2"/>
                </a:solidFill>
              </a:defRPr>
            </a:pPr>
            <a:r>
              <a:t>Stock Price:</a:t>
            </a:r>
            <a:br/>
            <a:r>
              <a:t>50+ features: prices,</a:t>
            </a:r>
            <a:br/>
            <a:r>
              <a:t>volume, news, earnings</a:t>
            </a:r>
            <a:br/>
            <a:r>
              <a:t>Too complex for a line!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8160" y="4114800"/>
            <a:ext cx="3520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DC32"/>
                </a:solidFill>
              </a:defRPr>
            </a:pPr>
            <a:r>
              <a:t>When: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8160" y="4389120"/>
            <a:ext cx="3520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8C8D2"/>
                </a:solidFill>
              </a:defRPr>
            </a:pPr>
            <a:r>
              <a:t>Massive data (100K+)</a:t>
            </a:r>
            <a:br/>
            <a:r>
              <a:t>Many features</a:t>
            </a:r>
            <a:br/>
            <a:r>
              <a:t>Most powerful but needs</a:t>
            </a:r>
            <a:br/>
            <a:r>
              <a:t>lots of data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217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DC32"/>
                </a:solidFill>
              </a:defRPr>
            </a:pPr>
            <a:r>
              <a:t>Start: Linear -&gt; If curved: Polynomial -&gt; If complex: Neural Network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B464FF"/>
                </a:solidFill>
              </a:defRPr>
            </a:pPr>
            <a:r>
              <a:t>07. Unsupervised Learning — WITHOUT a Teacher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C8C8D2"/>
                </a:solidFill>
              </a:defRPr>
            </a:pPr>
            <a:r>
              <a:t>DATA but NO labels. Computer finds patterns ALONE.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5486400" cy="320040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C864"/>
                </a:solidFill>
              </a:defRPr>
            </a:pPr>
            <a:r>
              <a:t>CLUSTERING = Group similar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51206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8C8D2"/>
                </a:solidFill>
              </a:defRPr>
            </a:pPr>
            <a:r>
              <a:t>Mall: 10K customers, no labels</a:t>
            </a:r>
            <a:br/>
            <a:r>
              <a:t>K-Means finds 3 groups:</a:t>
            </a:r>
            <a:br/>
            <a:br/>
            <a:r>
              <a:t>Group 1: Young, daily, low spend</a:t>
            </a:r>
            <a:br/>
            <a:r>
              <a:t>-&gt; "Budget Shoppers"</a:t>
            </a:r>
            <a:br/>
            <a:r>
              <a:t>Group 2: Old, monthly, high spend</a:t>
            </a:r>
            <a:br/>
            <a:r>
              <a:t>-&gt; "Premium Buyers"</a:t>
            </a:r>
            <a:br/>
            <a:r>
              <a:t>Group 3: All ages, only sales</a:t>
            </a:r>
            <a:br/>
            <a:r>
              <a:t>-&gt; "Deal Hunters"</a:t>
            </a:r>
            <a:br/>
            <a:br/>
            <a:r>
              <a:t>Nobody labeled these!</a:t>
            </a:r>
            <a:br/>
            <a:r>
              <a:t>School Photo: sort by similarity</a:t>
            </a:r>
            <a:br/>
            <a:r>
              <a:t>with NO names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1371600"/>
            <a:ext cx="5303520" cy="320040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146304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5050"/>
                </a:solidFill>
              </a:defRPr>
            </a:pPr>
            <a:r>
              <a:t>ANOMALY = Spot the weird one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1920240"/>
            <a:ext cx="49377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8C8D2"/>
                </a:solidFill>
              </a:defRPr>
            </a:pPr>
            <a:r>
              <a:t>Credit Card Fraud:</a:t>
            </a:r>
            <a:br/>
            <a:r>
              <a:t>Normal: Rs 500, local, daytime</a:t>
            </a:r>
            <a:br/>
            <a:r>
              <a:t>Suddenly: Rs 5L, Dubai, 3AM!</a:t>
            </a:r>
            <a:br/>
            <a:r>
              <a:t>-&gt; ANOMALY! Card blocked.</a:t>
            </a:r>
            <a:br/>
            <a:br/>
            <a:r>
              <a:t>Factory: RPM 1000 -&gt; 1500 = failing</a:t>
            </a:r>
            <a:br/>
            <a:r>
              <a:t>Student: 40% -&gt; 100% = suspicious</a:t>
            </a:r>
            <a:br/>
            <a:br/>
            <a:r>
              <a:t>Cluster = who BELONGS together</a:t>
            </a:r>
            <a:br/>
            <a:r>
              <a:t>Anomaly = who DOESN'T belong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846320"/>
            <a:ext cx="10972800" cy="137160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4892040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DC32"/>
                </a:solidFill>
              </a:defRPr>
            </a:pPr>
            <a:r>
              <a:t>Supervised vs Unsupervised: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21208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00C864"/>
                </a:solidFill>
              </a:defRPr>
            </a:pPr>
            <a:r>
              <a:t>Supervised: Has labels</a:t>
            </a:r>
            <a:br/>
            <a:r>
              <a:t>"This email IS spam"</a:t>
            </a:r>
            <a:br/>
            <a:r>
              <a:t>Classification or Regression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521208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464FF"/>
                </a:solidFill>
              </a:defRPr>
            </a:pPr>
            <a:r>
              <a:t>Unsupervised: NO labels</a:t>
            </a:r>
            <a:br/>
            <a:r>
              <a:t>"Here's 10K customers. Find patterns."</a:t>
            </a:r>
            <a:br/>
            <a:r>
              <a:t>Clustering or Anomaly Detection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64FF"/>
                </a:solidFill>
              </a:defRPr>
            </a:pPr>
            <a:r>
              <a:t>07a. Unsupervised Models</a:t>
            </a:r>
          </a:p>
        </p:txBody>
      </p:sp>
      <p:sp>
        <p:nvSpPr>
          <p:cNvPr id="3" name="Rectangle 2"/>
          <p:cNvSpPr/>
          <p:nvPr/>
        </p:nvSpPr>
        <p:spPr>
          <a:xfrm>
            <a:off x="182880" y="822960"/>
            <a:ext cx="2834640" cy="530352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" y="86868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C864"/>
                </a:solidFill>
              </a:defRPr>
            </a:pPr>
            <a:r>
              <a:t>K-Means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" y="123444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FFFFFF"/>
                </a:solidFill>
              </a:defRPr>
            </a:pPr>
            <a:r>
              <a:t>Group into K clusters</a:t>
            </a:r>
            <a:br/>
            <a:r>
              <a:t>(YOU pick how many)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" y="1828800"/>
            <a:ext cx="2743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DC32"/>
                </a:solidFill>
              </a:defRPr>
            </a:pPr>
            <a:r>
              <a:t>Example: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2011680"/>
            <a:ext cx="2743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8C8D2"/>
                </a:solidFill>
              </a:defRPr>
            </a:pPr>
            <a:r>
              <a:t>Mall: 10K customers -&gt; K=3</a:t>
            </a:r>
            <a:br/>
            <a:r>
              <a:t>Budget / Premium / Deal</a:t>
            </a:r>
            <a:br/>
            <a:br/>
            <a:r>
              <a:t>ExamGuard: group behaviors</a:t>
            </a:r>
            <a:br/>
            <a:r>
              <a:t>Normal writers, Lookers</a:t>
            </a:r>
            <a:br/>
            <a:r>
              <a:t>Head scratchers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" y="4389120"/>
            <a:ext cx="2743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DC32"/>
                </a:solidFill>
              </a:defRPr>
            </a:pPr>
            <a:r>
              <a:t>When: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" y="457200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8C8D2"/>
                </a:solidFill>
              </a:defRPr>
            </a:pPr>
            <a:r>
              <a:t>Know approx groups</a:t>
            </a:r>
            <a:br/>
            <a:r>
              <a:t>Data is numeric</a:t>
            </a:r>
            <a:br/>
            <a:r>
              <a:t>Fast results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154680" y="822960"/>
            <a:ext cx="2834640" cy="530352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0" y="86868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96FF"/>
                </a:solidFill>
              </a:defRPr>
            </a:pPr>
            <a:r>
              <a:t>DBSCAN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123444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FFFFFF"/>
                </a:solidFill>
              </a:defRPr>
            </a:pPr>
            <a:r>
              <a:t>Auto-find groups</a:t>
            </a:r>
            <a:br/>
            <a:r>
              <a:t>+ flag OUTLIERS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0" y="1828800"/>
            <a:ext cx="2743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DC32"/>
                </a:solidFill>
              </a:defRPr>
            </a:pPr>
            <a:r>
              <a:t>Example: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011680"/>
            <a:ext cx="2743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8C8D2"/>
                </a:solidFill>
              </a:defRPr>
            </a:pPr>
            <a:r>
              <a:t>200 delivery trucks</a:t>
            </a:r>
            <a:br/>
            <a:r>
              <a:t>4 route clusters found</a:t>
            </a:r>
            <a:br/>
            <a:r>
              <a:t>+ 2 outlier trucks!</a:t>
            </a:r>
            <a:br/>
            <a:br/>
            <a:r>
              <a:t>No K needed</a:t>
            </a:r>
            <a:br/>
            <a:r>
              <a:t>Found everything alone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0" y="4389120"/>
            <a:ext cx="2743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DC32"/>
                </a:solidFill>
              </a:defRPr>
            </a:pPr>
            <a:r>
              <a:t>When: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457200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8C8D2"/>
                </a:solidFill>
              </a:defRPr>
            </a:pPr>
            <a:r>
              <a:t>Don't know group count</a:t>
            </a:r>
            <a:br/>
            <a:r>
              <a:t>Expect noise/outliers</a:t>
            </a:r>
            <a:br/>
            <a:r>
              <a:t>Natural clustering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822960"/>
            <a:ext cx="2834640" cy="530352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72200" y="86868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A500"/>
                </a:solidFill>
              </a:defRPr>
            </a:pPr>
            <a:r>
              <a:t>Isolation</a:t>
            </a:r>
            <a:br/>
            <a:r>
              <a:t>Forest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72200" y="123444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FFFFFF"/>
                </a:solidFill>
              </a:defRPr>
            </a:pPr>
            <a:r>
              <a:t>ISOLATE unusual</a:t>
            </a:r>
            <a:br/>
            <a:r>
              <a:t>fewer Q = more abnormal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72200" y="1828800"/>
            <a:ext cx="2743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DC32"/>
                </a:solidFill>
              </a:defRPr>
            </a:pPr>
            <a:r>
              <a:t>Example: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2200" y="2011680"/>
            <a:ext cx="2743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8C8D2"/>
                </a:solidFill>
              </a:defRPr>
            </a:pPr>
            <a:r>
              <a:t>1M credit card transactions</a:t>
            </a:r>
            <a:br/>
            <a:r>
              <a:t>Rs 5L Dubai 3AM</a:t>
            </a:r>
            <a:br/>
            <a:r>
              <a:t>= isolated in 2 questions!</a:t>
            </a:r>
            <a:br/>
            <a:br/>
            <a:r>
              <a:t>Dinosaur costume at</a:t>
            </a:r>
            <a:br/>
            <a:r>
              <a:t>cricket match = obvious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72200" y="4389120"/>
            <a:ext cx="2743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DC32"/>
                </a:solidFill>
              </a:defRPr>
            </a:pPr>
            <a:r>
              <a:t>When: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72200" y="457200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8C8D2"/>
                </a:solidFill>
              </a:defRPr>
            </a:pPr>
            <a:r>
              <a:t>Find RARE events</a:t>
            </a:r>
            <a:br/>
            <a:r>
              <a:t>Fraud, defects</a:t>
            </a:r>
            <a:br/>
            <a:r>
              <a:t>&lt; 1% is unusual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098280" y="822960"/>
            <a:ext cx="2834640" cy="530352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0" y="86868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B464FF"/>
                </a:solidFill>
              </a:defRPr>
            </a:pPr>
            <a:r>
              <a:t>Autoencoder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0" y="123444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FFFFFF"/>
                </a:solidFill>
              </a:defRPr>
            </a:pPr>
            <a:r>
              <a:t>Learn NORMAL</a:t>
            </a:r>
            <a:br/>
            <a:r>
              <a:t>flag anything different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1828800"/>
            <a:ext cx="2743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DC32"/>
                </a:solidFill>
              </a:defRPr>
            </a:pPr>
            <a:r>
              <a:t>Example: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0" y="2011680"/>
            <a:ext cx="2743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8C8D2"/>
                </a:solidFill>
              </a:defRPr>
            </a:pPr>
            <a:r>
              <a:t>10K good brake pad photos</a:t>
            </a:r>
            <a:br/>
            <a:r>
              <a:t>New defective pad</a:t>
            </a:r>
            <a:br/>
            <a:r>
              <a:t>= can't recreate = FLAG</a:t>
            </a:r>
            <a:br/>
            <a:br/>
            <a:r>
              <a:t>Catches defects</a:t>
            </a:r>
            <a:br/>
            <a:r>
              <a:t>NEVER SEEN before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0" y="4389120"/>
            <a:ext cx="2743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DC32"/>
                </a:solidFill>
              </a:defRPr>
            </a:pPr>
            <a:r>
              <a:t>When: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0" y="457200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8C8D2"/>
                </a:solidFill>
              </a:defRPr>
            </a:pPr>
            <a:r>
              <a:t>Learn normal baseline</a:t>
            </a:r>
            <a:br/>
            <a:r>
              <a:t>Catch ANY deviation</a:t>
            </a:r>
            <a:br/>
            <a:r>
              <a:t>Even unknown anomalies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217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DC32"/>
                </a:solidFill>
              </a:defRPr>
            </a:pPr>
            <a:r>
              <a:t>Know groups? -&gt; K-Means | Don't know? -&gt; DBSCAN | Find rare? -&gt; Isolation Forest | Learn normal? -&gt; Autoencoder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A500"/>
                </a:solidFill>
              </a:defRPr>
            </a:pPr>
            <a:r>
              <a:t>08. Reinforcement Learning — Trial &amp; Error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C8C8D2"/>
                </a:solidFill>
              </a:defRPr>
            </a:pPr>
            <a:r>
              <a:t>We define WHAT success is (reward). Model discovers HOW by trying.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2697480" cy="164592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1732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0C864"/>
                </a:solidFill>
              </a:defRPr>
            </a:pPr>
            <a:r>
              <a:t>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83080"/>
            <a:ext cx="2514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</a:defRPr>
            </a:pPr>
            <a:r>
              <a:t>The learner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0312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C8C8D2"/>
                </a:solidFill>
              </a:defRPr>
            </a:pPr>
            <a:r>
              <a:t>Batsman / You / AI</a:t>
            </a:r>
          </a:p>
        </p:txBody>
      </p:sp>
      <p:sp>
        <p:nvSpPr>
          <p:cNvPr id="8" name="Rectangle 7"/>
          <p:cNvSpPr/>
          <p:nvPr/>
        </p:nvSpPr>
        <p:spPr>
          <a:xfrm>
            <a:off x="3337560" y="1371600"/>
            <a:ext cx="2697480" cy="164592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29000" y="141732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096FF"/>
                </a:solidFill>
              </a:defRPr>
            </a:pPr>
            <a:r>
              <a:t>ENVIRONMENT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29000" y="1783080"/>
            <a:ext cx="2514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</a:defRPr>
            </a:pPr>
            <a:r>
              <a:t>The world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29000" y="210312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C8C8D2"/>
                </a:solidFill>
              </a:defRPr>
            </a:pPr>
            <a:r>
              <a:t>Pitch / Road / YouTube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371600"/>
            <a:ext cx="2697480" cy="164592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59" y="141732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DC32"/>
                </a:solidFill>
              </a:defRPr>
            </a:pPr>
            <a:r>
              <a:t>REWARD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59" y="1783080"/>
            <a:ext cx="2514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</a:defRPr>
            </a:pPr>
            <a:r>
              <a:t>Good! (+pts)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59" y="210312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C8C8D2"/>
                </a:solidFill>
              </a:defRPr>
            </a:pPr>
            <a:r>
              <a:t>Hit four / Balanced / Watch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098280" y="1371600"/>
            <a:ext cx="2697480" cy="164592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89719" y="141732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5050"/>
                </a:solidFill>
              </a:defRPr>
            </a:pPr>
            <a:r>
              <a:t>PENALTY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89719" y="1783080"/>
            <a:ext cx="2514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</a:defRPr>
            </a:pPr>
            <a:r>
              <a:t>Bad! (-pts)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89719" y="210312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C8C8D2"/>
                </a:solidFill>
              </a:defRPr>
            </a:pPr>
            <a:r>
              <a:t>Got out / Fell / Skip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291840"/>
            <a:ext cx="5486400" cy="274320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333756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DC32"/>
                </a:solidFill>
              </a:defRPr>
            </a:pPr>
            <a:r>
              <a:t>Chai Making Analogy: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657600"/>
            <a:ext cx="51206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8C8D2"/>
                </a:solidFill>
              </a:defRPr>
            </a:pPr>
            <a:r>
              <a:t>Mom: "Make chai." Doesn't tell HOW.</a:t>
            </a:r>
            <a:br/>
            <a:br/>
            <a:r>
              <a:t>Attempt 1: Too sweet -&gt; frown (-1)</a:t>
            </a:r>
            <a:br/>
            <a:r>
              <a:t>Attempt 2: Less sugar -&gt; "better" (+1)</a:t>
            </a:r>
            <a:br/>
            <a:r>
              <a:t>Attempt 10: Perfect! -&gt; smile (+10)</a:t>
            </a:r>
            <a:br/>
            <a:br/>
            <a:r>
              <a:t>No recipe given. Learned through</a:t>
            </a:r>
            <a:br/>
            <a:r>
              <a:t>trial + feedback!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0" y="3291840"/>
            <a:ext cx="5303520" cy="274320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0" y="333756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DC32"/>
                </a:solidFill>
              </a:defRPr>
            </a:pPr>
            <a:r>
              <a:t>Exploration vs Exploitation: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0" y="3657600"/>
            <a:ext cx="49377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8C8D2"/>
                </a:solidFill>
              </a:defRPr>
            </a:pPr>
            <a:r>
              <a:t>Exploitation = stick with what works</a:t>
            </a:r>
            <a:br/>
            <a:r>
              <a:t>"Same restaurant, food is good"</a:t>
            </a:r>
            <a:br/>
            <a:br/>
            <a:r>
              <a:t>Exploration = try something NEW</a:t>
            </a:r>
            <a:br/>
            <a:r>
              <a:t>"New restaurant? Might be amazing!"</a:t>
            </a:r>
            <a:br/>
            <a:br/>
            <a:r>
              <a:t>RL must BALANCE both:</a:t>
            </a:r>
            <a:br/>
            <a:r>
              <a:t>Do what works + try new things</a:t>
            </a:r>
            <a:br/>
            <a:br/>
            <a:r>
              <a:t>ExamGuard: Flag stares (works)</a:t>
            </a:r>
            <a:br/>
            <a:r>
              <a:t>but also try flagging hand signals?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A500"/>
                </a:solidFill>
              </a:defRPr>
            </a:pPr>
            <a:r>
              <a:t>08a. RL Real-World Examples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182880" y="822960"/>
            <a:ext cx="2834640" cy="457200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" y="8686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C864"/>
                </a:solidFill>
              </a:defRPr>
            </a:pPr>
            <a:r>
              <a:t>YouTube</a:t>
            </a:r>
            <a:br/>
            <a:r>
              <a:t>Algorithm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" y="1280160"/>
            <a:ext cx="27432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8C8D2"/>
                </a:solidFill>
              </a:defRPr>
            </a:pPr>
            <a:r>
              <a:t>Agent: recommendation algo</a:t>
            </a:r>
            <a:br/>
            <a:r>
              <a:t>Env: YouTube platform</a:t>
            </a:r>
            <a:br/>
            <a:r>
              <a:t>Reward: watch fully, like</a:t>
            </a:r>
            <a:br/>
            <a:r>
              <a:t>Penalty: skip in 5 sec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" y="3474720"/>
            <a:ext cx="2743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DC32"/>
                </a:solidFill>
              </a:defRPr>
            </a:pPr>
            <a:r>
              <a:t>Result: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3657600"/>
            <a:ext cx="2743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</a:defRPr>
            </a:pPr>
            <a:r>
              <a:t>Learns YOUR taste</a:t>
            </a:r>
            <a:br/>
            <a:r>
              <a:t>from billions of</a:t>
            </a:r>
            <a:br/>
            <a:r>
              <a:t>interactions</a:t>
            </a:r>
          </a:p>
        </p:txBody>
      </p:sp>
      <p:sp>
        <p:nvSpPr>
          <p:cNvPr id="8" name="Rectangle 7"/>
          <p:cNvSpPr/>
          <p:nvPr/>
        </p:nvSpPr>
        <p:spPr>
          <a:xfrm>
            <a:off x="3154680" y="822960"/>
            <a:ext cx="2834640" cy="457200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0" y="8686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96FF"/>
                </a:solidFill>
              </a:defRPr>
            </a:pPr>
            <a:r>
              <a:t>Chess AI</a:t>
            </a:r>
            <a:br/>
            <a:r>
              <a:t>(AlphaZero)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1280160"/>
            <a:ext cx="27432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8C8D2"/>
                </a:solidFill>
              </a:defRPr>
            </a:pPr>
            <a:r>
              <a:t>Given rules of legal moves</a:t>
            </a:r>
            <a:br/>
            <a:r>
              <a:t>Played millions vs ITSELF</a:t>
            </a:r>
            <a:br/>
            <a:r>
              <a:t>Reward: win (+1)</a:t>
            </a:r>
            <a:br/>
            <a:r>
              <a:t>Penalty: lose (-1)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3474720"/>
            <a:ext cx="2743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DC32"/>
                </a:solidFill>
              </a:defRPr>
            </a:pPr>
            <a:r>
              <a:t>Result: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3657600"/>
            <a:ext cx="2743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</a:defRPr>
            </a:pPr>
            <a:r>
              <a:t>Beat world champion</a:t>
            </a:r>
            <a:br/>
            <a:r>
              <a:t>in 24 hours!</a:t>
            </a:r>
            <a:br/>
            <a:r>
              <a:t>Discovered strategies</a:t>
            </a:r>
            <a:br/>
            <a:r>
              <a:t>nobody taught 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822960"/>
            <a:ext cx="2834640" cy="457200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72200" y="8686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5050"/>
                </a:solidFill>
              </a:defRPr>
            </a:pPr>
            <a:r>
              <a:t>Self-Driving</a:t>
            </a:r>
            <a:br/>
            <a:r>
              <a:t>Car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1280160"/>
            <a:ext cx="27432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8C8D2"/>
                </a:solidFill>
              </a:defRPr>
            </a:pPr>
            <a:r>
              <a:t>Env: road + cars + people</a:t>
            </a:r>
            <a:br/>
            <a:r>
              <a:t>Reward: safe driving +1</a:t>
            </a:r>
            <a:br/>
            <a:r>
              <a:t>Penalty: crash -1000</a:t>
            </a:r>
            <a:br/>
            <a:r>
              <a:t>human injury -500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72200" y="3474720"/>
            <a:ext cx="2743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DC32"/>
                </a:solidFill>
              </a:defRPr>
            </a:pPr>
            <a:r>
              <a:t>Result: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72200" y="3657600"/>
            <a:ext cx="2743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</a:defRPr>
            </a:pPr>
            <a:r>
              <a:t>0.001 sec reaction</a:t>
            </a:r>
            <a:br/>
            <a:r>
              <a:t>vs human 1-2 sec</a:t>
            </a:r>
            <a:br/>
            <a:r>
              <a:t>PREVENTS emergencies</a:t>
            </a:r>
            <a:br/>
            <a:r>
              <a:t>detects child 5 sec early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98280" y="822960"/>
            <a:ext cx="2834640" cy="457200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0" y="8686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A500"/>
                </a:solidFill>
              </a:defRPr>
            </a:pPr>
            <a:r>
              <a:t>ExamGuard</a:t>
            </a:r>
            <a:br/>
            <a:r>
              <a:t>Alerts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0" y="1280160"/>
            <a:ext cx="27432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8C8D2"/>
                </a:solidFill>
              </a:defRPr>
            </a:pPr>
            <a:r>
              <a:t>Correct alert: +100</a:t>
            </a:r>
            <a:br/>
            <a:r>
              <a:t>Correct silence: +10</a:t>
            </a:r>
            <a:br/>
            <a:r>
              <a:t>False alarm: -50</a:t>
            </a:r>
            <a:br/>
            <a:r>
              <a:t>Missed cheating: -200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0" y="3474720"/>
            <a:ext cx="2743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DC32"/>
                </a:solidFill>
              </a:defRPr>
            </a:pPr>
            <a:r>
              <a:t>Result: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0" y="3657600"/>
            <a:ext cx="2743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</a:defRPr>
            </a:pPr>
            <a:r>
              <a:t>Learns WHEN to flag:</a:t>
            </a:r>
            <a:br/>
            <a:r>
              <a:t>glance 0.5s = ignore</a:t>
            </a:r>
            <a:br/>
            <a:r>
              <a:t>stare 5s + lean = ALERT</a:t>
            </a:r>
            <a:br/>
            <a:r>
              <a:t>stare + cover = HIGH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96FF"/>
                </a:solidFill>
              </a:defRPr>
            </a:pPr>
            <a:r>
              <a:t>3 Types of ML — Side by Side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3611880" cy="502920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3429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C864"/>
                </a:solidFill>
              </a:defRPr>
            </a:pPr>
            <a:r>
              <a:t>SUPERVISED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3429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"WHAT is this?"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20240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DC32"/>
                </a:solidFill>
              </a:defRPr>
            </a:pPr>
            <a:r>
              <a:t>Data: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94560"/>
            <a:ext cx="3429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8C8D2"/>
                </a:solidFill>
              </a:defRPr>
            </a:pPr>
            <a:r>
              <a:t>Data WITH labels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743200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DC32"/>
                </a:solidFill>
              </a:defRPr>
            </a:pPr>
            <a:r>
              <a:t>Examples: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017520"/>
            <a:ext cx="3429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8C8D2"/>
                </a:solidFill>
              </a:defRPr>
            </a:pPr>
            <a:r>
              <a:t>Email -&gt; Spam/Not Spam</a:t>
            </a:r>
            <a:br/>
            <a:r>
              <a:t>House -&gt; Rs 72 lakhs</a:t>
            </a:r>
            <a:br/>
            <a:r>
              <a:t>Photo -&gt; Cat/Dog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114800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DC32"/>
                </a:solidFill>
              </a:defRPr>
            </a:pPr>
            <a:r>
              <a:t>Cricket: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389120"/>
            <a:ext cx="3429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8C8D2"/>
                </a:solidFill>
              </a:defRPr>
            </a:pPr>
            <a:r>
              <a:t>Recognize ball/bat</a:t>
            </a:r>
            <a:br/>
            <a:r>
              <a:t>(WHAT is this?)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120640"/>
            <a:ext cx="3429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696A0"/>
                </a:solidFill>
              </a:defRPr>
            </a:pPr>
            <a:r>
              <a:t>Real projects use ALL 3!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51960" y="1005840"/>
            <a:ext cx="3611880" cy="502920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43400" y="1051560"/>
            <a:ext cx="3429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B464FF"/>
                </a:solidFill>
              </a:defRPr>
            </a:pPr>
            <a:r>
              <a:t>UNSUPERVISED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43400" y="1463040"/>
            <a:ext cx="3429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"What PATTERNS?"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43400" y="1920240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DC32"/>
                </a:solidFill>
              </a:defRPr>
            </a:pPr>
            <a:r>
              <a:t>Data: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43400" y="2194560"/>
            <a:ext cx="3429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8C8D2"/>
                </a:solidFill>
              </a:defRPr>
            </a:pPr>
            <a:r>
              <a:t>Data NO labels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43400" y="2743200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DC32"/>
                </a:solidFill>
              </a:defRPr>
            </a:pPr>
            <a:r>
              <a:t>Examples: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43400" y="3017520"/>
            <a:ext cx="3429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8C8D2"/>
                </a:solidFill>
              </a:defRPr>
            </a:pPr>
            <a:r>
              <a:t>10K customers -&gt; 3 groups</a:t>
            </a:r>
            <a:br/>
            <a:r>
              <a:t>Credit card -&gt; fraud</a:t>
            </a:r>
            <a:br/>
            <a:r>
              <a:t>Photos -&gt; sort by similarity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43400" y="4114800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DC32"/>
                </a:solidFill>
              </a:defRPr>
            </a:pPr>
            <a:r>
              <a:t>Cricket: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43400" y="4389120"/>
            <a:ext cx="3429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8C8D2"/>
                </a:solidFill>
              </a:defRPr>
            </a:pPr>
            <a:r>
              <a:t>Fielding positions</a:t>
            </a:r>
            <a:br/>
            <a:r>
              <a:t>(What PATTERNS exist?)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43400" y="5120640"/>
            <a:ext cx="3429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696A0"/>
                </a:solidFill>
              </a:defRPr>
            </a:pPr>
            <a:r>
              <a:t>Real projects use ALL 3!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46720" y="1005840"/>
            <a:ext cx="3611880" cy="502920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38160" y="1051560"/>
            <a:ext cx="3429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A500"/>
                </a:solidFill>
              </a:defRPr>
            </a:pPr>
            <a:r>
              <a:t>REINFORCEMENT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38160" y="1463040"/>
            <a:ext cx="3429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"HOW to do well?"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38160" y="1920240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DC32"/>
                </a:solidFill>
              </a:defRPr>
            </a:pPr>
            <a:r>
              <a:t>Data: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0" y="2194560"/>
            <a:ext cx="3429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8C8D2"/>
                </a:solidFill>
              </a:defRPr>
            </a:pPr>
            <a:r>
              <a:t>Goal + feedback</a:t>
            </a:r>
            <a:br/>
            <a:r>
              <a:t>(reward/penalty)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38160" y="2743200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DC32"/>
                </a:solidFill>
              </a:defRPr>
            </a:pPr>
            <a:r>
              <a:t>Examples: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38160" y="3017520"/>
            <a:ext cx="3429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8C8D2"/>
                </a:solidFill>
              </a:defRPr>
            </a:pPr>
            <a:r>
              <a:t>Chess AI -&gt; strategy</a:t>
            </a:r>
            <a:br/>
            <a:r>
              <a:t>Self-driving -&gt; safe</a:t>
            </a:r>
            <a:br/>
            <a:r>
              <a:t>ExamGuard -&gt; when alert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38160" y="4114800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DC32"/>
                </a:solidFill>
              </a:defRPr>
            </a:pPr>
            <a:r>
              <a:t>Cricket: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38160" y="4389120"/>
            <a:ext cx="3429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8C8D2"/>
                </a:solidFill>
              </a:defRPr>
            </a:pPr>
            <a:r>
              <a:t>When to hit vs defend</a:t>
            </a:r>
            <a:br/>
            <a:r>
              <a:t>(HOW to play well?)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38160" y="5120640"/>
            <a:ext cx="3429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696A0"/>
                </a:solidFill>
              </a:defRPr>
            </a:pPr>
            <a:r>
              <a:t>Real projects use ALL 3!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B464FF"/>
                </a:solidFill>
              </a:defRPr>
            </a:pPr>
            <a:r>
              <a:t>Section 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FFFFFF"/>
                </a:solidFill>
              </a:defRPr>
            </a:pPr>
            <a:r>
              <a:t>How It Works Inside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5720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8C8D2"/>
                </a:solidFill>
              </a:defRPr>
            </a:pPr>
            <a:r>
              <a:t>Topics 9-11: Neural Networks, Math Foundations, Math-ML Connection</a:t>
            </a:r>
            <a:br/>
            <a:r>
              <a:t>Now go deeper into HOW models actually learn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96FF"/>
                </a:solidFill>
              </a:defRPr>
            </a:pPr>
            <a:r>
              <a:t>09. Neural Networks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C8C8D2"/>
                </a:solidFill>
              </a:defRPr>
            </a:pPr>
            <a:r>
              <a:t>Company: Letter -&gt; Reception -&gt; Departments -&gt; CEO -&gt; Decision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3611880" cy="228600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17320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C864"/>
                </a:solidFill>
              </a:defRPr>
            </a:pPr>
            <a:r>
              <a:t>INPUT LAYER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83080"/>
            <a:ext cx="3429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DC32"/>
                </a:solidFill>
              </a:defRPr>
            </a:pPr>
            <a:r>
              <a:t>Reception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57400"/>
            <a:ext cx="3429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C8C8D2"/>
                </a:solidFill>
              </a:defRPr>
            </a:pPr>
            <a:r>
              <a:t>Receives raw data</a:t>
            </a:r>
            <a:br/>
            <a:r>
              <a:t>Passes forward</a:t>
            </a:r>
            <a:br/>
            <a:r>
              <a:t>Pixels, numbers, text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69080" y="219456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DC32"/>
                </a:solidFill>
              </a:defRPr>
            </a:pPr>
            <a:r>
              <a:t>&gt;&gt;</a:t>
            </a:r>
          </a:p>
        </p:txBody>
      </p:sp>
      <p:sp>
        <p:nvSpPr>
          <p:cNvPr id="9" name="Rectangle 8"/>
          <p:cNvSpPr/>
          <p:nvPr/>
        </p:nvSpPr>
        <p:spPr>
          <a:xfrm>
            <a:off x="4251960" y="1371600"/>
            <a:ext cx="3611880" cy="228600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43400" y="1417320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B464FF"/>
                </a:solidFill>
              </a:defRPr>
            </a:pPr>
            <a:r>
              <a:t>HIDDEN LAYERS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1783080"/>
            <a:ext cx="3429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DC32"/>
                </a:solidFill>
              </a:defRPr>
            </a:pPr>
            <a:r>
              <a:t>Departments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43400" y="2057400"/>
            <a:ext cx="3429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C8C8D2"/>
                </a:solidFill>
              </a:defRPr>
            </a:pPr>
            <a:r>
              <a:t>REAL learning!</a:t>
            </a:r>
            <a:br/>
            <a:r>
              <a:t>Each layer finds</a:t>
            </a:r>
            <a:br/>
            <a:r>
              <a:t>deeper patterns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0" y="219456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DC32"/>
                </a:solidFill>
              </a:defRPr>
            </a:pPr>
            <a:r>
              <a:t>&gt;&gt;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46720" y="1371600"/>
            <a:ext cx="3611880" cy="228600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38160" y="1417320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A500"/>
                </a:solidFill>
              </a:defRPr>
            </a:pPr>
            <a:r>
              <a:t>OUTPUT LAYER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160" y="1783080"/>
            <a:ext cx="3429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DC32"/>
                </a:solidFill>
              </a:defRPr>
            </a:pPr>
            <a:r>
              <a:t>CEO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38160" y="2057400"/>
            <a:ext cx="3429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C8C8D2"/>
                </a:solidFill>
              </a:defRPr>
            </a:pPr>
            <a:r>
              <a:t>Final answer</a:t>
            </a:r>
            <a:br/>
            <a:r>
              <a:t>Cat/Dog, Rs 72L</a:t>
            </a:r>
            <a:br/>
            <a:r>
              <a:t>Spam, Cheating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3931920"/>
            <a:ext cx="2834640" cy="182880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" y="3977639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96FF"/>
                </a:solidFill>
              </a:defRPr>
            </a:pPr>
            <a:r>
              <a:t>Epoch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" y="4389120"/>
            <a:ext cx="2743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C8C8D2"/>
                </a:solidFill>
              </a:defRPr>
            </a:pPr>
            <a:r>
              <a:t>One pass through ALL data</a:t>
            </a:r>
            <a:br/>
            <a:r>
              <a:t>10 epochs = saw data 10x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46120" y="3931920"/>
            <a:ext cx="2834640" cy="182880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291839" y="3977639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A500"/>
                </a:solidFill>
              </a:defRPr>
            </a:pPr>
            <a:r>
              <a:t>Activation</a:t>
            </a:r>
            <a:br/>
            <a:r>
              <a:t>= Bouncer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91839" y="4389120"/>
            <a:ext cx="2743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C8C8D2"/>
                </a:solidFill>
              </a:defRPr>
            </a:pPr>
            <a:r>
              <a:t>Every neuron: 'Important</a:t>
            </a:r>
            <a:br/>
            <a:r>
              <a:t>enough to pass forward?'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17920" y="3931920"/>
            <a:ext cx="2834640" cy="182880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63640" y="3977639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5050"/>
                </a:solidFill>
              </a:defRPr>
            </a:pPr>
            <a:r>
              <a:t>Backpropagation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4389120"/>
            <a:ext cx="2743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C8C8D2"/>
                </a:solidFill>
              </a:defRPr>
            </a:pPr>
            <a:r>
              <a:t>Error flows BACKWARD</a:t>
            </a:r>
            <a:br/>
            <a:r>
              <a:t>Each layer learns its blame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189720" y="3931920"/>
            <a:ext cx="2834640" cy="182880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35440" y="3977639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C864"/>
                </a:solidFill>
              </a:defRPr>
            </a:pPr>
            <a:r>
              <a:t>Features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35440" y="4389120"/>
            <a:ext cx="2743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C8C8D2"/>
                </a:solidFill>
              </a:defRPr>
            </a:pPr>
            <a:r>
              <a:t>Input data points model uses</a:t>
            </a:r>
            <a:br/>
            <a:r>
              <a:t>House: size, age, beds, location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5943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DC32"/>
                </a:solidFill>
              </a:defRPr>
            </a:pPr>
            <a:r>
              <a:t>Parameters = model LEARNS (weights) | Hyperparameters = YOU set (learning rate, epochs)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96FF"/>
                </a:solidFill>
              </a:defRPr>
            </a:pPr>
            <a:r>
              <a:t>10a. Math: Vectors &amp; Dot Product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5486400" cy="246888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C864"/>
                </a:solidFill>
              </a:defRPr>
            </a:pPr>
            <a:r>
              <a:t>VECTORS = "SPEAK" — Everything -&gt; Numbers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5120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8C8D2"/>
                </a:solidFill>
              </a:defRPr>
            </a:pPr>
            <a:r>
              <a:t>Student = [20, 170, 85, 90]</a:t>
            </a:r>
            <a:br/>
            <a:r>
              <a:t>              age  height marks attendance</a:t>
            </a:r>
            <a:br/>
            <a:r>
              <a:t>House = [3, 1200, 2, 10]</a:t>
            </a:r>
            <a:br/>
            <a:r>
              <a:t>          beds  sqft  bath  age</a:t>
            </a:r>
            <a:br/>
            <a:r>
              <a:t>Email = [7, 4, 1, 1, 0, 1]</a:t>
            </a:r>
            <a:br/>
            <a:r>
              <a:t>          words  !marks  free  click  known  links</a:t>
            </a:r>
            <a:br/>
            <a:br/>
            <a:r>
              <a:t>No vector = No ML. ALWAYS step 1.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0" y="1005840"/>
            <a:ext cx="5303520" cy="246888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0" y="105156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6FF"/>
                </a:solidFill>
              </a:defRPr>
            </a:pPr>
            <a:r>
              <a:t>DOT PRODUCT = "COMPARE" — How Similar?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1371600"/>
            <a:ext cx="49377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8C8D2"/>
                </a:solidFill>
              </a:defRPr>
            </a:pPr>
            <a:r>
              <a:t>Netflix: You vs User B</a:t>
            </a:r>
            <a:br/>
            <a:r>
              <a:t>(5x4)+(1x2)+(3x3)+(4x5) = 51 HIGH!</a:t>
            </a:r>
            <a:br/>
            <a:br/>
            <a:r>
              <a:t>You vs User C</a:t>
            </a:r>
            <a:br/>
            <a:r>
              <a:t>(5x1)+(1x5)+(3x4)+(4x1) = 26 LOW</a:t>
            </a:r>
            <a:br/>
            <a:br/>
            <a:r>
              <a:t>51 &gt;&gt; 26 -&gt; You're like User B</a:t>
            </a:r>
            <a:br/>
            <a:r>
              <a:t>-&gt; Recommend User B's movies!</a:t>
            </a:r>
            <a:br/>
            <a:br/>
            <a:r>
              <a:t>Note: vectors normalized for fair comparison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096FF"/>
                </a:solidFill>
              </a:defRPr>
            </a:pPr>
            <a:r>
              <a:t>10b. Math: Derivatives &amp; Gradient Descent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5486400" cy="228600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A500"/>
                </a:solidFill>
              </a:defRPr>
            </a:pPr>
            <a:r>
              <a:t>DERIVATIVES = "FIND" — What Went Wrong?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51206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8C8D2"/>
                </a:solidFill>
              </a:defRPr>
            </a:pPr>
            <a:r>
              <a:t>Samosa Shop:</a:t>
            </a:r>
            <a:br/>
            <a:r>
              <a:t>Rs 10 -&gt; sell 100, Rs 15 -&gt; sell 80</a:t>
            </a:r>
            <a:br/>
            <a:r>
              <a:t>Derivative = 4 fewer per Rs 1 increase</a:t>
            </a:r>
            <a:br/>
            <a:br/>
            <a:r>
              <a:t>In ML: Model predicted Rs 20L, actual Rs 50L</a:t>
            </a:r>
            <a:br/>
            <a:r>
              <a:t>Derivative says: "Size weight too low!</a:t>
            </a:r>
            <a:br/>
            <a:r>
              <a:t>Increase by 0.01 -&gt; error drops 15 lakhs"</a:t>
            </a:r>
            <a:br/>
            <a:r>
              <a:t>Tells EXACTLY what to fix!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0" y="1005840"/>
            <a:ext cx="5303520" cy="228600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0" y="105156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5050"/>
                </a:solidFill>
              </a:defRPr>
            </a:pPr>
            <a:r>
              <a:t>GRADIENT DESCENT = "FIX" — Walk Downhill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1371600"/>
            <a:ext cx="49377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8C8D2"/>
                </a:solidFill>
              </a:defRPr>
            </a:pPr>
            <a:r>
              <a:t>Blindfolded on hill -&gt; feel ground</a:t>
            </a:r>
            <a:br/>
            <a:r>
              <a:t>-&gt; step downhill -&gt; feel again -&gt; step</a:t>
            </a:r>
            <a:br/>
            <a:r>
              <a:t>-&gt; reach valley (minimum error)!</a:t>
            </a:r>
            <a:br/>
            <a:br/>
            <a:r>
              <a:t>Real training:</a:t>
            </a:r>
            <a:br/>
            <a:r>
              <a:t>Round 1: Error=30L, Round 100: Error=1.2L</a:t>
            </a:r>
            <a:br/>
            <a:r>
              <a:t>Round 500: Error=0.3L = TRAINED!</a:t>
            </a:r>
            <a:br/>
            <a:br/>
            <a:r>
              <a:t>Gradient = just a fancy word for "slope"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566160"/>
            <a:ext cx="10972800" cy="256032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611880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DC32"/>
                </a:solidFill>
              </a:defRPr>
            </a:pPr>
            <a:r>
              <a:t>Learning Rate — Step Size: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931920"/>
            <a:ext cx="3611880" cy="201168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3977639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5050"/>
                </a:solidFill>
              </a:defRPr>
            </a:pPr>
            <a:r>
              <a:t>TOO BIG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297680"/>
            <a:ext cx="3429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8C8D2"/>
                </a:solidFill>
              </a:defRPr>
            </a:pPr>
            <a:r>
              <a:t>Jump OVER valley!</a:t>
            </a:r>
            <a:br/>
            <a:r>
              <a:t>Zigzag left-right forever</a:t>
            </a:r>
            <a:br/>
            <a:r>
              <a:t>Never settle down</a:t>
            </a:r>
            <a:br/>
            <a:br/>
            <a:r>
              <a:t>Steering wheel yanked</a:t>
            </a:r>
            <a:br/>
            <a:r>
              <a:t>too hard = car zigzags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51960" y="3931920"/>
            <a:ext cx="3611880" cy="201168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43400" y="3977639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C864"/>
                </a:solidFill>
              </a:defRPr>
            </a:pPr>
            <a:r>
              <a:t>JUST RIGHT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43400" y="4297680"/>
            <a:ext cx="3429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8C8D2"/>
                </a:solidFill>
              </a:defRPr>
            </a:pPr>
            <a:r>
              <a:t>Reach valley smoothly</a:t>
            </a:r>
            <a:br/>
            <a:r>
              <a:t>500-&gt;300-&gt;100-&gt;10-&gt;2</a:t>
            </a:r>
            <a:br/>
            <a:r>
              <a:t>DONE! Efficient!</a:t>
            </a:r>
            <a:br/>
            <a:br/>
            <a:r>
              <a:t>Normal walking speed</a:t>
            </a:r>
            <a:br/>
            <a:r>
              <a:t>Step by step downhill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46720" y="3931920"/>
            <a:ext cx="3611880" cy="201168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38160" y="3977639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A500"/>
                </a:solidFill>
              </a:defRPr>
            </a:pPr>
            <a:r>
              <a:t>TOO SMALL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0" y="4297680"/>
            <a:ext cx="3429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8C8D2"/>
                </a:solidFill>
              </a:defRPr>
            </a:pPr>
            <a:r>
              <a:t>Baby steps. Takes years.</a:t>
            </a:r>
            <a:br/>
            <a:r>
              <a:t>500-&gt;499-&gt;498-&gt;497...</a:t>
            </a:r>
            <a:br/>
            <a:r>
              <a:t>Waste of time &amp; money</a:t>
            </a:r>
            <a:br/>
            <a:br/>
            <a:r>
              <a:t>1 inch steps down a hill</a:t>
            </a:r>
            <a:br/>
            <a:r>
              <a:t>Accurate but painfully slow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96FF"/>
                </a:solidFill>
              </a:defRPr>
            </a:pPr>
            <a:r>
              <a:t>10c. Train/Test Split &amp; Overfitting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5486400" cy="256032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C864"/>
                </a:solidFill>
              </a:defRPr>
            </a:pPr>
            <a:r>
              <a:t>TRAIN/TEST SPLIT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51206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8C8D2"/>
                </a:solidFill>
              </a:defRPr>
            </a:pPr>
            <a:r>
              <a:t>1000 emails:</a:t>
            </a:r>
            <a:br/>
            <a:r>
              <a:t>800 -&gt; TRAINING (model learns)</a:t>
            </a:r>
            <a:br/>
            <a:r>
              <a:t>200 -&gt; TESTING (model NEVER sees)</a:t>
            </a:r>
            <a:br/>
            <a:br/>
            <a:r>
              <a:t>Computer checks automatically:</a:t>
            </a:r>
            <a:br/>
            <a:r>
              <a:t>Predicted Spam, Actual Spam -&gt; Correct!</a:t>
            </a:r>
            <a:br/>
            <a:r>
              <a:t>185/200 = 92.5% accuracy</a:t>
            </a:r>
            <a:br/>
            <a:r>
              <a:t>No human reads each one!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0" y="1005840"/>
            <a:ext cx="5303520" cy="256032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0" y="105156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5050"/>
                </a:solidFill>
              </a:defRPr>
            </a:pPr>
            <a:r>
              <a:t>OVERFITTING = Biggest Danger!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1371600"/>
            <a:ext cx="4937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8C8D2"/>
                </a:solidFill>
              </a:defRPr>
            </a:pPr>
            <a:r>
              <a:t>Model MEMORIZES instead of LEARNING</a:t>
            </a:r>
            <a:br/>
            <a:br/>
            <a:r>
              <a:t>Exam: Student memorizes practice Q's</a:t>
            </a:r>
            <a:br/>
            <a:r>
              <a:t>word-by-word. Slightly different exam</a:t>
            </a:r>
            <a:br/>
            <a:r>
              <a:t>-&gt; FAILS!</a:t>
            </a:r>
            <a:br/>
            <a:br/>
            <a:r>
              <a:t>99% training + 30% test = OVERFITTING</a:t>
            </a:r>
            <a:br/>
            <a:r>
              <a:t>Bad data = low on BOTH train AND test</a:t>
            </a:r>
            <a:br/>
            <a:br/>
            <a:r>
              <a:t>Overfitting = good student, bad exam</a:t>
            </a:r>
            <a:br/>
            <a:r>
              <a:t>Bad data = bad everything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840480"/>
            <a:ext cx="10972800" cy="228600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886200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DC32"/>
                </a:solidFill>
              </a:defRPr>
            </a:pPr>
            <a:r>
              <a:t>Testing Each ML Type: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4206240"/>
            <a:ext cx="3611880" cy="164592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4251960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C864"/>
                </a:solidFill>
              </a:defRPr>
            </a:pPr>
            <a:r>
              <a:t>Supervised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526280"/>
            <a:ext cx="3429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</a:defRPr>
            </a:pPr>
            <a:r>
              <a:t>Computer compares</a:t>
            </a:r>
            <a:br/>
            <a:r>
              <a:t>predictions vs labels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120640"/>
            <a:ext cx="3429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8C8D2"/>
                </a:solidFill>
              </a:defRPr>
            </a:pPr>
            <a:r>
              <a:t>10K emails: 92% accuracy</a:t>
            </a:r>
            <a:br/>
            <a:r>
              <a:t>= 9200/10000 correct</a:t>
            </a:r>
            <a:br/>
            <a:r>
              <a:t>Automatic, 2 seconds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51960" y="4206240"/>
            <a:ext cx="3611880" cy="164592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43400" y="4251960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B464FF"/>
                </a:solidFill>
              </a:defRPr>
            </a:pPr>
            <a:r>
              <a:t>Unsupervised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43400" y="4526280"/>
            <a:ext cx="3429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</a:defRPr>
            </a:pPr>
            <a:r>
              <a:t>Human checks groups</a:t>
            </a:r>
            <a:br/>
            <a:r>
              <a:t>+ math similarity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43400" y="5120640"/>
            <a:ext cx="3429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8C8D2"/>
                </a:solidFill>
              </a:defRPr>
            </a:pPr>
            <a:r>
              <a:t>3 customer groups found</a:t>
            </a:r>
            <a:br/>
            <a:r>
              <a:t>All young in group 1? Yes!</a:t>
            </a:r>
            <a:br/>
            <a:r>
              <a:t>Groups make sense = good!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46720" y="4206240"/>
            <a:ext cx="3611880" cy="164592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38160" y="4251960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A500"/>
                </a:solidFill>
              </a:defRPr>
            </a:pPr>
            <a:r>
              <a:t>Reinforcement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0" y="4526280"/>
            <a:ext cx="3429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</a:defRPr>
            </a:pPr>
            <a:r>
              <a:t>Measure performance</a:t>
            </a:r>
            <a:br/>
            <a:r>
              <a:t>over many rounds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8160" y="5120640"/>
            <a:ext cx="3429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8C8D2"/>
                </a:solidFill>
              </a:defRPr>
            </a:pPr>
            <a:r>
              <a:t>Chess: 850/1000 won = 85%</a:t>
            </a:r>
            <a:br/>
            <a:r>
              <a:t>Self-driving: 10K km, 0 crash</a:t>
            </a:r>
            <a:br/>
            <a:r>
              <a:t>ExamGuard: 95% correct alerts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096FF"/>
                </a:solidFill>
              </a:defRPr>
            </a:pPr>
            <a:r>
              <a:t>11. How Math Connects to ML — Full Training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C8C8D2"/>
                </a:solidFill>
              </a:defRPr>
            </a:pPr>
            <a:r>
              <a:t>Real Estate Agent: Starts dumb -&gt; learns from 1000 mistakes -&gt; becomes expert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3611880" cy="201168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17320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0C864"/>
                </a:solidFill>
              </a:defRPr>
            </a:pPr>
            <a:r>
              <a:t>1. VECTOR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37360"/>
            <a:ext cx="3429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</a:defRPr>
            </a:pPr>
            <a:r>
              <a:t>House=[1000,5]</a:t>
            </a:r>
            <a:br/>
            <a:r>
              <a:t>Data -&gt; numbers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4251960" y="1371600"/>
            <a:ext cx="3611880" cy="201168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43400" y="1417320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096FF"/>
                </a:solidFill>
              </a:defRPr>
            </a:pPr>
            <a:r>
              <a:t>2. PREDICT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43400" y="1737360"/>
            <a:ext cx="3429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</a:defRPr>
            </a:pPr>
            <a:r>
              <a:t>1000x0.01+5x0.01</a:t>
            </a:r>
            <a:br/>
            <a:r>
              <a:t>+10 = Rs 20L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6720" y="1371600"/>
            <a:ext cx="3611880" cy="201168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0" y="1417320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5050"/>
                </a:solidFill>
              </a:defRPr>
            </a:pPr>
            <a:r>
              <a:t>3. LOSS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60" y="1737360"/>
            <a:ext cx="3429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</a:defRPr>
            </a:pPr>
            <a:r>
              <a:t>Actual=50L</a:t>
            </a:r>
            <a:br/>
            <a:r>
              <a:t>50-20=30 OFF!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657600"/>
            <a:ext cx="3611880" cy="201168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703320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A500"/>
                </a:solidFill>
              </a:defRPr>
            </a:pPr>
            <a:r>
              <a:t>4. DERIVATIVE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023360"/>
            <a:ext cx="3429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</a:defRPr>
            </a:pPr>
            <a:r>
              <a:t>Size weight too low!</a:t>
            </a:r>
            <a:br/>
            <a:r>
              <a:t>Increase by 0.008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51960" y="3657600"/>
            <a:ext cx="3611880" cy="201168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43400" y="3703320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B464FF"/>
                </a:solidFill>
              </a:defRPr>
            </a:pPr>
            <a:r>
              <a:t>5. ADJUST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43400" y="4023360"/>
            <a:ext cx="3429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</a:defRPr>
            </a:pPr>
            <a:r>
              <a:t>0.01-&gt;0.018 (size)</a:t>
            </a:r>
            <a:br/>
            <a:r>
              <a:t>0.01-&gt;0.012 (age)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46720" y="3657600"/>
            <a:ext cx="3611880" cy="201168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38160" y="3703320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DC32"/>
                </a:solidFill>
              </a:defRPr>
            </a:pPr>
            <a:r>
              <a:t>6. REPEAT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0" y="4023360"/>
            <a:ext cx="3429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</a:defRPr>
            </a:pPr>
            <a:r>
              <a:t>Round 500: Error=0.3</a:t>
            </a:r>
            <a:br/>
            <a:r>
              <a:t>Weights=[0.05,-2.5]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5943600"/>
            <a:ext cx="10972800" cy="64008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598932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DC32"/>
                </a:solidFill>
              </a:defRPr>
            </a:pPr>
            <a:r>
              <a:t>Weight went NEGATIVE! Model discovered "older house=cheaper" BY ITSELF. Nobody programmed this!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96FF"/>
                </a:solidFill>
              </a:defRPr>
            </a:pPr>
            <a:r>
              <a:t>Key Terms — Quick Reference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274320" y="685800"/>
            <a:ext cx="5669280" cy="36576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04088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C864"/>
                </a:solidFill>
              </a:defRPr>
            </a:pPr>
            <a:r>
              <a:t>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68879" y="70408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8C8D2"/>
                </a:solidFill>
              </a:defRPr>
            </a:pPr>
            <a:r>
              <a:t>Learn+Understand+Decide+Adapt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115568"/>
            <a:ext cx="5669280" cy="36576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133856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C864"/>
                </a:solidFill>
              </a:defRPr>
            </a:pPr>
            <a:r>
              <a:t>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68879" y="11338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8C8D2"/>
                </a:solidFill>
              </a:defRPr>
            </a:pPr>
            <a:r>
              <a:t>Machines that learn &amp; decide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545336"/>
            <a:ext cx="5669280" cy="36576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563624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C864"/>
                </a:solidFill>
              </a:defRPr>
            </a:pPr>
            <a:r>
              <a:t>Narrow/General/Super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68879" y="1563624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8C8D2"/>
                </a:solidFill>
              </a:defRPr>
            </a:pPr>
            <a:r>
              <a:t>ONE task / Everything / Beyond human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1975104"/>
            <a:ext cx="5669280" cy="36576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1993392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96FF"/>
                </a:solidFill>
              </a:defRPr>
            </a:pPr>
            <a:r>
              <a:t>Traditional Prog.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68879" y="1993392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8C8D2"/>
                </a:solidFill>
              </a:defRPr>
            </a:pPr>
            <a:r>
              <a:t>Human writes rules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2404872"/>
            <a:ext cx="5669280" cy="36576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242316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96FF"/>
                </a:solidFill>
              </a:defRPr>
            </a:pPr>
            <a:r>
              <a:t>Machine Learning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68879" y="24231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8C8D2"/>
                </a:solidFill>
              </a:defRPr>
            </a:pPr>
            <a:r>
              <a:t>Computer learns from data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2834639"/>
            <a:ext cx="5669280" cy="36576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2852927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B464FF"/>
                </a:solidFill>
              </a:defRPr>
            </a:pPr>
            <a:r>
              <a:t>Deep Learning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68879" y="2852927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8C8D2"/>
                </a:solidFill>
              </a:defRPr>
            </a:pPr>
            <a:r>
              <a:t>Neural nets with layers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3264408"/>
            <a:ext cx="5669280" cy="36576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3282696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B464FF"/>
                </a:solidFill>
              </a:defRPr>
            </a:pPr>
            <a:r>
              <a:t>LLM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68879" y="328269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8C8D2"/>
                </a:solidFill>
              </a:defRPr>
            </a:pPr>
            <a:r>
              <a:t>DL for language (ChatGPT)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3694176"/>
            <a:ext cx="5669280" cy="36576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3712463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C864"/>
                </a:solidFill>
              </a:defRPr>
            </a:pPr>
            <a:r>
              <a:t>Supervised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79" y="3712463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8C8D2"/>
                </a:solidFill>
              </a:defRPr>
            </a:pPr>
            <a:r>
              <a:t>Data WITH labels -&gt; Classify/Regress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4123944"/>
            <a:ext cx="5669280" cy="36576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5760" y="4142231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B464FF"/>
                </a:solidFill>
              </a:defRPr>
            </a:pPr>
            <a:r>
              <a:t>Unsupervised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68879" y="4142231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8C8D2"/>
                </a:solidFill>
              </a:defRPr>
            </a:pPr>
            <a:r>
              <a:t>Data NO labels -&gt; Cluster/Anomaly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4553712"/>
            <a:ext cx="5669280" cy="36576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5760" y="4571999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A500"/>
                </a:solidFill>
              </a:defRPr>
            </a:pPr>
            <a:r>
              <a:t>Reinforcement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468879" y="4571999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8C8D2"/>
                </a:solidFill>
              </a:defRPr>
            </a:pPr>
            <a:r>
              <a:t>Trial+Reward/Penalty -&gt; Strategy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4983479"/>
            <a:ext cx="5669280" cy="36576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5001767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C864"/>
                </a:solidFill>
              </a:defRPr>
            </a:pPr>
            <a:r>
              <a:t>Classification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468879" y="5001767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8C8D2"/>
                </a:solidFill>
              </a:defRPr>
            </a:pPr>
            <a:r>
              <a:t>Answer = WORD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5413248"/>
            <a:ext cx="5669280" cy="36576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5431536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A500"/>
                </a:solidFill>
              </a:defRPr>
            </a:pPr>
            <a:r>
              <a:t>Regression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468879" y="543153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8C8D2"/>
                </a:solidFill>
              </a:defRPr>
            </a:pPr>
            <a:r>
              <a:t>Answer = NUMBER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74320" y="5843016"/>
            <a:ext cx="5669280" cy="36576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5760" y="5861303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B464FF"/>
                </a:solidFill>
              </a:defRPr>
            </a:pPr>
            <a:r>
              <a:t>Clustering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468879" y="5861303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8C8D2"/>
                </a:solidFill>
              </a:defRPr>
            </a:pPr>
            <a:r>
              <a:t>Group similar things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74320" y="6272783"/>
            <a:ext cx="5669280" cy="36576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65760" y="6291071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5050"/>
                </a:solidFill>
              </a:defRPr>
            </a:pPr>
            <a:r>
              <a:t>Anomaly Detection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468879" y="6291071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8C8D2"/>
                </a:solidFill>
              </a:defRPr>
            </a:pPr>
            <a:r>
              <a:t>Spot the weird one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217920" y="685800"/>
            <a:ext cx="5669280" cy="36576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309359" y="704088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96FF"/>
                </a:solidFill>
              </a:defRPr>
            </a:pPr>
            <a:r>
              <a:t>Neural Network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12480" y="70408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8C8D2"/>
                </a:solidFill>
              </a:defRPr>
            </a:pPr>
            <a:r>
              <a:t>Layers of connected nodes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217920" y="1115568"/>
            <a:ext cx="5669280" cy="36576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09359" y="1133856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96FF"/>
                </a:solidFill>
              </a:defRPr>
            </a:pPr>
            <a:r>
              <a:t>Weight/Bias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412480" y="11338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8C8D2"/>
                </a:solidFill>
              </a:defRPr>
            </a:pPr>
            <a:r>
              <a:t>Importance number / Starting value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217920" y="1545336"/>
            <a:ext cx="5669280" cy="36576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09359" y="1563624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96FF"/>
                </a:solidFill>
              </a:defRPr>
            </a:pPr>
            <a:r>
              <a:t>Epoch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412480" y="1563624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8C8D2"/>
                </a:solidFill>
              </a:defRPr>
            </a:pPr>
            <a:r>
              <a:t>One pass through ALL data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217920" y="1975104"/>
            <a:ext cx="5669280" cy="36576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309359" y="1993392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A500"/>
                </a:solidFill>
              </a:defRPr>
            </a:pPr>
            <a:r>
              <a:t>Activation Fn.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412480" y="1993392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8C8D2"/>
                </a:solidFill>
              </a:defRPr>
            </a:pPr>
            <a:r>
              <a:t>Bouncer at every neuron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217920" y="2404872"/>
            <a:ext cx="5669280" cy="36576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309359" y="242316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5050"/>
                </a:solidFill>
              </a:defRPr>
            </a:pPr>
            <a:r>
              <a:t>Backpropagation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412480" y="24231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8C8D2"/>
                </a:solidFill>
              </a:defRPr>
            </a:pPr>
            <a:r>
              <a:t>Error flows backward -&gt; fix weights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217920" y="2834639"/>
            <a:ext cx="5669280" cy="36576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309359" y="2852927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5050"/>
                </a:solidFill>
              </a:defRPr>
            </a:pPr>
            <a:r>
              <a:t>Loss Function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412480" y="2852927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8C8D2"/>
                </a:solidFill>
              </a:defRPr>
            </a:pPr>
            <a:r>
              <a:t>Measures how wrong the guess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217920" y="3264408"/>
            <a:ext cx="5669280" cy="36576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309359" y="3282696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C864"/>
                </a:solidFill>
              </a:defRPr>
            </a:pPr>
            <a:r>
              <a:t>Feature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412480" y="328269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8C8D2"/>
                </a:solidFill>
              </a:defRPr>
            </a:pPr>
            <a:r>
              <a:t>One input data point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217920" y="3694176"/>
            <a:ext cx="5669280" cy="36576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309359" y="3712463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C864"/>
                </a:solidFill>
              </a:defRPr>
            </a:pPr>
            <a:r>
              <a:t>Vector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12480" y="3712463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8C8D2"/>
                </a:solidFill>
              </a:defRPr>
            </a:pPr>
            <a:r>
              <a:t>List of numbers = data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217920" y="4123944"/>
            <a:ext cx="5669280" cy="36576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309359" y="4142231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96FF"/>
                </a:solidFill>
              </a:defRPr>
            </a:pPr>
            <a:r>
              <a:t>Dot Product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412480" y="4142231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8C8D2"/>
                </a:solidFill>
              </a:defRPr>
            </a:pPr>
            <a:r>
              <a:t>Similarity score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217920" y="4553712"/>
            <a:ext cx="5669280" cy="36576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309359" y="4571999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A500"/>
                </a:solidFill>
              </a:defRPr>
            </a:pPr>
            <a:r>
              <a:t>Derivative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412480" y="4571999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8C8D2"/>
                </a:solidFill>
              </a:defRPr>
            </a:pPr>
            <a:r>
              <a:t>What went wrong?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217920" y="4983479"/>
            <a:ext cx="5669280" cy="36576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309359" y="5001767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5050"/>
                </a:solidFill>
              </a:defRPr>
            </a:pPr>
            <a:r>
              <a:t>Gradient Descent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12480" y="5001767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8C8D2"/>
                </a:solidFill>
              </a:defRPr>
            </a:pPr>
            <a:r>
              <a:t>Fix weights step by step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217920" y="5413248"/>
            <a:ext cx="5669280" cy="36576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309359" y="5431536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A500"/>
                </a:solidFill>
              </a:defRPr>
            </a:pPr>
            <a:r>
              <a:t>Learning Rate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412480" y="543153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8C8D2"/>
                </a:solidFill>
              </a:defRPr>
            </a:pPr>
            <a:r>
              <a:t>Step size (don't overshoot!)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217920" y="5843016"/>
            <a:ext cx="5669280" cy="36576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309359" y="5861303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5050"/>
                </a:solidFill>
              </a:defRPr>
            </a:pPr>
            <a:r>
              <a:t>Overfitting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412480" y="5861303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8C8D2"/>
                </a:solidFill>
              </a:defRPr>
            </a:pPr>
            <a:r>
              <a:t>Memorized, can't generalize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217920" y="6272783"/>
            <a:ext cx="5669280" cy="36576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309359" y="6291071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C864"/>
                </a:solidFill>
              </a:defRPr>
            </a:pPr>
            <a:r>
              <a:t>Transfer Learning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412480" y="6291071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8C8D2"/>
                </a:solidFill>
              </a:defRPr>
            </a:pPr>
            <a:r>
              <a:t>Pre-trained model + your data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C864"/>
                </a:solidFill>
              </a:defRPr>
            </a:pPr>
            <a:r>
              <a:t>10a-EXTRA: Vectors — Worked Example (Spam Detection)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85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C8C8D2"/>
                </a:solidFill>
              </a:defRPr>
            </a:pPr>
            <a:r>
              <a:t>Step-by-step: How an email becomes numbers for the model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05840"/>
            <a:ext cx="5303520" cy="274320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5156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DC32"/>
                </a:solidFill>
              </a:defRPr>
            </a:pPr>
            <a:r>
              <a:t>THE EMAIL: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49377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</a:defRPr>
            </a:pPr>
            <a:r>
              <a:t>"FREE MONEY!!! Click here NOW!</a:t>
            </a:r>
            <a:br/>
            <a:r>
              <a:t>Limited time offer! Act fast!</a:t>
            </a:r>
            <a:br/>
            <a:r>
              <a:t>Send your bank details to claim</a:t>
            </a:r>
            <a:br/>
            <a:r>
              <a:t>your Rs 50,00,000 prize!!!"</a:t>
            </a:r>
            <a:br/>
            <a:br/>
            <a:r>
              <a:t>From: unknown_sender_xyz@random.com</a:t>
            </a:r>
            <a:br/>
            <a:r>
              <a:t>Links: 3 suspicious links inside</a:t>
            </a:r>
            <a:br/>
            <a:r>
              <a:t>Sent to: 10,000 people at once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1005840"/>
            <a:ext cx="5303520" cy="274320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105156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C864"/>
                </a:solidFill>
              </a:defRPr>
            </a:pPr>
            <a:r>
              <a:t>CONVERT TO VECTOR: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1371600"/>
            <a:ext cx="49377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00C864"/>
                </a:solidFill>
              </a:defRPr>
            </a:pPr>
            <a:r>
              <a:t>Feature 1: Word count          = 24</a:t>
            </a:r>
            <a:br/>
            <a:r>
              <a:t>Feature 2: Exclamation marks    = 6</a:t>
            </a:r>
            <a:br/>
            <a:r>
              <a:t>Feature 3: Contains "free"      = 1 (yes)</a:t>
            </a:r>
            <a:br/>
            <a:r>
              <a:t>Feature 4: Contains "click"     = 1 (yes)</a:t>
            </a:r>
            <a:br/>
            <a:r>
              <a:t>Feature 5: Known sender         = 0 (no)</a:t>
            </a:r>
            <a:br/>
            <a:r>
              <a:t>Feature 6: Number of links      = 3</a:t>
            </a:r>
            <a:br/>
            <a:r>
              <a:t>Feature 7: Sent to how many     = 10000</a:t>
            </a:r>
            <a:br/>
            <a:br/>
            <a:r>
              <a:t>Vector = [24, 6, 1, 1, 0, 3, 10000]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023360"/>
            <a:ext cx="10972800" cy="228600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4069080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DC32"/>
                </a:solidFill>
              </a:defRPr>
            </a:pPr>
            <a:r>
              <a:t>NOW THE MODEL CAN WORK: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389120"/>
            <a:ext cx="5029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8C8D2"/>
                </a:solidFill>
              </a:defRPr>
            </a:pPr>
            <a:r>
              <a:t>Model has trained weights:</a:t>
            </a:r>
            <a:br/>
            <a:r>
              <a:t>Word count weight    = 0.02</a:t>
            </a:r>
            <a:br/>
            <a:r>
              <a:t>Exclamation weight   = 0.15  (high!)</a:t>
            </a:r>
            <a:br/>
            <a:r>
              <a:t>"free" weight        = 0.25  (high!)</a:t>
            </a:r>
            <a:br/>
            <a:r>
              <a:t>"click" weight       = 0.20  (high!)</a:t>
            </a:r>
            <a:br/>
            <a:r>
              <a:t>Known sender weight  = -0.30 (negative!)</a:t>
            </a:r>
            <a:br/>
            <a:r>
              <a:t>Links weight         = 0.12</a:t>
            </a:r>
            <a:br/>
            <a:r>
              <a:t>Bulk send weight     = 0.10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4389120"/>
            <a:ext cx="5029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5050"/>
                </a:solidFill>
              </a:defRPr>
            </a:pPr>
            <a:r>
              <a:t>Calculation:</a:t>
            </a:r>
            <a:br/>
            <a:r>
              <a:t>(24 x 0.02) + (6 x 0.15) + (1 x 0.25)</a:t>
            </a:r>
            <a:br/>
            <a:r>
              <a:t>+ (1 x 0.20) + (0 x -0.30) + (3 x 0.12)</a:t>
            </a:r>
            <a:br/>
            <a:r>
              <a:t>+ (10000 x 0.10)</a:t>
            </a:r>
            <a:br/>
            <a:br/>
            <a:r>
              <a:t>= 0.48 + 0.90 + 0.25 + 0.20 + 0</a:t>
            </a:r>
            <a:br/>
            <a:r>
              <a:t>  + 0.36 + 1000</a:t>
            </a:r>
            <a:br/>
            <a:r>
              <a:t>= 1002.19  --&gt;  WAY above threshold!</a:t>
            </a:r>
            <a:br/>
            <a:br/>
            <a:r>
              <a:t>Result: SPAM! (confidence: 99.8%)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96FF"/>
                </a:solidFill>
              </a:defRPr>
            </a:pPr>
            <a:r>
              <a:t>10a-EXTRA: Dot Product — Worked Example (Netflix)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85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C8C8D2"/>
                </a:solidFill>
              </a:defRPr>
            </a:pPr>
            <a:r>
              <a:t>Step-by-step: How Netflix finds users with similar taste to recommend movies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05840"/>
            <a:ext cx="10972800" cy="182880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51560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DC32"/>
                </a:solidFill>
              </a:defRPr>
            </a:pPr>
            <a:r>
              <a:t>3 users rated 4 movies (1-5 stars):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</a:defRPr>
            </a:pPr>
            <a:r>
              <a:t>                         Action   Romance   Comedy   Horror</a:t>
            </a:r>
            <a:br/>
            <a:r>
              <a:t>YOU  (User A):            [5,       1,        3,       4]      &lt;- love Action &amp; Horror</a:t>
            </a:r>
            <a:br/>
            <a:r>
              <a:t>User B:                   [4,       2,        3,       5]      &lt;- also loves Action &amp; Horror!</a:t>
            </a:r>
            <a:br/>
            <a:r>
              <a:t>User C:                   [1,       5,        4,       1]      &lt;- loves Romance &amp; Comedy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3108960"/>
            <a:ext cx="5303520" cy="228600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15468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C864"/>
                </a:solidFill>
              </a:defRPr>
            </a:pPr>
            <a:r>
              <a:t>YOU vs User B: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474720"/>
            <a:ext cx="49377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2"/>
                </a:solidFill>
              </a:defRPr>
            </a:pPr>
            <a:r>
              <a:t>(5 x 4) + (1 x 2) + (3 x 3) + (4 x 5)</a:t>
            </a:r>
            <a:br/>
            <a:r>
              <a:t>=  20   +   2    +   9    +   20</a:t>
            </a:r>
            <a:br/>
            <a:r>
              <a:t>=  51</a:t>
            </a:r>
            <a:br/>
            <a:br/>
            <a:r>
              <a:t>51 = HIGH number = VERY SIMILAR taste!</a:t>
            </a:r>
            <a:br/>
            <a:br/>
            <a:r>
              <a:t>You and User B both love Action &amp; Horror.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3108960"/>
            <a:ext cx="5303520" cy="228600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315468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5050"/>
                </a:solidFill>
              </a:defRPr>
            </a:pPr>
            <a:r>
              <a:t>YOU vs User C: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3474720"/>
            <a:ext cx="49377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2"/>
                </a:solidFill>
              </a:defRPr>
            </a:pPr>
            <a:r>
              <a:t>(5 x 1) + (1 x 5) + (3 x 4) + (4 x 1)</a:t>
            </a:r>
            <a:br/>
            <a:r>
              <a:t>=  5    +   5    +  12    +   4</a:t>
            </a:r>
            <a:br/>
            <a:r>
              <a:t>=  26</a:t>
            </a:r>
            <a:br/>
            <a:br/>
            <a:r>
              <a:t>26 = LOW number = DIFFERENT taste.</a:t>
            </a:r>
            <a:br/>
            <a:br/>
            <a:r>
              <a:t>You like Action, User C likes Romance.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5669280"/>
            <a:ext cx="10972800" cy="73152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5715000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DC32"/>
                </a:solidFill>
              </a:defRPr>
            </a:pPr>
            <a:r>
              <a:t>51 &gt;&gt; 26  -&gt;  You are most like User B  -&gt;  Netflix recommends what User B watched!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035040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00C864"/>
                </a:solidFill>
              </a:defRPr>
            </a:pPr>
            <a:r>
              <a:t>User B loved "Inception"? You haven't seen it? -&gt; RECOMMENDED FOR YOU!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A500"/>
                </a:solidFill>
              </a:defRPr>
            </a:pPr>
            <a:r>
              <a:t>10b-EXTRA: Derivatives — Worked Example (House Price)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85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C8C8D2"/>
                </a:solidFill>
              </a:defRPr>
            </a:pPr>
            <a:r>
              <a:t>Step-by-step: Model predicts wrong → derivative finds which weight to blame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05840"/>
            <a:ext cx="10972800" cy="137160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51560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DC32"/>
                </a:solidFill>
              </a:defRPr>
            </a:pPr>
            <a:r>
              <a:t>THE PROBLEM: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</a:defRPr>
            </a:pPr>
            <a:r>
              <a:t>House: [1000 sqft, 5 years old]    Actual price: Rs 50 lakhs</a:t>
            </a:r>
            <a:br/>
            <a:r>
              <a:t>Model weights (random start): Size weight = 0.01, Age weight = 0.01, Bias = 10</a:t>
            </a:r>
            <a:br/>
            <a:r>
              <a:t>Model predicts: (1000 x 0.01) + (5 x 0.01) + 10 = 10 + 0.05 + 10 = Rs 20.05 lakhs</a:t>
            </a:r>
            <a:br/>
            <a:r>
              <a:t>ERROR = 50 - 20.05 = Rs 29.95 lakhs OFF!  (TERRIBLE!)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51760"/>
            <a:ext cx="5486400" cy="228600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69748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A500"/>
                </a:solidFill>
              </a:defRPr>
            </a:pPr>
            <a:r>
              <a:t>DERIVATIVE SAYS: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017520"/>
            <a:ext cx="51206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8C8D2"/>
                </a:solidFill>
              </a:defRPr>
            </a:pPr>
            <a:r>
              <a:t>"Size weight (0.01) is the BIGGEST</a:t>
            </a:r>
            <a:br/>
            <a:r>
              <a:t>problem. Size is 1000 but weight</a:t>
            </a:r>
            <a:br/>
            <a:r>
              <a:t>is only 0.01 = way too low!</a:t>
            </a:r>
            <a:br/>
            <a:br/>
            <a:r>
              <a:t>If you increase Size weight by 0.008,</a:t>
            </a:r>
            <a:br/>
            <a:r>
              <a:t>error will drop by ~15 lakhs."</a:t>
            </a:r>
            <a:br/>
            <a:br/>
            <a:r>
              <a:t>"Age weight (0.01) is also too low.</a:t>
            </a:r>
            <a:br/>
            <a:r>
              <a:t>Increase by 0.002.</a:t>
            </a:r>
            <a:br/>
            <a:r>
              <a:t>Error will drop by ~3 lakhs."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2651760"/>
            <a:ext cx="5303520" cy="228600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269748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C864"/>
                </a:solidFill>
              </a:defRPr>
            </a:pPr>
            <a:r>
              <a:t>WEIGHTS GET ADJUSTED: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3017520"/>
            <a:ext cx="49377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8C8D2"/>
                </a:solidFill>
              </a:defRPr>
            </a:pPr>
            <a:r>
              <a:t>BEFORE:</a:t>
            </a:r>
            <a:br/>
            <a:r>
              <a:t>Size weight = 0.01   (too low!)</a:t>
            </a:r>
            <a:br/>
            <a:r>
              <a:t>Age weight  = 0.01   (too low!)</a:t>
            </a:r>
            <a:br/>
            <a:r>
              <a:t>Bias        = 10</a:t>
            </a:r>
            <a:br/>
            <a:br/>
            <a:r>
              <a:t>AFTER:</a:t>
            </a:r>
            <a:br/>
            <a:r>
              <a:t>Size weight = 0.01 + 0.008 = 0.018  (better!)</a:t>
            </a:r>
            <a:br/>
            <a:r>
              <a:t>Age weight  = 0.01 + 0.002 = 0.012  (better!)</a:t>
            </a:r>
            <a:br/>
            <a:r>
              <a:t>Bias        = 10 + 3       = 13     (better!)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5212080"/>
            <a:ext cx="10972800" cy="118872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5257800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DC32"/>
                </a:solidFill>
              </a:defRPr>
            </a:pPr>
            <a:r>
              <a:t>NEXT PREDICTION (with new weights):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57784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00C864"/>
                </a:solidFill>
              </a:defRPr>
            </a:pPr>
            <a:r>
              <a:t>(1000 x 0.018) + (5 x 0.012) + 13 = 18 + 0.06 + 13 = Rs 31.06 lakhs</a:t>
            </a:r>
            <a:br/>
            <a:r>
              <a:t>Still wrong, but error dropped from 29.95 → 18.94!  IMPROVING!</a:t>
            </a:r>
            <a:br/>
            <a:r>
              <a:t>Repeat 500 more times → Error reaches 0.3 lakhs → MODEL TRAINED!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5050"/>
                </a:solidFill>
              </a:defRPr>
            </a:pPr>
            <a:r>
              <a:t>10b-EXTRA: Gradient Descent — Watching a Model Train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85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C8C8D2"/>
                </a:solidFill>
              </a:defRPr>
            </a:pPr>
            <a:r>
              <a:t>500 rounds of training a house price model — watch the error drop!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05840"/>
            <a:ext cx="10972800" cy="320040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51560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DC32"/>
                </a:solidFill>
              </a:defRPr>
            </a:pPr>
            <a:r>
              <a:t>THE FULL TRAINING JOURNEY: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6070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8C8D2"/>
                </a:solidFill>
              </a:defRPr>
            </a:pPr>
            <a:r>
              <a:t>Round 1:    Weights = [0.01, 0.01]     Prediction: Rs 20L     Error: 30 lakhs    "Terrible!"      </a:t>
            </a:r>
            <a:br/>
            <a:r>
              <a:t>Round 5:    Weights = [0.02, -0.3]     Prediction: Rs 28L     Error: 22 lakhs    "Still bad"       </a:t>
            </a:r>
            <a:br/>
            <a:r>
              <a:t>Round 10:   Weights = [0.03, -0.8]     Prediction: Rs 36L     Error: 14 lakhs    "Getting better!"  </a:t>
            </a:r>
            <a:br/>
            <a:r>
              <a:t>Round 50:   Weights = [0.04, -1.5]     Prediction: Rs 44L     Error: 6 lakhs     "Almost there!"   </a:t>
            </a:r>
            <a:br/>
            <a:r>
              <a:t>Round 100:  Weights = [0.045, -2.0]    Prediction: Rs 47L     Error: 3 lakhs     "Close!"          </a:t>
            </a:r>
            <a:br/>
            <a:r>
              <a:t>Round 200:  Weights = [0.048, -2.3]    Prediction: Rs 49L     Error: 1 lakh      "Nearly perfect!"  </a:t>
            </a:r>
            <a:br/>
            <a:r>
              <a:t>Round 500:  Weights = [0.05, -2.5]     Prediction: Rs 49.7L   Error: 0.3 lakhs   "TRAINED!"        </a:t>
            </a:r>
            <a:br/>
            <a:br/>
            <a:r>
              <a:t>NOTICE: Age weight went from +0.01 to -2.5 (NEGATIVE!)</a:t>
            </a:r>
            <a:br/>
            <a:r>
              <a:t>The model discovered BY ITSELF that older houses are CHEAPER!</a:t>
            </a:r>
            <a:br/>
            <a:r>
              <a:t>Nobody programmed this rule. It learned from data alone.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4480560"/>
            <a:ext cx="5303520" cy="182880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452628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C864"/>
                </a:solidFill>
              </a:defRPr>
            </a:pPr>
            <a:r>
              <a:t>What the trained model learned: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846320"/>
            <a:ext cx="49377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8C8D2"/>
                </a:solidFill>
              </a:defRPr>
            </a:pPr>
            <a:r>
              <a:t>Price = (Size x 0.05) + (Age x -2.5) + 12</a:t>
            </a:r>
            <a:br/>
            <a:br/>
            <a:r>
              <a:t>In English:</a:t>
            </a:r>
            <a:br/>
            <a:r>
              <a:t>"Every 1 sqft adds Rs 5000"</a:t>
            </a:r>
            <a:br/>
            <a:r>
              <a:t>"Every year of age REDUCES price by Rs 2.5L"</a:t>
            </a:r>
            <a:br/>
            <a:r>
              <a:t>"Base price starts at Rs 12 lakhs"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4480560"/>
            <a:ext cx="5303520" cy="182880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452628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DC32"/>
                </a:solidFill>
              </a:defRPr>
            </a:pPr>
            <a:r>
              <a:t>Test on NEW house (never seen):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4846320"/>
            <a:ext cx="49377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C864"/>
                </a:solidFill>
              </a:defRPr>
            </a:pPr>
            <a:r>
              <a:t>New house: 1400 sqft, 4 years old</a:t>
            </a:r>
            <a:br/>
            <a:br/>
            <a:r>
              <a:t>Price = (1400 x 0.05) + (4 x -2.5) + 12</a:t>
            </a:r>
            <a:br/>
            <a:r>
              <a:t>      = 70 + (-10) + 12</a:t>
            </a:r>
            <a:br/>
            <a:r>
              <a:t>      = Rs 72 lakhs</a:t>
            </a:r>
            <a:br/>
            <a:br/>
            <a:r>
              <a:t>Actual price: Rs 73 lakhs  -&gt; 98.6% accurate!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5050"/>
                </a:solidFill>
              </a:defRPr>
            </a:pPr>
            <a:r>
              <a:t>10c-EXTRA: Overfitting — The Exam Analogy (Visual)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22960"/>
            <a:ext cx="5303520" cy="274320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C864"/>
                </a:solidFill>
              </a:defRPr>
            </a:pPr>
            <a:r>
              <a:t>GOOD STUDENT (Good Model):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88720"/>
            <a:ext cx="49377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8C8D2"/>
                </a:solidFill>
              </a:defRPr>
            </a:pPr>
            <a:r>
              <a:t>Studies: "If blood pressure &gt; 140</a:t>
            </a:r>
            <a:br/>
            <a:r>
              <a:t>AND sugar &gt; 200 AND age &gt; 50</a:t>
            </a:r>
            <a:br/>
            <a:r>
              <a:t>-&gt; likely diabetes"</a:t>
            </a:r>
            <a:br/>
            <a:br/>
            <a:r>
              <a:t>Learns the PATTERN / CONCEPT</a:t>
            </a:r>
            <a:br/>
            <a:br/>
            <a:r>
              <a:t>Practice test: 95% correct</a:t>
            </a:r>
            <a:br/>
            <a:r>
              <a:t>Real exam: 92% correct</a:t>
            </a:r>
            <a:br/>
            <a:br/>
            <a:r>
              <a:t>Slightly different questions?</a:t>
            </a:r>
            <a:br/>
            <a:r>
              <a:t>No problem! Understands the concept.</a:t>
            </a:r>
            <a:br/>
            <a:br/>
            <a:r>
              <a:t>This = GOOD generalization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0" y="822960"/>
            <a:ext cx="5303520" cy="274320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0" y="86868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5050"/>
                </a:solidFill>
              </a:defRPr>
            </a:pPr>
            <a:r>
              <a:t>BAD STUDENT (Overfitted Model):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1188720"/>
            <a:ext cx="49377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8C8D2"/>
                </a:solidFill>
              </a:defRPr>
            </a:pPr>
            <a:r>
              <a:t>Memorizes: "Q1 answer is B.</a:t>
            </a:r>
            <a:br/>
            <a:r>
              <a:t>Q2 answer is A. Q3 answer is D.</a:t>
            </a:r>
            <a:br/>
            <a:r>
              <a:t>Q4 answer is B..."</a:t>
            </a:r>
            <a:br/>
            <a:br/>
            <a:r>
              <a:t>Memorizes exact answers, no concept</a:t>
            </a:r>
            <a:br/>
            <a:br/>
            <a:r>
              <a:t>Practice test: 99% correct (memorized!)</a:t>
            </a:r>
            <a:br/>
            <a:r>
              <a:t>Real exam: 30% correct (different Q's!)</a:t>
            </a:r>
            <a:br/>
            <a:br/>
            <a:r>
              <a:t>Slightly different questions?</a:t>
            </a:r>
            <a:br/>
            <a:r>
              <a:t>COMPLETELY LOST. Never learned why.</a:t>
            </a:r>
            <a:br/>
            <a:br/>
            <a:r>
              <a:t>This = OVERFITTING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840480"/>
            <a:ext cx="10972800" cy="246888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886200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DC32"/>
                </a:solidFill>
              </a:defRPr>
            </a:pPr>
            <a:r>
              <a:t>How to SPOT and PREVENT overfitting: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4206240"/>
            <a:ext cx="3611880" cy="192024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4251960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5050"/>
                </a:solidFill>
              </a:defRPr>
            </a:pPr>
            <a:r>
              <a:t>HOW TO SPOT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572000"/>
            <a:ext cx="3429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8C8D2"/>
                </a:solidFill>
              </a:defRPr>
            </a:pPr>
            <a:r>
              <a:t>Training accuracy: 99%</a:t>
            </a:r>
            <a:br/>
            <a:r>
              <a:t>Test accuracy: 30%</a:t>
            </a:r>
            <a:br/>
            <a:br/>
            <a:r>
              <a:t>BIG GAP between</a:t>
            </a:r>
            <a:br/>
            <a:r>
              <a:t>train and test</a:t>
            </a:r>
            <a:br/>
            <a:r>
              <a:t>= OVERFITTING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51960" y="4206240"/>
            <a:ext cx="3611880" cy="192024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43400" y="4251960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A500"/>
                </a:solidFill>
              </a:defRPr>
            </a:pPr>
            <a:r>
              <a:t>vs BAD DATA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43400" y="4572000"/>
            <a:ext cx="3429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8C8D2"/>
                </a:solidFill>
              </a:defRPr>
            </a:pPr>
            <a:r>
              <a:t>Training accuracy: 45%</a:t>
            </a:r>
            <a:br/>
            <a:r>
              <a:t>Test accuracy: 40%</a:t>
            </a:r>
            <a:br/>
            <a:br/>
            <a:r>
              <a:t>LOW on BOTH</a:t>
            </a:r>
            <a:br/>
            <a:r>
              <a:t>= data problem,</a:t>
            </a:r>
            <a:br/>
            <a:r>
              <a:t>not overfitting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46720" y="4206240"/>
            <a:ext cx="3611880" cy="192024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38160" y="4251960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0C864"/>
                </a:solidFill>
              </a:defRPr>
            </a:pPr>
            <a:r>
              <a:t>HOW TO FIX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0" y="4572000"/>
            <a:ext cx="3429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8C8D2"/>
                </a:solidFill>
              </a:defRPr>
            </a:pPr>
            <a:r>
              <a:t>1. Get MORE training data</a:t>
            </a:r>
            <a:br/>
            <a:r>
              <a:t>2. Simplify the model</a:t>
            </a:r>
            <a:br/>
            <a:r>
              <a:t>3. Use regularization</a:t>
            </a:r>
            <a:br/>
            <a:r>
              <a:t>4. Stop training earlier</a:t>
            </a:r>
            <a:br/>
            <a:r>
              <a:t>5. Data augmentation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C864"/>
                </a:solidFill>
              </a:defRPr>
            </a:pPr>
            <a:r>
              <a:t>Supervised — Classification Models Table (Answer = WORD)</a:t>
            </a:r>
          </a:p>
        </p:txBody>
      </p:sp>
      <p:sp>
        <p:nvSpPr>
          <p:cNvPr id="3" name="Rectangle 2"/>
          <p:cNvSpPr/>
          <p:nvPr/>
        </p:nvSpPr>
        <p:spPr>
          <a:xfrm>
            <a:off x="274320" y="548640"/>
            <a:ext cx="1828800" cy="91440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594360"/>
            <a:ext cx="1737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864"/>
                </a:solidFill>
              </a:defRPr>
            </a:pPr>
            <a:r>
              <a:t>Logistic Regression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2148840" y="548640"/>
            <a:ext cx="2880360" cy="91440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194560" y="594360"/>
            <a:ext cx="2788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8C8D2"/>
                </a:solidFill>
              </a:defRPr>
            </a:pPr>
            <a:r>
              <a:t>Draws a straight LINE between 2 groups.</a:t>
            </a:r>
            <a:br/>
            <a:r>
              <a:t>Data points on one side = Group A,</a:t>
            </a:r>
            <a:br/>
            <a:r>
              <a:t>other side = Group B. Simple &amp; fast.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74920" y="548640"/>
            <a:ext cx="2743200" cy="91440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20640" y="594360"/>
            <a:ext cx="26517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8C8D2"/>
                </a:solidFill>
              </a:defRPr>
            </a:pPr>
            <a:r>
              <a:t>Small data (&lt;5K rows)</a:t>
            </a:r>
            <a:br/>
            <a:r>
              <a:t>Only 2 categories needed</a:t>
            </a:r>
            <a:br/>
            <a:r>
              <a:t>Need quick, explainable results</a:t>
            </a:r>
            <a:br/>
            <a:r>
              <a:t>Good as FIRST model to try</a:t>
            </a:r>
          </a:p>
        </p:txBody>
      </p:sp>
      <p:sp>
        <p:nvSpPr>
          <p:cNvPr id="9" name="Rectangle 8"/>
          <p:cNvSpPr/>
          <p:nvPr/>
        </p:nvSpPr>
        <p:spPr>
          <a:xfrm>
            <a:off x="7863840" y="548640"/>
            <a:ext cx="3840480" cy="91440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09560" y="594360"/>
            <a:ext cx="374903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</a:defRPr>
            </a:pPr>
            <a:r>
              <a:t>Email Spam: 5000 emails with features</a:t>
            </a:r>
            <a:br/>
            <a:r>
              <a:t>(word count=24, links=3, '!'=6).</a:t>
            </a:r>
            <a:br/>
            <a:r>
              <a:t>Model draws line: one side=Spam,</a:t>
            </a:r>
            <a:br/>
            <a:r>
              <a:t>other=Not Spam. 89% accurate.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1554480"/>
            <a:ext cx="1828800" cy="91440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1600200"/>
            <a:ext cx="1737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96FF"/>
                </a:solidFill>
              </a:defRPr>
            </a:pPr>
            <a:r>
              <a:t>Decision Tree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148840" y="1554480"/>
            <a:ext cx="2880360" cy="91440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94560" y="1600200"/>
            <a:ext cx="2788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8C8D2"/>
                </a:solidFill>
              </a:defRPr>
            </a:pPr>
            <a:r>
              <a:t>Flowchart of YES/NO questions.</a:t>
            </a:r>
            <a:br/>
            <a:r>
              <a:t>Each question splits data further.</a:t>
            </a:r>
            <a:br/>
            <a:r>
              <a:t>Leaf = final answer. Human-readable</a:t>
            </a:r>
            <a:br/>
            <a:r>
              <a:t>path from question to decision.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74920" y="1554480"/>
            <a:ext cx="2743200" cy="91440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640" y="1600200"/>
            <a:ext cx="26517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8C8D2"/>
                </a:solidFill>
              </a:defRPr>
            </a:pPr>
            <a:r>
              <a:t>Need to EXPLAIN the decision</a:t>
            </a:r>
            <a:br/>
            <a:r>
              <a:t>Banks: why loan rejected?</a:t>
            </a:r>
            <a:br/>
            <a:r>
              <a:t>Hospitals: why this diagnosis?</a:t>
            </a:r>
            <a:br/>
            <a:r>
              <a:t>Legal/compliance requires transparency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63840" y="1554480"/>
            <a:ext cx="3840480" cy="91440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09560" y="1600200"/>
            <a:ext cx="374903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</a:defRPr>
            </a:pPr>
            <a:r>
              <a:t>Bank Loan: Income &gt; 50K? YES →</a:t>
            </a:r>
            <a:br/>
            <a:r>
              <a:t>Credit score &gt; 700? YES →</a:t>
            </a:r>
            <a:br/>
            <a:r>
              <a:t>Existing loans &gt; 3? NO →</a:t>
            </a:r>
            <a:br/>
            <a:r>
              <a:t>Result: APPROVED. Customer sees WHY.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2560320"/>
            <a:ext cx="1828800" cy="91440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0040" y="2606040"/>
            <a:ext cx="1737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A500"/>
                </a:solidFill>
              </a:defRPr>
            </a:pPr>
            <a:r>
              <a:t>Random Forest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148840" y="2560320"/>
            <a:ext cx="2880360" cy="91440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194560" y="2606040"/>
            <a:ext cx="2788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8C8D2"/>
                </a:solidFill>
              </a:defRPr>
            </a:pPr>
            <a:r>
              <a:t>Builds 100+ Decision Trees, each</a:t>
            </a:r>
            <a:br/>
            <a:r>
              <a:t>trained on different random samples.</a:t>
            </a:r>
            <a:br/>
            <a:r>
              <a:t>Each tree votes independently.</a:t>
            </a:r>
            <a:br/>
            <a:r>
              <a:t>Majority vote = final answer.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74920" y="2560320"/>
            <a:ext cx="2743200" cy="91440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20640" y="2606040"/>
            <a:ext cx="26517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8C8D2"/>
                </a:solidFill>
              </a:defRPr>
            </a:pPr>
            <a:r>
              <a:t>Want BEST accuracy possible</a:t>
            </a:r>
            <a:br/>
            <a:r>
              <a:t>Data is complex with many features</a:t>
            </a:r>
            <a:br/>
            <a:r>
              <a:t>Can accept slower processing speed</a:t>
            </a:r>
            <a:br/>
            <a:r>
              <a:t>Critical decisions (medical, security)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863840" y="2560320"/>
            <a:ext cx="3840480" cy="91440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09560" y="2606040"/>
            <a:ext cx="374903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</a:defRPr>
            </a:pPr>
            <a:r>
              <a:t>Disease Diagnosis: Patient has fever,</a:t>
            </a:r>
            <a:br/>
            <a:r>
              <a:t>cough, fatigue. 100 trees vote:</a:t>
            </a:r>
            <a:br/>
            <a:r>
              <a:t>73=Dengue, 18=Malaria, 9=Flu.</a:t>
            </a:r>
            <a:br/>
            <a:r>
              <a:t>Answer: DENGUE. Like 100 doctors.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3566160"/>
            <a:ext cx="1828800" cy="91440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20040" y="3611880"/>
            <a:ext cx="1737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B464FF"/>
                </a:solidFill>
              </a:defRPr>
            </a:pPr>
            <a:r>
              <a:t>SVM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148840" y="3566160"/>
            <a:ext cx="2880360" cy="91440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194560" y="3611880"/>
            <a:ext cx="2788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8C8D2"/>
                </a:solidFill>
              </a:defRPr>
            </a:pPr>
            <a:r>
              <a:t>Finds the boundary with MAXIMUM</a:t>
            </a:r>
            <a:br/>
            <a:r>
              <a:t>gap (margin) between 2 groups.</a:t>
            </a:r>
            <a:br/>
            <a:r>
              <a:t>Wider gap = more confident separation.</a:t>
            </a:r>
            <a:br/>
            <a:r>
              <a:t>Mathematically strongest boundary.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74920" y="3566160"/>
            <a:ext cx="2743200" cy="91440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20640" y="3611880"/>
            <a:ext cx="26517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8C8D2"/>
                </a:solidFill>
              </a:defRPr>
            </a:pPr>
            <a:r>
              <a:t>Groups have clear separation</a:t>
            </a:r>
            <a:br/>
            <a:r>
              <a:t>Medium-sized dataset</a:t>
            </a:r>
            <a:br/>
            <a:r>
              <a:t>Text classification problems</a:t>
            </a:r>
            <a:br/>
            <a:r>
              <a:t>Fewer categories (2-5 ideal)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863840" y="3566160"/>
            <a:ext cx="3840480" cy="91440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909560" y="3611880"/>
            <a:ext cx="374903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</a:defRPr>
            </a:pPr>
            <a:r>
              <a:t>Handwriting: Is this letter A or B?</a:t>
            </a:r>
            <a:br/>
            <a:r>
              <a:t>Each letter = pixel numbers (vector).</a:t>
            </a:r>
            <a:br/>
            <a:r>
              <a:t>SVM finds widest gap between all</a:t>
            </a:r>
            <a:br/>
            <a:r>
              <a:t>A samples and all B samples.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4572000"/>
            <a:ext cx="1828800" cy="91440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20040" y="4617720"/>
            <a:ext cx="1737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B4B4"/>
                </a:solidFill>
              </a:defRPr>
            </a:pPr>
            <a:r>
              <a:t>KNN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148840" y="4572000"/>
            <a:ext cx="2880360" cy="91440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194560" y="4617720"/>
            <a:ext cx="2788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8C8D2"/>
                </a:solidFill>
              </a:defRPr>
            </a:pPr>
            <a:r>
              <a:t>For new data point, look at the K</a:t>
            </a:r>
            <a:br/>
            <a:r>
              <a:t>closest existing points (neighbors).</a:t>
            </a:r>
            <a:br/>
            <a:r>
              <a:t>Whatever the majority of neighbors</a:t>
            </a:r>
            <a:br/>
            <a:r>
              <a:t>are = that's your answer.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74920" y="4572000"/>
            <a:ext cx="2743200" cy="91440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120640" y="4617720"/>
            <a:ext cx="26517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8C8D2"/>
                </a:solidFill>
              </a:defRPr>
            </a:pPr>
            <a:r>
              <a:t>Small dataset (slow on large data)</a:t>
            </a:r>
            <a:br/>
            <a:r>
              <a:t>Simple, intuitive classification</a:t>
            </a:r>
            <a:br/>
            <a:r>
              <a:t>No training needed (lazy learner)</a:t>
            </a:r>
            <a:br/>
            <a:r>
              <a:t>Good for quick prototyping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863840" y="4572000"/>
            <a:ext cx="3840480" cy="91440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909560" y="4617720"/>
            <a:ext cx="374903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</a:defRPr>
            </a:pPr>
            <a:r>
              <a:t>House: Cheap/Medium/Expensive?</a:t>
            </a:r>
            <a:br/>
            <a:r>
              <a:t>Look at 5 nearest houses by size/age.</a:t>
            </a:r>
            <a:br/>
            <a:r>
              <a:t>3 nearest = Expensive, 1 Medium, 1 Cheap</a:t>
            </a:r>
            <a:br/>
            <a:r>
              <a:t>→ Your house = Expensive (majority).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74320" y="5577840"/>
            <a:ext cx="1828800" cy="91440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20040" y="5623559"/>
            <a:ext cx="1737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5050"/>
                </a:solidFill>
              </a:defRPr>
            </a:pPr>
            <a:r>
              <a:t>CNN (Deep Learning)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148840" y="5577840"/>
            <a:ext cx="2880360" cy="91440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194560" y="5623559"/>
            <a:ext cx="2788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8C8D2"/>
                </a:solidFill>
              </a:defRPr>
            </a:pPr>
            <a:r>
              <a:t>Layers of filters find visual patterns.</a:t>
            </a:r>
            <a:br/>
            <a:r>
              <a:t>Layer 1: edges/lines. Layer 2: shapes.</a:t>
            </a:r>
            <a:br/>
            <a:r>
              <a:t>Layer 3: objects. Layer 4: final answer.</a:t>
            </a:r>
            <a:br/>
            <a:r>
              <a:t>THE ONLY model that handles images.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074920" y="5577840"/>
            <a:ext cx="2743200" cy="91440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120640" y="5623559"/>
            <a:ext cx="26517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8C8D2"/>
                </a:solidFill>
              </a:defRPr>
            </a:pPr>
            <a:r>
              <a:t>ANY image or video data</a:t>
            </a:r>
            <a:br/>
            <a:r>
              <a:t>No other model works on pixels</a:t>
            </a:r>
            <a:br/>
            <a:r>
              <a:t>Use Transfer Learning (pre-trained)</a:t>
            </a:r>
            <a:br/>
            <a:r>
              <a:t>ExamGuard: camera feeds!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863840" y="5577840"/>
            <a:ext cx="3840480" cy="91440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909560" y="5623559"/>
            <a:ext cx="374903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</a:defRPr>
            </a:pPr>
            <a:r>
              <a:t>ExamGuard: Camera frame enters CNN.</a:t>
            </a:r>
            <a:br/>
            <a:r>
              <a:t>Layer 1: edges → Layer 2: shapes →</a:t>
            </a:r>
            <a:br/>
            <a:r>
              <a:t>Layer 3: head direction → Layer 4:</a:t>
            </a:r>
            <a:br/>
            <a:r>
              <a:t>'Looking at neighbor' = CHEATING!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A500"/>
                </a:solidFill>
              </a:defRPr>
            </a:pPr>
            <a:r>
              <a:t>Supervised — Regression Models Table (Answer = NUMBER)</a:t>
            </a:r>
          </a:p>
        </p:txBody>
      </p:sp>
      <p:sp>
        <p:nvSpPr>
          <p:cNvPr id="3" name="Rectangle 2"/>
          <p:cNvSpPr/>
          <p:nvPr/>
        </p:nvSpPr>
        <p:spPr>
          <a:xfrm>
            <a:off x="274320" y="548640"/>
            <a:ext cx="1828800" cy="105156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594360"/>
            <a:ext cx="1737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864"/>
                </a:solidFill>
              </a:defRPr>
            </a:pPr>
            <a:r>
              <a:t>Linear Regression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2148840" y="548640"/>
            <a:ext cx="2880360" cy="105156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194560" y="594360"/>
            <a:ext cx="2788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8C8D2"/>
                </a:solidFill>
              </a:defRPr>
            </a:pPr>
            <a:r>
              <a:t>Draws the best STRAIGHT line through</a:t>
            </a:r>
            <a:br/>
            <a:r>
              <a:t>all data points. Uses the line to predict</a:t>
            </a:r>
            <a:br/>
            <a:r>
              <a:t>new values. Simplest regression model.</a:t>
            </a:r>
            <a:br/>
            <a:r>
              <a:t>Like a ruler through scattered dots.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74920" y="548640"/>
            <a:ext cx="2743200" cy="105156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20640" y="594360"/>
            <a:ext cx="2651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8C8D2"/>
                </a:solidFill>
              </a:defRPr>
            </a:pPr>
            <a:r>
              <a:t>Simple, straight-line relationship</a:t>
            </a:r>
            <a:br/>
            <a:r>
              <a:t>Small data, quick first attempt</a:t>
            </a:r>
            <a:br/>
            <a:r>
              <a:t>Need explainable baseline result</a:t>
            </a:r>
            <a:br/>
            <a:r>
              <a:t>ALWAYS try this first</a:t>
            </a:r>
          </a:p>
        </p:txBody>
      </p:sp>
      <p:sp>
        <p:nvSpPr>
          <p:cNvPr id="9" name="Rectangle 8"/>
          <p:cNvSpPr/>
          <p:nvPr/>
        </p:nvSpPr>
        <p:spPr>
          <a:xfrm>
            <a:off x="7863840" y="548640"/>
            <a:ext cx="3840480" cy="105156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09560" y="594360"/>
            <a:ext cx="374903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</a:defRPr>
            </a:pPr>
            <a:r>
              <a:t>House price from size:</a:t>
            </a:r>
            <a:br/>
            <a:r>
              <a:t>1000 sqft = Rs 50L, 1500 = Rs 75L,</a:t>
            </a:r>
            <a:br/>
            <a:r>
              <a:t>2000 = Rs 100L. Draw line through.</a:t>
            </a:r>
            <a:br/>
            <a:r>
              <a:t>New: 1400 sqft → follow line → Rs 70L.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1691640"/>
            <a:ext cx="1828800" cy="105156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1737360"/>
            <a:ext cx="1737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A500"/>
                </a:solidFill>
              </a:defRPr>
            </a:pPr>
            <a:r>
              <a:t>Polynomial Regression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148840" y="1691640"/>
            <a:ext cx="2880360" cy="105156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94560" y="1737360"/>
            <a:ext cx="2788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8C8D2"/>
                </a:solidFill>
              </a:defRPr>
            </a:pPr>
            <a:r>
              <a:t>Draws the best CURVED line when</a:t>
            </a:r>
            <a:br/>
            <a:r>
              <a:t>the relationship bends up or down.</a:t>
            </a:r>
            <a:br/>
            <a:r>
              <a:t>Captures U-shapes, peaks, valleys.</a:t>
            </a:r>
            <a:br/>
            <a:r>
              <a:t>Use when Linear clearly doesn't fit.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74920" y="1691640"/>
            <a:ext cx="2743200" cy="105156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640" y="1737360"/>
            <a:ext cx="2651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8C8D2"/>
                </a:solidFill>
              </a:defRPr>
            </a:pPr>
            <a:r>
              <a:t>Relationship clearly curves</a:t>
            </a:r>
            <a:br/>
            <a:r>
              <a:t>(goes up then down, or vice versa)</a:t>
            </a:r>
            <a:br/>
            <a:r>
              <a:t>Linear Regression doesn't fit well</a:t>
            </a:r>
            <a:br/>
            <a:r>
              <a:t>Data has peaks or valleys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63840" y="1691640"/>
            <a:ext cx="3840480" cy="105156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09560" y="1737360"/>
            <a:ext cx="374903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</a:defRPr>
            </a:pPr>
            <a:r>
              <a:t>Crop yield vs fertilizer:</a:t>
            </a:r>
            <a:br/>
            <a:r>
              <a:t>Too little = low yield, right amount =</a:t>
            </a:r>
            <a:br/>
            <a:r>
              <a:t>HIGH yield, too much = yield DROPS!</a:t>
            </a:r>
            <a:br/>
            <a:r>
              <a:t>This U-shape needs a curve, not line.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2834640"/>
            <a:ext cx="1828800" cy="105156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0040" y="2880360"/>
            <a:ext cx="1737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96FF"/>
                </a:solidFill>
              </a:defRPr>
            </a:pPr>
            <a:r>
              <a:t>Decision Tree</a:t>
            </a:r>
            <a:br/>
            <a:r>
              <a:t>Regression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148840" y="2834640"/>
            <a:ext cx="2880360" cy="105156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194560" y="2880360"/>
            <a:ext cx="2788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8C8D2"/>
                </a:solidFill>
              </a:defRPr>
            </a:pPr>
            <a:r>
              <a:t>Same YES/NO flowchart as classification</a:t>
            </a:r>
            <a:br/>
            <a:r>
              <a:t>but predicts a NUMBER at the end.</a:t>
            </a:r>
            <a:br/>
            <a:r>
              <a:t>Each leaf node = a numeric value.</a:t>
            </a:r>
            <a:br/>
            <a:r>
              <a:t>Full transparency — shows HOW.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74920" y="2834640"/>
            <a:ext cx="2743200" cy="105156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20640" y="2880360"/>
            <a:ext cx="2651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8C8D2"/>
                </a:solidFill>
              </a:defRPr>
            </a:pPr>
            <a:r>
              <a:t>Need to EXPLAIN how number was</a:t>
            </a:r>
            <a:br/>
            <a:r>
              <a:t>calculated (government, tax, finance)</a:t>
            </a:r>
            <a:br/>
            <a:r>
              <a:t>Medium complexity data</a:t>
            </a:r>
            <a:br/>
            <a:r>
              <a:t>Non-linear patterns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863840" y="2834640"/>
            <a:ext cx="3840480" cy="105156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09560" y="2880360"/>
            <a:ext cx="374903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</a:defRPr>
            </a:pPr>
            <a:r>
              <a:t>Property tax: Size &gt; 1500 sqft? YES →</a:t>
            </a:r>
            <a:br/>
            <a:r>
              <a:t>Age &lt; 10 years? YES → Location = city</a:t>
            </a:r>
            <a:br/>
            <a:r>
              <a:t>center? YES → Tax = Rs 45,000/year.</a:t>
            </a:r>
            <a:br/>
            <a:r>
              <a:t>Government shows exact calculation path.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3977639"/>
            <a:ext cx="1828800" cy="105156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20040" y="4023359"/>
            <a:ext cx="1737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B464FF"/>
                </a:solidFill>
              </a:defRPr>
            </a:pPr>
            <a:r>
              <a:t>Random Forest</a:t>
            </a:r>
            <a:br/>
            <a:r>
              <a:t>Regression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148840" y="3977639"/>
            <a:ext cx="2880360" cy="105156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194560" y="4023359"/>
            <a:ext cx="2788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8C8D2"/>
                </a:solidFill>
              </a:defRPr>
            </a:pPr>
            <a:r>
              <a:t>100+ Decision Trees each predict a</a:t>
            </a:r>
            <a:br/>
            <a:r>
              <a:t>number independently. Final answer =</a:t>
            </a:r>
            <a:br/>
            <a:r>
              <a:t>AVERAGE of all predictions. Errors from</a:t>
            </a:r>
            <a:br/>
            <a:r>
              <a:t>individual trees cancel each other out.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74920" y="3977639"/>
            <a:ext cx="2743200" cy="105156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20640" y="4023359"/>
            <a:ext cx="2651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8C8D2"/>
                </a:solidFill>
              </a:defRPr>
            </a:pPr>
            <a:r>
              <a:t>Want BEST accuracy for numbers</a:t>
            </a:r>
            <a:br/>
            <a:r>
              <a:t>Many features to consider</a:t>
            </a:r>
            <a:br/>
            <a:r>
              <a:t>Complex relationships in data</a:t>
            </a:r>
            <a:br/>
            <a:r>
              <a:t>Can accept slightly slower speed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863840" y="3977639"/>
            <a:ext cx="3840480" cy="105156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909560" y="4023359"/>
            <a:ext cx="374903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</a:defRPr>
            </a:pPr>
            <a:r>
              <a:t>Food delivery time: 100 trees consider</a:t>
            </a:r>
            <a:br/>
            <a:r>
              <a:t>distance, traffic, weather, time of day,</a:t>
            </a:r>
            <a:br/>
            <a:r>
              <a:t>restaurant prep time. Average of all:</a:t>
            </a:r>
            <a:br/>
            <a:r>
              <a:t>42 minutes (±3 min). Very reliable.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5120640"/>
            <a:ext cx="1828800" cy="105156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20040" y="5166359"/>
            <a:ext cx="1737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5050"/>
                </a:solidFill>
              </a:defRPr>
            </a:pPr>
            <a:r>
              <a:t>Neural Network</a:t>
            </a:r>
            <a:br/>
            <a:r>
              <a:t>Regression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148840" y="5120640"/>
            <a:ext cx="2880360" cy="105156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194560" y="5166359"/>
            <a:ext cx="2788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8C8D2"/>
                </a:solidFill>
              </a:defRPr>
            </a:pPr>
            <a:r>
              <a:t>MANY layers of neurons process data.</a:t>
            </a:r>
            <a:br/>
            <a:r>
              <a:t>Handles extremely complex patterns</a:t>
            </a:r>
            <a:br/>
            <a:r>
              <a:t>with 50+ input features. Most powerful</a:t>
            </a:r>
            <a:br/>
            <a:r>
              <a:t>but needs massive data to train.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74920" y="5120640"/>
            <a:ext cx="2743200" cy="105156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120640" y="5166359"/>
            <a:ext cx="2651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8C8D2"/>
                </a:solidFill>
              </a:defRPr>
            </a:pPr>
            <a:r>
              <a:t>Massive data (100K+ rows)</a:t>
            </a:r>
            <a:br/>
            <a:r>
              <a:t>50+ input features</a:t>
            </a:r>
            <a:br/>
            <a:r>
              <a:t>Complex non-linear relationships</a:t>
            </a:r>
            <a:br/>
            <a:r>
              <a:t>Other models gave poor results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863840" y="5120640"/>
            <a:ext cx="3840480" cy="105156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909560" y="5166359"/>
            <a:ext cx="374903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</a:defRPr>
            </a:pPr>
            <a:r>
              <a:t>Stock price prediction:</a:t>
            </a:r>
            <a:br/>
            <a:r>
              <a:t>Features: past 30 days prices, volume,</a:t>
            </a:r>
            <a:br/>
            <a:r>
              <a:t>news sentiment, earnings, market index,</a:t>
            </a:r>
            <a:br/>
            <a:r>
              <a:t>interest rates → Tomorrow: Rs 2,847.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74320" y="63550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DC32"/>
                </a:solidFill>
              </a:defRPr>
            </a:pPr>
            <a:r>
              <a:t>Linear first → if curved: Polynomial → if need explanation: Decision Tree → if best accuracy: Random Forest → if massive+complex: Neural Network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B464FF"/>
                </a:solidFill>
              </a:defRPr>
            </a:pPr>
            <a:r>
              <a:t>Unsupervised — Clustering &amp; Anomaly Models (NO Labels)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5486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C864"/>
                </a:solidFill>
              </a:defRPr>
            </a:pPr>
            <a:r>
              <a:t>CLUSTERING — Group Similar Things Together (no one tells the model what groups exist)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868680"/>
            <a:ext cx="1828800" cy="105156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914400"/>
            <a:ext cx="1737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864"/>
                </a:solidFill>
              </a:defRPr>
            </a:pPr>
            <a:r>
              <a:t>K-Means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148840" y="868680"/>
            <a:ext cx="2880360" cy="105156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194560" y="914400"/>
            <a:ext cx="2788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8C8D2"/>
                </a:solidFill>
              </a:defRPr>
            </a:pPr>
            <a:r>
              <a:t>Divides data into exactly K groups.</a:t>
            </a:r>
            <a:br/>
            <a:r>
              <a:t>YOU tell it how many groups (K=3, K=5).</a:t>
            </a:r>
            <a:br/>
            <a:r>
              <a:t>Each data point assigned to nearest</a:t>
            </a:r>
            <a:br/>
            <a:r>
              <a:t>group center. Fast and simple.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74920" y="868680"/>
            <a:ext cx="2743200" cy="105156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0" y="914400"/>
            <a:ext cx="2651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8C8D2"/>
                </a:solidFill>
              </a:defRPr>
            </a:pPr>
            <a:r>
              <a:t>Know approximately how many</a:t>
            </a:r>
            <a:br/>
            <a:r>
              <a:t>groups you want (K=3 for marketing)</a:t>
            </a:r>
            <a:br/>
            <a:r>
              <a:t>Data is numeric (numbers)</a:t>
            </a:r>
            <a:br/>
            <a:r>
              <a:t>Want fast results on large data</a:t>
            </a:r>
          </a:p>
        </p:txBody>
      </p:sp>
      <p:sp>
        <p:nvSpPr>
          <p:cNvPr id="10" name="Rectangle 9"/>
          <p:cNvSpPr/>
          <p:nvPr/>
        </p:nvSpPr>
        <p:spPr>
          <a:xfrm>
            <a:off x="7863840" y="868680"/>
            <a:ext cx="3840480" cy="105156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09560" y="914400"/>
            <a:ext cx="374903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</a:defRPr>
            </a:pPr>
            <a:r>
              <a:t>Shopping mall: 10,000 customers.</a:t>
            </a:r>
            <a:br/>
            <a:r>
              <a:t>K=3 finds: Group 1: Young, daily, low</a:t>
            </a:r>
            <a:br/>
            <a:r>
              <a:t>spend = 'Budget'. Group 2: Old, monthly,</a:t>
            </a:r>
            <a:br/>
            <a:r>
              <a:t>high = 'Premium'. Group 3: Sale-only = 'Deal'.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2011680"/>
            <a:ext cx="1828800" cy="105156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040" y="2057400"/>
            <a:ext cx="1737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96FF"/>
                </a:solidFill>
              </a:defRPr>
            </a:pPr>
            <a:r>
              <a:t>DBSCAN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148840" y="2011680"/>
            <a:ext cx="2880360" cy="105156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194560" y="2057400"/>
            <a:ext cx="2788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8C8D2"/>
                </a:solidFill>
              </a:defRPr>
            </a:pPr>
            <a:r>
              <a:t>Finds groups NATURALLY without K.</a:t>
            </a:r>
            <a:br/>
            <a:r>
              <a:t>Discovers how many clusters exist on</a:t>
            </a:r>
            <a:br/>
            <a:r>
              <a:t>its own. Also AUTOMATICALLY flags</a:t>
            </a:r>
            <a:br/>
            <a:r>
              <a:t>points that don't belong = outliers.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74920" y="2011680"/>
            <a:ext cx="2743200" cy="105156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0" y="2057400"/>
            <a:ext cx="2651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8C8D2"/>
                </a:solidFill>
              </a:defRPr>
            </a:pPr>
            <a:r>
              <a:t>Don't know how many groups exist</a:t>
            </a:r>
            <a:br/>
            <a:r>
              <a:t>Data might have noise/outliers</a:t>
            </a:r>
            <a:br/>
            <a:r>
              <a:t>Groups have irregular shapes</a:t>
            </a:r>
            <a:br/>
            <a:r>
              <a:t>Want automatic outlier detection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863840" y="2011680"/>
            <a:ext cx="3840480" cy="105156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09560" y="2057400"/>
            <a:ext cx="374903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</a:defRPr>
            </a:pPr>
            <a:r>
              <a:t>200 delivery trucks GPS data.</a:t>
            </a:r>
            <a:br/>
            <a:r>
              <a:t>Finds: 4 route clusters (city / highway /</a:t>
            </a:r>
            <a:br/>
            <a:r>
              <a:t>suburb / mixed) + flags 2 trucks as</a:t>
            </a:r>
            <a:br/>
            <a:r>
              <a:t>OUTLIERS (went to completely wrong areas).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" y="32004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5050"/>
                </a:solidFill>
              </a:defRPr>
            </a:pPr>
            <a:r>
              <a:t>ANOMALY DETECTION — Spot the Weird One That Doesn't Fit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3520440"/>
            <a:ext cx="1828800" cy="114300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20040" y="3566160"/>
            <a:ext cx="1737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A500"/>
                </a:solidFill>
              </a:defRPr>
            </a:pPr>
            <a:r>
              <a:t>Isolation Forest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148840" y="3520440"/>
            <a:ext cx="2880360" cy="114300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194560" y="3566160"/>
            <a:ext cx="27889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8C8D2"/>
                </a:solidFill>
              </a:defRPr>
            </a:pPr>
            <a:r>
              <a:t>Isolates unusual data points by asking</a:t>
            </a:r>
            <a:br/>
            <a:r>
              <a:t>random questions. Normal data = hard</a:t>
            </a:r>
            <a:br/>
            <a:r>
              <a:t>to isolate (many questions). Abnormal =</a:t>
            </a:r>
            <a:br/>
            <a:r>
              <a:t>isolated in 2-3 questions = FLAGGED.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74920" y="3520440"/>
            <a:ext cx="2743200" cy="114300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20640" y="3566160"/>
            <a:ext cx="26517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8C8D2"/>
                </a:solidFill>
              </a:defRPr>
            </a:pPr>
            <a:r>
              <a:t>Finding RARE events (&lt;1% of data)</a:t>
            </a:r>
            <a:br/>
            <a:r>
              <a:t>Fraud detection, system failures</a:t>
            </a:r>
            <a:br/>
            <a:r>
              <a:t>Security threat detection</a:t>
            </a:r>
            <a:br/>
            <a:r>
              <a:t>Data has clear 'normal' majority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863840" y="3520440"/>
            <a:ext cx="3840480" cy="114300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9560" y="3566160"/>
            <a:ext cx="3749039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</a:defRPr>
            </a:pPr>
            <a:r>
              <a:t>1M credit card transactions. Normal:</a:t>
            </a:r>
            <a:br/>
            <a:r>
              <a:t>Rs 500, local, daytime = blends in, needs</a:t>
            </a:r>
            <a:br/>
            <a:r>
              <a:t>many Q's. Fraud: Rs 5L, Dubai, 3AM =</a:t>
            </a:r>
            <a:br/>
            <a:r>
              <a:t>isolated in 2 questions! Like dinosaur</a:t>
            </a:r>
            <a:br/>
            <a:r>
              <a:t>at cricket match = obvious outlier.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4754880"/>
            <a:ext cx="1828800" cy="114300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20040" y="4800600"/>
            <a:ext cx="1737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B464FF"/>
                </a:solidFill>
              </a:defRPr>
            </a:pPr>
            <a:r>
              <a:t>Autoencoder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148840" y="4754880"/>
            <a:ext cx="2880360" cy="114300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194560" y="4800600"/>
            <a:ext cx="27889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8C8D2"/>
                </a:solidFill>
              </a:defRPr>
            </a:pPr>
            <a:r>
              <a:t>Neural network trained on NORMAL</a:t>
            </a:r>
            <a:br/>
            <a:r>
              <a:t>data only. Learns to compress &amp; recreate</a:t>
            </a:r>
            <a:br/>
            <a:r>
              <a:t>normal patterns. New data that it CAN'T</a:t>
            </a:r>
            <a:br/>
            <a:r>
              <a:t>recreate well = high error = ANOMALY.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74920" y="4754880"/>
            <a:ext cx="2743200" cy="114300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120640" y="4800600"/>
            <a:ext cx="26517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8C8D2"/>
                </a:solidFill>
              </a:defRPr>
            </a:pPr>
            <a:r>
              <a:t>Learn what 'normal' looks like</a:t>
            </a:r>
            <a:br/>
            <a:r>
              <a:t>Catch ANY deviation from normal</a:t>
            </a:r>
            <a:br/>
            <a:r>
              <a:t>Even anomalies NEVER seen before</a:t>
            </a:r>
            <a:br/>
            <a:r>
              <a:t>Good for images, time series, behavior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863840" y="4754880"/>
            <a:ext cx="3840480" cy="114300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909560" y="4800600"/>
            <a:ext cx="3749039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</a:defRPr>
            </a:pPr>
            <a:r>
              <a:t>Factory: trained on 10K photos of GOOD</a:t>
            </a:r>
            <a:br/>
            <a:r>
              <a:t>brake pads. Good pad → recreates</a:t>
            </a:r>
            <a:br/>
            <a:r>
              <a:t>perfectly → PASS. Defective pad (crack,</a:t>
            </a:r>
            <a:br/>
            <a:r>
              <a:t>chip) → can't recreate → high error →</a:t>
            </a:r>
            <a:br/>
            <a:r>
              <a:t>DEFECTIVE! Catches unseen defects.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74320" y="608076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DC32"/>
                </a:solidFill>
              </a:defRPr>
            </a:pPr>
            <a:r>
              <a:t>Know groups? → K-Means  |  Don't know + outliers? → DBSCAN  |  Find rare? → Isolation Forest  |  Learn normal? → Autoencoder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A500"/>
                </a:solidFill>
              </a:defRPr>
            </a:pPr>
            <a:r>
              <a:t>Reinforcement Learning — Applications &amp; Real Examples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50292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C8C8D2"/>
                </a:solidFill>
              </a:defRPr>
            </a:pPr>
            <a:r>
              <a:t>Agent tries actions → gets reward/penalty → discovers strategy over time. We define WHAT success is, model learns HOW.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822960"/>
            <a:ext cx="1645920" cy="100584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868680"/>
            <a:ext cx="15544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C864"/>
                </a:solidFill>
              </a:defRPr>
            </a:pPr>
            <a:r>
              <a:t>YouTube</a:t>
            </a:r>
            <a:br/>
            <a:r>
              <a:t>Recommendation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1965960" y="822960"/>
            <a:ext cx="2743200" cy="100584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868680"/>
            <a:ext cx="2651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8C8D2"/>
                </a:solidFill>
              </a:defRPr>
            </a:pPr>
            <a:r>
              <a:t>Agent: The recommendation algorithm</a:t>
            </a:r>
            <a:br/>
            <a:r>
              <a:t>that decides which video to show next.</a:t>
            </a:r>
            <a:br/>
            <a:r>
              <a:t>Environment: YouTube platform with</a:t>
            </a:r>
            <a:br/>
            <a:r>
              <a:t>billions of videos and millions of users.</a:t>
            </a:r>
          </a:p>
        </p:txBody>
      </p:sp>
      <p:sp>
        <p:nvSpPr>
          <p:cNvPr id="8" name="Rectangle 7"/>
          <p:cNvSpPr/>
          <p:nvPr/>
        </p:nvSpPr>
        <p:spPr>
          <a:xfrm>
            <a:off x="4754880" y="822960"/>
            <a:ext cx="2743200" cy="100584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00600" y="868680"/>
            <a:ext cx="2651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8C8D2"/>
                </a:solidFill>
              </a:defRPr>
            </a:pPr>
            <a:r>
              <a:t>Reward: User watches full video, likes,</a:t>
            </a:r>
            <a:br/>
            <a:r>
              <a:t>shares, subscribes = positive signal.</a:t>
            </a:r>
            <a:br/>
            <a:r>
              <a:t>Penalty: User skips in 5 seconds,</a:t>
            </a:r>
            <a:br/>
            <a:r>
              <a:t>clicks away, reports = negative signal.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543800" y="822960"/>
            <a:ext cx="4160520" cy="100584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89520" y="868680"/>
            <a:ext cx="40690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</a:defRPr>
            </a:pPr>
            <a:r>
              <a:t>Learns YOUR personal taste from every</a:t>
            </a:r>
            <a:br/>
            <a:r>
              <a:t>click, watch, and skip. Gets better daily.</a:t>
            </a:r>
            <a:br/>
            <a:r>
              <a:t>Billions of interactions = incredibly accurate.</a:t>
            </a:r>
            <a:br/>
            <a:r>
              <a:t>That's why YouTube feels like it 'knows' you.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1920240"/>
            <a:ext cx="1645920" cy="100584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040" y="1965960"/>
            <a:ext cx="15544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96FF"/>
                </a:solidFill>
              </a:defRPr>
            </a:pPr>
            <a:r>
              <a:t>Chess AI</a:t>
            </a:r>
            <a:br/>
            <a:r>
              <a:t>(AlphaZero)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965960" y="1920240"/>
            <a:ext cx="2743200" cy="100584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011680" y="1965960"/>
            <a:ext cx="2651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8C8D2"/>
                </a:solidFill>
              </a:defRPr>
            </a:pPr>
            <a:r>
              <a:t>Agent: Chess-playing AI program.</a:t>
            </a:r>
            <a:br/>
            <a:r>
              <a:t>Environment: Chess board with all</a:t>
            </a:r>
            <a:br/>
            <a:r>
              <a:t>possible legal moves. Was given the</a:t>
            </a:r>
            <a:br/>
            <a:r>
              <a:t>rules of moves but NO strategies.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54880" y="1920240"/>
            <a:ext cx="2743200" cy="100584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00600" y="1965960"/>
            <a:ext cx="2651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8C8D2"/>
                </a:solidFill>
              </a:defRPr>
            </a:pPr>
            <a:r>
              <a:t>Reward: Win the game = +1</a:t>
            </a:r>
            <a:br/>
            <a:r>
              <a:t>Penalty: Lose the game = -1</a:t>
            </a:r>
            <a:br/>
            <a:r>
              <a:t>Played millions of games against</a:t>
            </a:r>
            <a:br/>
            <a:r>
              <a:t>ITSELF to learn winning strategies.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543800" y="1920240"/>
            <a:ext cx="4160520" cy="100584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89520" y="1965960"/>
            <a:ext cx="40690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</a:defRPr>
            </a:pPr>
            <a:r>
              <a:t>Beat the world's best chess engine in</a:t>
            </a:r>
            <a:br/>
            <a:r>
              <a:t>24 hours of training. Discovered strategies</a:t>
            </a:r>
            <a:br/>
            <a:r>
              <a:t>that humans never thought of in 1500</a:t>
            </a:r>
            <a:br/>
            <a:r>
              <a:t>years of chess. Can't do this with rules!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3017520"/>
            <a:ext cx="1645920" cy="100584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0040" y="3063239"/>
            <a:ext cx="15544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5050"/>
                </a:solidFill>
              </a:defRPr>
            </a:pPr>
            <a:r>
              <a:t>Self-Driving</a:t>
            </a:r>
            <a:br/>
            <a:r>
              <a:t>Car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965960" y="3017520"/>
            <a:ext cx="2743200" cy="100584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011680" y="3063239"/>
            <a:ext cx="2651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8C8D2"/>
                </a:solidFill>
              </a:defRPr>
            </a:pPr>
            <a:r>
              <a:t>Agent: The driving AI controlling</a:t>
            </a:r>
            <a:br/>
            <a:r>
              <a:t>steering, speed, braking.</a:t>
            </a:r>
            <a:br/>
            <a:r>
              <a:t>Environment: Roads with cars, people,</a:t>
            </a:r>
            <a:br/>
            <a:r>
              <a:t>traffic signals, weather conditions.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754880" y="3017520"/>
            <a:ext cx="2743200" cy="100584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00600" y="3063239"/>
            <a:ext cx="2651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8C8D2"/>
                </a:solidFill>
              </a:defRPr>
            </a:pPr>
            <a:r>
              <a:t>Reward: Safe driving = +1</a:t>
            </a:r>
            <a:br/>
            <a:r>
              <a:t>Reach destination = +100</a:t>
            </a:r>
            <a:br/>
            <a:r>
              <a:t>Penalty: Crash = -1000</a:t>
            </a:r>
            <a:br/>
            <a:r>
              <a:t>Human injury = -500, Hard brake = -10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543800" y="3017520"/>
            <a:ext cx="4160520" cy="100584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589520" y="3063239"/>
            <a:ext cx="40690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</a:defRPr>
            </a:pPr>
            <a:r>
              <a:t>Reacts in 0.001 sec (human = 1-2 sec).</a:t>
            </a:r>
            <a:br/>
            <a:r>
              <a:t>Detects child near road 5 sec BEFORE</a:t>
            </a:r>
            <a:br/>
            <a:r>
              <a:t>human would see. Evaluates ALL options</a:t>
            </a:r>
            <a:br/>
            <a:r>
              <a:t>instantly, picks least harm. PREVENTS</a:t>
            </a:r>
            <a:br/>
            <a:r>
              <a:t>emergencies, doesn't just react.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4114800"/>
            <a:ext cx="1645920" cy="100584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20040" y="4160520"/>
            <a:ext cx="15544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A500"/>
                </a:solidFill>
              </a:defRPr>
            </a:pPr>
            <a:r>
              <a:t>ExamGuard</a:t>
            </a:r>
            <a:br/>
            <a:r>
              <a:t>Alert System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965960" y="4114800"/>
            <a:ext cx="2743200" cy="100584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011680" y="4160520"/>
            <a:ext cx="2651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8C8D2"/>
                </a:solidFill>
              </a:defRPr>
            </a:pPr>
            <a:r>
              <a:t>Agent: The alert decision AI.</a:t>
            </a:r>
            <a:br/>
            <a:r>
              <a:t>Environment: Exam hall with multiple</a:t>
            </a:r>
            <a:br/>
            <a:r>
              <a:t>camera feeds showing student behavior.</a:t>
            </a:r>
            <a:br/>
            <a:r>
              <a:t>Must balance alerts vs false alarms.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54880" y="4114800"/>
            <a:ext cx="2743200" cy="100584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00600" y="4160520"/>
            <a:ext cx="2651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8C8D2"/>
                </a:solidFill>
              </a:defRPr>
            </a:pPr>
            <a:r>
              <a:t>Correct alert = +100 points</a:t>
            </a:r>
            <a:br/>
            <a:r>
              <a:t>Correct silence = +10 points</a:t>
            </a:r>
            <a:br/>
            <a:r>
              <a:t>False alarm = -50 points (annoying)</a:t>
            </a:r>
            <a:br/>
            <a:r>
              <a:t>Missed cheating = -200 (dangerous!)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543800" y="4114800"/>
            <a:ext cx="4160520" cy="100584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589520" y="4160520"/>
            <a:ext cx="40690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</a:defRPr>
            </a:pPr>
            <a:r>
              <a:t>Learns over time: Glance 0.5 sec at</a:t>
            </a:r>
            <a:br/>
            <a:r>
              <a:t>neighbor → IGNORE (just looking around).</a:t>
            </a:r>
            <a:br/>
            <a:r>
              <a:t>Stare 5 sec + body leaning → ALERT.</a:t>
            </a:r>
            <a:br/>
            <a:r>
              <a:t>Stare + neighbor covering paper →</a:t>
            </a:r>
            <a:br/>
            <a:r>
              <a:t>HIGH PRIORITY. Gets smarter each exam.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5212080"/>
            <a:ext cx="1645920" cy="100584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20040" y="5257800"/>
            <a:ext cx="15544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B464FF"/>
                </a:solidFill>
              </a:defRPr>
            </a:pPr>
            <a:r>
              <a:t>Robot</a:t>
            </a:r>
            <a:br/>
            <a:r>
              <a:t>Learning to Walk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965960" y="5212080"/>
            <a:ext cx="2743200" cy="100584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011680" y="5257800"/>
            <a:ext cx="2651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8C8D2"/>
                </a:solidFill>
              </a:defRPr>
            </a:pPr>
            <a:r>
              <a:t>Agent: Robot with legs/joints.</a:t>
            </a:r>
            <a:br/>
            <a:r>
              <a:t>Environment: Floor, slopes, obstacles.</a:t>
            </a:r>
            <a:br/>
            <a:r>
              <a:t>No one programs walking — robot</a:t>
            </a:r>
            <a:br/>
            <a:r>
              <a:t>discovers balance through trial.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754880" y="5212080"/>
            <a:ext cx="2743200" cy="100584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800600" y="5257800"/>
            <a:ext cx="2651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8C8D2"/>
                </a:solidFill>
              </a:defRPr>
            </a:pPr>
            <a:r>
              <a:t>Reward: Stay upright = +1</a:t>
            </a:r>
            <a:br/>
            <a:r>
              <a:t>Move forward = +5, Reach goal = +50</a:t>
            </a:r>
            <a:br/>
            <a:r>
              <a:t>Penalty: Fall down = -10</a:t>
            </a:r>
            <a:br/>
            <a:r>
              <a:t>Hit obstacle = -5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543800" y="5212080"/>
            <a:ext cx="4160520" cy="100584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589520" y="5257800"/>
            <a:ext cx="40690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</a:defRPr>
            </a:pPr>
            <a:r>
              <a:t>Episode 1: Falls instantly (0 steps).</a:t>
            </a:r>
            <a:br/>
            <a:r>
              <a:t>Episode 100: Takes 3 shaky steps.</a:t>
            </a:r>
            <a:br/>
            <a:r>
              <a:t>Episode 1000: Walks across room.</a:t>
            </a:r>
            <a:br/>
            <a:r>
              <a:t>Episode 10,000: Walks on ANY terrain</a:t>
            </a:r>
            <a:br/>
            <a:r>
              <a:t>including slopes and uneven surfaces.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74320" y="63550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DC32"/>
                </a:solidFill>
              </a:defRPr>
            </a:pPr>
            <a:r>
              <a:t>Use RL when: Strategy over TIME | Too many scenarios to label | Balance competing goals | Can't use Supervised/Unsupervised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