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96FF"/>
                </a:solidFill>
              </a:defRPr>
            </a:pPr>
            <a:r>
              <a:t>ExamGuard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Intelligent Exam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A500"/>
                </a:solidFill>
              </a:defRPr>
            </a:pPr>
            <a:r>
              <a:t>AI-Powered  |  Multi-Camera  |  Real-Time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850392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480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The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937760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</a:defRPr>
            </a:pPr>
            <a:r>
              <a:t>Watch ALL cameras, ALL students, ALL the time.</a:t>
            </a:r>
            <a:br/>
            <a:r>
              <a:t>Never gets tired. Flags suspicious behavior instantly.</a:t>
            </a:r>
            <a:br/>
            <a:r>
              <a:t>Human makes final decision — AI assists, not punishes.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5050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5050"/>
                </a:solidFill>
              </a:defRPr>
            </a:pPr>
            <a:r>
              <a:t>100+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Students per hall</a:t>
            </a:r>
            <a:br/>
            <a:r>
              <a:t>2-3 invigilators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188720"/>
            <a:ext cx="265176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500"/>
                </a:solidFill>
              </a:defRPr>
            </a:pPr>
            <a:r>
              <a:t>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94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Exam halls</a:t>
            </a:r>
            <a:br/>
            <a:r>
              <a:t>Can't monitor 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265176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C32"/>
                </a:solidFill>
              </a:defRPr>
            </a:pPr>
            <a: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Eyes get tired</a:t>
            </a:r>
            <a:br/>
            <a:r>
              <a:t>Miss things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188720"/>
            <a:ext cx="265176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464FF"/>
                </a:solidFill>
              </a:defRPr>
            </a:pPr>
            <a:r>
              <a:t>0.5s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2194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Cheating happens</a:t>
            </a:r>
            <a:br/>
            <a:r>
              <a:t>in seconds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64"/>
                </a:solidFill>
              </a:defRPr>
            </a:pPr>
            <a:r>
              <a:t>ExamGuard AI Solution: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Multiple Cameras  --&gt;  AI Processes ALL  --&gt;  Flags Suspicious  --&gt;  Human Decides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System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864"/>
                </a:solidFill>
              </a:defRPr>
            </a:pPr>
            <a:r>
              <a:t>Face &amp; Body</a:t>
            </a:r>
            <a:br/>
            <a: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Identify each</a:t>
            </a:r>
            <a:br/>
            <a:r>
              <a:t>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097280"/>
            <a:ext cx="35661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FF"/>
                </a:solidFill>
              </a:defRPr>
            </a:pPr>
            <a:r>
              <a:t>Gaze</a:t>
            </a:r>
            <a:br/>
            <a:r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Where are they</a:t>
            </a:r>
            <a:br/>
            <a:r>
              <a:t>looking?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097280"/>
            <a:ext cx="35661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A500"/>
                </a:solidFill>
              </a:defRPr>
            </a:pPr>
            <a:r>
              <a:t>Object</a:t>
            </a:r>
            <a:br/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Phones, chits</a:t>
            </a:r>
            <a:br/>
            <a:r>
              <a:t>earpieces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35661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464FF"/>
                </a:solidFill>
              </a:defRPr>
            </a:pPr>
            <a:r>
              <a:t>Behavior</a:t>
            </a:r>
            <a:br/>
            <a: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Passing items</a:t>
            </a:r>
            <a:br/>
            <a:r>
              <a:t>hand 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657600"/>
            <a:ext cx="35661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74903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C32"/>
                </a:solidFill>
              </a:defRPr>
            </a:pPr>
            <a:r>
              <a:t>Pattern</a:t>
            </a:r>
            <a:br/>
            <a: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480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Unknown cheating</a:t>
            </a:r>
            <a:br/>
            <a:r>
              <a:t>methods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57600"/>
            <a:ext cx="3566160" cy="2103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Alert</a:t>
            </a:r>
            <a:br/>
            <a: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4805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Flag or ignore?</a:t>
            </a:r>
            <a:br/>
            <a:r>
              <a:t>Avoid false alarms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3 Types of ML in ExamGuard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64"/>
                </a:solidFill>
              </a:defRPr>
            </a:pPr>
            <a:r>
              <a:t>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"WHAT is this?"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Recognize cheating</a:t>
            </a:r>
            <a:br/>
            <a:r>
              <a:t>Trained on 10K+ clips</a:t>
            </a:r>
            <a:br/>
            <a:r>
              <a:t>YOLO, CNN, LSTM</a:t>
            </a:r>
            <a:br/>
            <a:r>
              <a:t>Known behaviors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5661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64FF"/>
                </a:solidFill>
              </a:defRPr>
            </a:pPr>
            <a:r>
              <a:t>UNSUPERVISED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"What's UNUSUAL?"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Learn normal behavior</a:t>
            </a:r>
            <a:br/>
            <a:r>
              <a:t>Flag unknown patterns</a:t>
            </a:r>
            <a:br/>
            <a:r>
              <a:t>Autoencoder, Isolation Forest</a:t>
            </a:r>
            <a:br/>
            <a:r>
              <a:t>Creative cheating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566160" cy="4572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188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500"/>
                </a:solidFill>
              </a:defRPr>
            </a:pPr>
            <a:r>
              <a:t>REINFORCEMENT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"WHEN to alert?"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Balance alerts</a:t>
            </a:r>
            <a:br/>
            <a:r>
              <a:t>Real cheating = +100</a:t>
            </a:r>
            <a:br/>
            <a:r>
              <a:t>False alarm = -50</a:t>
            </a:r>
            <a:br/>
            <a:r>
              <a:t>Missed = -200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Software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</a:defRPr>
            </a:pPr>
            <a:r>
              <a:t>Layer 1: VIDEO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051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Camera feeds, frame</a:t>
            </a:r>
            <a:br/>
            <a:r>
              <a:t>extraction, pre-processing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v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64"/>
                </a:solidFill>
              </a:defRPr>
            </a:pPr>
            <a:r>
              <a:t>Layer 2: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4883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Person, face, gaze</a:t>
            </a:r>
            <a:br/>
            <a:r>
              <a:t>object detection (YOLO)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464FF"/>
                </a:solidFill>
              </a:defRPr>
            </a:pPr>
            <a:r>
              <a:t>Layer 3: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46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Behavior classification</a:t>
            </a:r>
            <a:br/>
            <a:r>
              <a:t>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977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79"/>
            <a:ext cx="1033272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39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</a:defRPr>
            </a:pPr>
            <a:r>
              <a:t>Layer 4: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4339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Confidence scoring</a:t>
            </a:r>
            <a:br/>
            <a:r>
              <a:t>alert threshold, 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0749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050"/>
                </a:solidFill>
              </a:defRPr>
            </a:pPr>
            <a:r>
              <a:t>Layer 5: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440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Dashboard, alerts</a:t>
            </a:r>
            <a:br/>
            <a:r>
              <a:t>evidence,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Multi-Camera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EDGE</a:t>
            </a:r>
            <a:br/>
            <a:r>
              <a:t>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Each camera processes</a:t>
            </a:r>
            <a:br/>
            <a:r>
              <a:t>locally. Only sends</a:t>
            </a:r>
            <a:br/>
            <a:r>
              <a:t>suspicious clips.</a:t>
            </a:r>
            <a:br/>
            <a:r>
              <a:t>Reduces data 90%!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097280"/>
            <a:ext cx="2651760" cy="34747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PERSON</a:t>
            </a:r>
            <a:br/>
            <a:r>
              <a:t>RE-ID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202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Same student from</a:t>
            </a:r>
            <a:br/>
            <a:r>
              <a:t>different angles?</a:t>
            </a:r>
            <a:br/>
            <a:r>
              <a:t>AI recognizes them.</a:t>
            </a:r>
            <a:br/>
            <a:r>
              <a:t>Combines all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SMART</a:t>
            </a:r>
            <a:br/>
            <a:r>
              <a:t>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5-10 fps normally.</a:t>
            </a:r>
            <a:br/>
            <a:r>
              <a:t>30 fps when suspicious.</a:t>
            </a:r>
            <a:br/>
            <a:r>
              <a:t>Smart resource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097280"/>
            <a:ext cx="2651760" cy="34747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19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GPU</a:t>
            </a:r>
            <a:br/>
            <a:r>
              <a:t>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9202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1 GPU = 20-30 cameras</a:t>
            </a:r>
            <a:br/>
            <a:r>
              <a:t>Multiple GPUs scale.</a:t>
            </a:r>
            <a:br/>
            <a:r>
              <a:t>200+ cameras handled.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64"/>
                </a:solidFill>
              </a:defRPr>
            </a:pPr>
            <a:r>
              <a:t>Small: 1 hall</a:t>
            </a:r>
            <a:br/>
            <a:r>
              <a:t>4-5 cameras, 1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</a:defRPr>
            </a:pPr>
            <a:r>
              <a:t>Medium: 10 halls</a:t>
            </a:r>
            <a:br/>
            <a:r>
              <a:t>40-50 cameras, 2-3 GPUs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5050"/>
                </a:solidFill>
              </a:defRPr>
            </a:pPr>
            <a:r>
              <a:t>Large: 50 halls</a:t>
            </a:r>
            <a:br/>
            <a:r>
              <a:t>200+ cameras, 8-10 GPUs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Build in Stages — Start Small!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103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v0.1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Phone</a:t>
            </a:r>
            <a:br/>
            <a:r>
              <a:t>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Single camera</a:t>
            </a:r>
            <a:br/>
            <a:r>
              <a:t>Detects phones only</a:t>
            </a:r>
            <a:br/>
            <a:r>
              <a:t>Simple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103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v0.2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45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Gaze</a:t>
            </a:r>
            <a:br/>
            <a:r>
              <a:t>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3774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Where students</a:t>
            </a:r>
            <a:br/>
            <a:r>
              <a:t>look + 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097280"/>
            <a:ext cx="2103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</a:defRPr>
            </a:pPr>
            <a:r>
              <a:t>v0.3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45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Behavior</a:t>
            </a:r>
            <a:br/>
            <a:r>
              <a:t>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Combined detection</a:t>
            </a:r>
            <a:br/>
            <a:r>
              <a:t>+ confidence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097280"/>
            <a:ext cx="2103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64FF"/>
                </a:solidFill>
              </a:defRPr>
            </a:pPr>
            <a:r>
              <a:t>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645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Single</a:t>
            </a:r>
            <a:br/>
            <a:r>
              <a:t>Hall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3774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4-5 cameras</a:t>
            </a:r>
            <a:br/>
            <a:r>
              <a:t>Dashboard +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097280"/>
            <a:ext cx="2103120" cy="4114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1887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</a:defRPr>
            </a:pPr>
            <a:r>
              <a:t>v2.0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645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</a:t>
            </a:r>
            <a:br/>
            <a:r>
              <a:t>Hall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37744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50+ cameras</a:t>
            </a:r>
            <a:br/>
            <a:r>
              <a:t>Full system!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My Learning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Phase 1</a:t>
            </a:r>
            <a:br/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AI, ML, DL</a:t>
            </a:r>
            <a:br/>
            <a:r>
              <a:t>Neural Networks</a:t>
            </a:r>
            <a:br/>
            <a:r>
              <a:t>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DONE!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Phase 2</a:t>
            </a:r>
            <a:br/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Python, NumPy</a:t>
            </a:r>
            <a:br/>
            <a:r>
              <a:t>Pandas, Matplotlib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3-4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Phase 3-4</a:t>
            </a:r>
            <a:br/>
            <a:r>
              <a:t>ML + DL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Scikit-learn</a:t>
            </a:r>
            <a:br/>
            <a:r>
              <a:t>CNN, PyTorch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10-14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Phase 5</a:t>
            </a:r>
            <a:br/>
            <a:r>
              <a:t>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OpenCV, YOLO</a:t>
            </a:r>
            <a:br/>
            <a:r>
              <a:t>Face, Gaze,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6-8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Phase 6</a:t>
            </a:r>
            <a:br/>
            <a:r>
              <a:t>Advanced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72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LSTM, Autoencoder</a:t>
            </a:r>
            <a:br/>
            <a:r>
              <a:t>Anomaly, 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6-8 weeks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8404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931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Phase 7-8</a:t>
            </a:r>
            <a:br/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System, Deploy</a:t>
            </a:r>
            <a:br/>
            <a:r>
              <a:t>Test, Launch!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12-18 weeks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Getting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Can't film real</a:t>
            </a:r>
            <a:br/>
            <a:r>
              <a:t>cheating easily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4591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64"/>
                </a:solidFill>
              </a:defRPr>
            </a:pPr>
            <a:r>
              <a:t>Act out scenarios</a:t>
            </a:r>
            <a:br/>
            <a:r>
              <a:t>with volunteers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False Alarms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1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Scratching head</a:t>
            </a:r>
            <a:br/>
            <a:r>
              <a:t>is NOT cheating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4591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64"/>
                </a:solidFill>
              </a:defRPr>
            </a:pPr>
            <a:r>
              <a:t>High threshold</a:t>
            </a:r>
            <a:br/>
            <a:r>
              <a:t>+ human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1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Recording students</a:t>
            </a:r>
            <a:br/>
            <a:r>
              <a:t>is sensitive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164591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64"/>
                </a:solidFill>
              </a:defRPr>
            </a:pPr>
            <a:r>
              <a:t>Consent + data</a:t>
            </a:r>
            <a:br/>
            <a:r>
              <a:t>deletion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Must process</a:t>
            </a:r>
            <a:br/>
            <a:r>
              <a:t>instantly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389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64"/>
                </a:solidFill>
              </a:defRPr>
            </a:pPr>
            <a:r>
              <a:t>GPU + edge</a:t>
            </a:r>
            <a:br/>
            <a:r>
              <a:t>computing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Diversity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389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People act</a:t>
            </a:r>
            <a:br/>
            <a:r>
              <a:t>differently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389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64"/>
                </a:solidFill>
              </a:defRPr>
            </a:pPr>
            <a:r>
              <a:t>Large diverse</a:t>
            </a:r>
            <a:br/>
            <a:r>
              <a:t>training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840480"/>
            <a:ext cx="35661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5050"/>
                </a:solidFill>
              </a:defRPr>
            </a:pPr>
            <a:r>
              <a:t>Occlusion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Students block</a:t>
            </a:r>
            <a:br/>
            <a:r>
              <a:t>each 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389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864"/>
                </a:solidFill>
              </a:defRPr>
            </a:pPr>
            <a:r>
              <a:t>Multiple camera</a:t>
            </a:r>
            <a:br/>
            <a:r>
              <a:t>angles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Project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A500"/>
                </a:solidFill>
              </a:defRPr>
            </a:pPr>
            <a:r>
              <a:t>~10-14 months from learning to working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737360" cy="1371600"/>
          </a:xfrm>
          <a:prstGeom prst="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E28"/>
                </a:solidFill>
              </a:defRPr>
            </a:pPr>
            <a: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28"/>
                </a:solidFill>
              </a:defRPr>
            </a:pPr>
            <a:r>
              <a:t>2-3w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645920"/>
            <a:ext cx="1737360" cy="13716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E28"/>
                </a:solidFill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28"/>
                </a:solidFill>
              </a:defRPr>
            </a:pPr>
            <a:r>
              <a:t>3-4w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1737360" cy="13716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E28"/>
                </a:solidFill>
              </a:defRPr>
            </a:pPr>
            <a:r>
              <a:t>ML+DL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28"/>
                </a:solidFill>
              </a:defRPr>
            </a:pPr>
            <a:r>
              <a:t>10-14w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1737360" cy="1371600"/>
          </a:xfrm>
          <a:prstGeom prst="rect">
            <a:avLst/>
          </a:prstGeom>
          <a:solidFill>
            <a:srgbClr val="B4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E28"/>
                </a:solidFill>
              </a:defRPr>
            </a:pPr>
            <a:r>
              <a:t>Computer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28"/>
                </a:solidFill>
              </a:defRPr>
            </a:pPr>
            <a:r>
              <a:t>6-8w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1737360" cy="13716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E28"/>
                </a:solidFill>
              </a:defRPr>
            </a:pPr>
            <a:r>
              <a:t>Advanced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28"/>
                </a:solidFill>
              </a:defRPr>
            </a:pPr>
            <a:r>
              <a:t>6-8w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645920"/>
            <a:ext cx="1737360" cy="1371600"/>
          </a:xfrm>
          <a:prstGeom prst="rect">
            <a:avLst/>
          </a:prstGeom>
          <a:solidFill>
            <a:srgbClr val="FFD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691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E28"/>
                </a:solidFill>
              </a:defRPr>
            </a:pPr>
            <a:r>
              <a:t>Build+Deploy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28"/>
                </a:solidFill>
              </a:defRPr>
            </a:pPr>
            <a:r>
              <a:t>12-18w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1069848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66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Key Milestones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After Phase 2: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023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Can write Python ML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</a:defRPr>
            </a:pPr>
            <a:r>
              <a:t>After Phase 4: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389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Can build image classifiers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</a:defRPr>
            </a:pPr>
            <a:r>
              <a:t>After Phase 5: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754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v0.1 Phone Detector working!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64FF"/>
                </a:solidFill>
              </a:defRPr>
            </a:pPr>
            <a:r>
              <a:t>After Phase 6: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20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v0.3 Full behavior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050"/>
                </a:solidFill>
              </a:defRPr>
            </a:pPr>
            <a:r>
              <a:t>After Phase 7: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v1.0 Single hall working!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852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After Phase 8: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v2.0 Multi-hall deployed!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