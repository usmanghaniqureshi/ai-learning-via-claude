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560320"/>
            <a:ext cx="9418320" cy="38100"/>
          </a:xfrm>
          <a:prstGeom prst="rect">
            <a:avLst/>
          </a:prstGeom>
          <a:solidFill>
            <a:srgbClr val="5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How to Choose the Right ML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0A0FF"/>
                </a:solidFill>
                <a:latin typeface="Segoe UI"/>
              </a:defRPr>
            </a:pPr>
            <a:r>
              <a:t>48 Real-World Examples  |  12 Cases  |  WHY This and NOT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8C8D2"/>
                </a:solidFill>
                <a:latin typeface="Segoe UI"/>
              </a:defRPr>
            </a:pPr>
            <a:r>
              <a:t>Classification  •  Regression  •  Clustering  •  Anomaly Detection  •  Reinforcement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AA3C"/>
                </a:solidFill>
                <a:latin typeface="Segoe UI"/>
              </a:defRPr>
            </a:pPr>
            <a:r>
              <a:t>The Complete Decision Guide — From Problem to Model in 5 Questions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5 Questions You Ask Every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8100"/>
          </a:xfrm>
          <a:prstGeom prst="rect">
            <a:avLst/>
          </a:prstGeom>
          <a:solidFill>
            <a:srgbClr val="5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2286000" cy="457200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0A0FF"/>
                </a:solidFill>
                <a:latin typeface="Segoe UI"/>
              </a:defRPr>
            </a:pPr>
            <a:r>
              <a:t>Q1</a:t>
            </a:r>
          </a:p>
          <a:p>
            <a:pPr algn="l">
              <a:spcBef>
                <a:spcPts val="4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What does my answer look like?</a:t>
            </a:r>
          </a:p>
          <a:p>
            <a:pPr algn="l"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WORD (spam, cat, yes/no) → Classification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NUMBER (price, 33°C, marks) → Regression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GROUPS (find similar things) → Clustering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WEIRD THINGS (find outliers) → Anomaly Detection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STRATEGY (learn over time) → Reinforcement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371600"/>
            <a:ext cx="2286000" cy="457200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64D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41732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DC8C"/>
                </a:solidFill>
                <a:latin typeface="Segoe UI"/>
              </a:defRPr>
            </a:pPr>
            <a:r>
              <a:t>Q2</a:t>
            </a:r>
          </a:p>
          <a:p>
            <a:pPr algn="l">
              <a:spcBef>
                <a:spcPts val="4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Do I have labeled data?</a:t>
            </a:r>
          </a:p>
          <a:p>
            <a:pPr algn="l"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YES (correct answers exist) → Supervised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NO (no answers, just data) → Unsupervised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NO + reward/penalty system → Reinforcement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371600"/>
            <a:ext cx="2286000" cy="457200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41732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A3C"/>
                </a:solidFill>
                <a:latin typeface="Segoe UI"/>
              </a:defRPr>
            </a:pPr>
            <a:r>
              <a:t>Q3</a:t>
            </a:r>
          </a:p>
          <a:p>
            <a:pPr algn="l">
              <a:spcBef>
                <a:spcPts val="4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What TYPE is my data?</a:t>
            </a:r>
          </a:p>
          <a:p>
            <a:pPr algn="l"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Numbers in spreadsheet → Traditional ML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Images or Video → CNN / YOLO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Text → Naive Bayes, BERT, Transformer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Time sequence → LSTM / RNN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371600"/>
            <a:ext cx="2286000" cy="457200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B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41732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78FF"/>
                </a:solidFill>
                <a:latin typeface="Segoe UI"/>
              </a:defRPr>
            </a:pPr>
            <a:r>
              <a:t>Q4</a:t>
            </a:r>
          </a:p>
          <a:p>
            <a:pPr algn="l">
              <a:spcBef>
                <a:spcPts val="4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How much data?</a:t>
            </a:r>
          </a:p>
          <a:p>
            <a:pPr algn="l"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&lt; 1,000 rows → Simple models only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1K - 100K rows → Medium models (RF, SVM)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100K+ rows → Deep Learning worth trying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1M+ rows → Deep Learning likely beats 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371600"/>
            <a:ext cx="2286000" cy="457200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41732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5A5A"/>
                </a:solidFill>
                <a:latin typeface="Segoe UI"/>
              </a:defRPr>
            </a:pPr>
            <a:r>
              <a:t>Q5</a:t>
            </a:r>
          </a:p>
          <a:p>
            <a:pPr algn="l">
              <a:spcBef>
                <a:spcPts val="4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Any special requirements?</a:t>
            </a:r>
          </a:p>
          <a:p>
            <a:pPr algn="l">
              <a:defRPr sz="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Need to EXPLAIN why? → Decision Tree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Need REAL-TIME speed? → YOLO, Logistic Reg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Data IMBALANCED? → Anomaly Detection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Few labeled images? → Transfer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Master Decision Flowchart — From Problem to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8100"/>
          </a:xfrm>
          <a:prstGeom prst="rect">
            <a:avLst/>
          </a:prstGeom>
          <a:solidFill>
            <a:srgbClr val="FF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325880"/>
            <a:ext cx="3749039" cy="521208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A0FF"/>
                </a:solidFill>
                <a:latin typeface="Segoe UI"/>
              </a:defRPr>
            </a:pPr>
            <a:r>
              <a:t>Answer = WORD →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│ Images?</a:t>
            </a:r>
          </a:p>
          <a:p>
            <a:pPr algn="l">
              <a:spcBef>
                <a:spcPts val="1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→ CNN / YOLO</a:t>
            </a:r>
          </a:p>
          <a:p>
            <a:pPr algn="l">
              <a:defRPr sz="900" b="0">
                <a:solidFill>
                  <a:srgbClr val="9696AA"/>
                </a:solidFill>
                <a:latin typeface="Segoe UI"/>
              </a:defRPr>
            </a:pPr>
            <a:r>
              <a:t>  Small dataset? Transfer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06624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│ Text?</a:t>
            </a:r>
          </a:p>
          <a:p>
            <a:pPr algn="l">
              <a:spcBef>
                <a:spcPts val="1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→ Naive Bayes / BERT</a:t>
            </a:r>
          </a:p>
          <a:p>
            <a:pPr algn="l">
              <a:defRPr sz="900" b="0">
                <a:solidFill>
                  <a:srgbClr val="9696AA"/>
                </a:solidFill>
                <a:latin typeface="Segoe UI"/>
              </a:defRPr>
            </a:pPr>
            <a:r>
              <a:t>  Small text=NB, Large=BERT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493008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│ Numbers + Explain?</a:t>
            </a:r>
          </a:p>
          <a:p>
            <a:pPr algn="l">
              <a:spcBef>
                <a:spcPts val="1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→ Decision Tree</a:t>
            </a:r>
          </a:p>
          <a:p>
            <a:pPr algn="l">
              <a:defRPr sz="900" b="0">
                <a:solidFill>
                  <a:srgbClr val="9696AA"/>
                </a:solidFill>
                <a:latin typeface="Segoe UI"/>
              </a:defRPr>
            </a:pPr>
            <a:r>
              <a:t>  Banks, hospitals, 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279392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│ Numbers + Accuracy?</a:t>
            </a:r>
          </a:p>
          <a:p>
            <a:pPr algn="l">
              <a:spcBef>
                <a:spcPts val="1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→ Random Forest</a:t>
            </a:r>
          </a:p>
          <a:p>
            <a:pPr algn="l">
              <a:defRPr sz="900" b="0">
                <a:solidFill>
                  <a:srgbClr val="9696AA"/>
                </a:solidFill>
                <a:latin typeface="Segoe UI"/>
              </a:defRPr>
            </a:pPr>
            <a:r>
              <a:t>  100 trees vote = best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065776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│ Simple 2-class?</a:t>
            </a:r>
          </a:p>
          <a:p>
            <a:pPr algn="l">
              <a:spcBef>
                <a:spcPts val="1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→ Logistic Regression</a:t>
            </a:r>
          </a:p>
          <a:p>
            <a:pPr algn="l">
              <a:defRPr sz="900" b="0">
                <a:solidFill>
                  <a:srgbClr val="9696AA"/>
                </a:solidFill>
                <a:latin typeface="Segoe UI"/>
              </a:defRPr>
            </a:pPr>
            <a:r>
              <a:t>  Fast baseline, start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852160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│ IMBALANCED?</a:t>
            </a:r>
          </a:p>
          <a:p>
            <a:pPr algn="l">
              <a:spcBef>
                <a:spcPts val="1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→ Isolation Forest</a:t>
            </a:r>
          </a:p>
          <a:p>
            <a:pPr algn="l">
              <a:defRPr sz="900" b="0">
                <a:solidFill>
                  <a:srgbClr val="9696AA"/>
                </a:solidFill>
                <a:latin typeface="Segoe UI"/>
              </a:defRPr>
            </a:pPr>
            <a:r>
              <a:t>  99/1 = anomaly detection!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25880"/>
            <a:ext cx="3749039" cy="521208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64D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7160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DC8C"/>
                </a:solidFill>
                <a:latin typeface="Segoe UI"/>
              </a:defRPr>
            </a:pPr>
            <a:r>
              <a:t>Answer = NUMBER →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920240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│ Try Linear first</a:t>
            </a:r>
          </a:p>
          <a:p>
            <a:pPr algn="l">
              <a:spcBef>
                <a:spcPts val="1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→ Linear Regression</a:t>
            </a:r>
          </a:p>
          <a:p>
            <a:pPr algn="l">
              <a:defRPr sz="900" b="0">
                <a:solidFill>
                  <a:srgbClr val="9696AA"/>
                </a:solidFill>
                <a:latin typeface="Segoe UI"/>
              </a:defRPr>
            </a:pPr>
            <a:r>
              <a:t>  R² &gt; 0.80? DONE.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706624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│ Data is curved?</a:t>
            </a:r>
          </a:p>
          <a:p>
            <a:pPr algn="l">
              <a:spcBef>
                <a:spcPts val="1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→ Polynomial Regression</a:t>
            </a:r>
          </a:p>
          <a:p>
            <a:pPr algn="l">
              <a:defRPr sz="900" b="0">
                <a:solidFill>
                  <a:srgbClr val="9696AA"/>
                </a:solidFill>
                <a:latin typeface="Segoe UI"/>
              </a:defRPr>
            </a:pPr>
            <a:r>
              <a:t>  U-shape, hill, wave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493008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│ Need explanation?</a:t>
            </a:r>
          </a:p>
          <a:p>
            <a:pPr algn="l">
              <a:spcBef>
                <a:spcPts val="1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→ DT Regression</a:t>
            </a:r>
          </a:p>
          <a:p>
            <a:pPr algn="l">
              <a:defRPr sz="900" b="0">
                <a:solidFill>
                  <a:srgbClr val="9696AA"/>
                </a:solidFill>
                <a:latin typeface="Segoe UI"/>
              </a:defRPr>
            </a:pPr>
            <a:r>
              <a:t>  Tax, insurance, legal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279392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│ Best accuracy?</a:t>
            </a:r>
          </a:p>
          <a:p>
            <a:pPr algn="l">
              <a:spcBef>
                <a:spcPts val="1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→ RF Regression</a:t>
            </a:r>
          </a:p>
          <a:p>
            <a:pPr algn="l">
              <a:defRPr sz="900" b="0">
                <a:solidFill>
                  <a:srgbClr val="9696AA"/>
                </a:solidFill>
                <a:latin typeface="Segoe UI"/>
              </a:defRPr>
            </a:pPr>
            <a:r>
              <a:t>  100 trees average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5065776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│ Massive data 100K+?</a:t>
            </a:r>
          </a:p>
          <a:p>
            <a:pPr algn="l">
              <a:spcBef>
                <a:spcPts val="1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→ Neural Net Regression</a:t>
            </a:r>
          </a:p>
          <a:p>
            <a:pPr algn="l">
              <a:defRPr sz="900" b="0">
                <a:solidFill>
                  <a:srgbClr val="9696AA"/>
                </a:solidFill>
                <a:latin typeface="Segoe UI"/>
              </a:defRPr>
            </a:pPr>
            <a:r>
              <a:t>  Last resort, complex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325880"/>
            <a:ext cx="3749039" cy="521208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B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371600"/>
            <a:ext cx="34747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478FF"/>
                </a:solidFill>
                <a:latin typeface="Segoe UI"/>
              </a:defRPr>
            </a:pPr>
            <a:r>
              <a:t>No Labels /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920240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│ Groups + know K?</a:t>
            </a:r>
          </a:p>
          <a:p>
            <a:pPr algn="l">
              <a:spcBef>
                <a:spcPts val="1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→ K-Means</a:t>
            </a:r>
          </a:p>
          <a:p>
            <a:pPr algn="l">
              <a:defRPr sz="900" b="0">
                <a:solidFill>
                  <a:srgbClr val="9696AA"/>
                </a:solidFill>
                <a:latin typeface="Segoe UI"/>
              </a:defRPr>
            </a:pPr>
            <a:r>
              <a:t>  Marketing segments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706624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│ Groups + discover?</a:t>
            </a:r>
          </a:p>
          <a:p>
            <a:pPr algn="l">
              <a:spcBef>
                <a:spcPts val="1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→ DBSCAN</a:t>
            </a:r>
          </a:p>
          <a:p>
            <a:pPr algn="l">
              <a:defRPr sz="900" b="0">
                <a:solidFill>
                  <a:srgbClr val="9696AA"/>
                </a:solidFill>
                <a:latin typeface="Segoe UI"/>
              </a:defRPr>
            </a:pPr>
            <a:r>
              <a:t>  Finds count + outliers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493008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│ Rare events, tabular?</a:t>
            </a:r>
          </a:p>
          <a:p>
            <a:pPr algn="l">
              <a:spcBef>
                <a:spcPts val="1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→ Isolation Forest</a:t>
            </a:r>
          </a:p>
          <a:p>
            <a:pPr algn="l">
              <a:defRPr sz="900" b="0">
                <a:solidFill>
                  <a:srgbClr val="9696AA"/>
                </a:solidFill>
                <a:latin typeface="Segoe UI"/>
              </a:defRPr>
            </a:pPr>
            <a:r>
              <a:t>  Fraud, defects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279392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│ Unknown anomaly?</a:t>
            </a:r>
          </a:p>
          <a:p>
            <a:pPr algn="l">
              <a:spcBef>
                <a:spcPts val="1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→ Autoencoder</a:t>
            </a:r>
          </a:p>
          <a:p>
            <a:pPr algn="l">
              <a:defRPr sz="900" b="0">
                <a:solidFill>
                  <a:srgbClr val="9696AA"/>
                </a:solidFill>
                <a:latin typeface="Segoe UI"/>
              </a:defRPr>
            </a:pPr>
            <a:r>
              <a:t>  Video, complex patterns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5065776"/>
            <a:ext cx="35661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│ Strategy over time?</a:t>
            </a:r>
          </a:p>
          <a:p>
            <a:pPr algn="l">
              <a:spcBef>
                <a:spcPts val="1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→ Reinforcement Learning</a:t>
            </a:r>
          </a:p>
          <a:p>
            <a:pPr algn="l">
              <a:defRPr sz="900" b="0">
                <a:solidFill>
                  <a:srgbClr val="9696AA"/>
                </a:solidFill>
                <a:latin typeface="Segoe UI"/>
              </a:defRPr>
            </a:pPr>
            <a:r>
              <a:t>  Self-driving,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Case 1: Logistic Regression — The Starting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3657600" cy="38100"/>
          </a:xfrm>
          <a:prstGeom prst="rect">
            <a:avLst/>
          </a:prstGeom>
          <a:solidFill>
            <a:srgbClr val="5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2743200" cy="155448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444752"/>
            <a:ext cx="2523744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A0FF"/>
                </a:solidFill>
                <a:latin typeface="Segoe UI"/>
              </a:defRPr>
            </a:pPr>
            <a:r>
              <a:t>Email Spam Filter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5K emails, word count + links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→ Spam / Not Spam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Simplest, fastest, 83%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2743200" cy="155448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1444752"/>
            <a:ext cx="2523744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A0FF"/>
                </a:solidFill>
                <a:latin typeface="Segoe UI"/>
              </a:defRPr>
            </a:pPr>
            <a:r>
              <a:t>E-Commerce Checkout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8K sessions, cart value + device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→ Buy / Abandon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Real-time scoring in milliseconds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2743200" cy="155448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444752"/>
            <a:ext cx="2523744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A0FF"/>
                </a:solidFill>
                <a:latin typeface="Segoe UI"/>
              </a:defRPr>
            </a:pPr>
            <a:r>
              <a:t>HR Employee Retention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6K records, salary + overtime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→ Quit / Stay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Outputs probability: 73% likely to quit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743200" cy="155448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8" y="1444752"/>
            <a:ext cx="2523744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A0FF"/>
                </a:solidFill>
                <a:latin typeface="Segoe UI"/>
              </a:defRPr>
            </a:pPr>
            <a:r>
              <a:t>Ad Click Prediction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12K sessions, page + time of day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→ Clicked / Didn't Click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Industry standard for ad bidding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108960"/>
            <a:ext cx="5577840" cy="3383280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182112"/>
            <a:ext cx="5358384" cy="323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DC8C"/>
                </a:solidFill>
                <a:latin typeface="Segoe UI"/>
              </a:defRPr>
            </a:pPr>
            <a:r>
              <a:t>WHY Logistic Regression?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✓ Simplest classifier — train in seconds, predict in 0.01ms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✓ Perfect for 2-category problems on small tabular data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✓ Naturally outputs probabilities (73% spam, 27% not spam)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✓ Scales to billions of predictions (Google Ads uses it)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✓ Good baseline — if it gives 80%+, problem is solved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✓ Easy to debug, retrain monthly, runs on any laptop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WHEN TO UPGRADE: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• Accuracy &lt; 75%? → Try Random Forest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• Complex patterns? → Try SVM or XGBoost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• Text data? → Try Naive Bayes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26480" y="3108960"/>
          <a:ext cx="58521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75488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Why NOT for this problem?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CNN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Data is numbers, NOT images. CNN can't process spreadsheets.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Neural Net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5K rows too few. Needs 100K+. Would memorize, not learn.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Would work but overkill. 2% gain not worth complexity.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Works, but nobody needs to EXPLAIN why email is spam.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KNN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Works on 5K but gets very slow as data grows.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Case 2: Decision Tree — When You MUST Explain WHY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3657600" cy="38100"/>
          </a:xfrm>
          <a:prstGeom prst="rect">
            <a:avLst/>
          </a:prstGeom>
          <a:solidFill>
            <a:srgbClr val="64D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2743200" cy="150876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64D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444752"/>
            <a:ext cx="2523744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DC8C"/>
                </a:solidFill>
                <a:latin typeface="Segoe UI"/>
              </a:defRPr>
            </a:pPr>
            <a:r>
              <a:t>Diabetes Diagnosis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Doctor MUST tell patient WHY.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Blood sugar&gt;200? Age&gt;50? BP&gt;140?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Step-by-step reasoning.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2743200" cy="150876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64D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1444752"/>
            <a:ext cx="2523744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DC8C"/>
                </a:solidFill>
                <a:latin typeface="Segoe UI"/>
              </a:defRPr>
            </a:pPr>
            <a:r>
              <a:t>University Admission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Students have legal right to ask WHY.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GPA? Test score? Extracurriculars?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Each criteria traceable.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2743200" cy="150876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64D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444752"/>
            <a:ext cx="2523744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DC8C"/>
                </a:solidFill>
                <a:latin typeface="Segoe UI"/>
              </a:defRPr>
            </a:pPr>
            <a:r>
              <a:t>Car Insurance Premium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Customer asks: why so expensive?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Age&lt;25 + accident + Karachi city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= Very High tier. Clear factors.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743200" cy="150876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64D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8" y="1444752"/>
            <a:ext cx="2523744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DC8C"/>
                </a:solidFill>
                <a:latin typeface="Segoe UI"/>
              </a:defRPr>
            </a:pPr>
            <a:r>
              <a:t>Criminal Bail Decision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Judge MUST justify on record.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Constitutional requirement.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Defense lawyer can challenge each factor.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063240"/>
            <a:ext cx="5486400" cy="3474720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136392"/>
            <a:ext cx="5266944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A3C"/>
                </a:solidFill>
                <a:latin typeface="Segoe UI"/>
              </a:defRPr>
            </a:pPr>
            <a:r>
              <a:t>THE KEY: Logistic Regression vs Decision Tree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Logistic Regression says: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"Patient has diabetes. Confidence: 87%."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Doctor: "WHY?" Model: "...weighted sum through sigmoid."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Doctor: "Patient won't understand that."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Decision Tree says: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"Patient has diabetes BECAUSE: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 → Blood sugar &gt; 200? YES (patient: 240) ✓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 → Age &gt; 50? YES (patient: 58) ✓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 → BP &gt; 140? YES (patient: 155) ✓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 → RESULT: High risk of diabetes"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Doctor: "I can show this step by step."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35040" y="306324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256032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Situation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Explain?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Bank: why loan rejected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YES — legal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Doctor: why diagnosed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YES — trust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Insurance: why premium high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YES — customer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Government: tax audit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YES — legal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Spam filter blocks email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Logistic Reg / RF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Netflix recommends movie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Best accuracy model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ExamGuard flags cheating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MAYBE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DT for final alert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Case 3: Random Forest — Best Accuracy for Tabular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3657600" cy="38100"/>
          </a:xfrm>
          <a:prstGeom prst="rect">
            <a:avLst/>
          </a:prstGeom>
          <a:solidFill>
            <a:srgbClr val="FF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2743200" cy="150876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444752"/>
            <a:ext cx="2523744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A3C"/>
                </a:solidFill>
                <a:latin typeface="Segoe UI"/>
              </a:defRPr>
            </a:pPr>
            <a:r>
              <a:t>Disease Diagnosis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50K patients, 30+ symptoms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4 diseases: Dengue/Malaria/Flu/COVID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100 trees vote → 89% accuracy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2743200" cy="150876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1444752"/>
            <a:ext cx="2523744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A3C"/>
                </a:solidFill>
                <a:latin typeface="Segoe UI"/>
              </a:defRPr>
            </a:pPr>
            <a:r>
              <a:t>Product Recommendation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80K customers, 30+ features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15 product categories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Captures complex shopping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2743200" cy="150876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444752"/>
            <a:ext cx="2523744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A3C"/>
                </a:solidFill>
                <a:latin typeface="Segoe UI"/>
              </a:defRPr>
            </a:pPr>
            <a:r>
              <a:t>Predictive Maintenance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60K machine readings, 7 sensors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Will machine fail in 7 days?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Catches multi-sensor failure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743200" cy="150876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8" y="1444752"/>
            <a:ext cx="2523744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A3C"/>
                </a:solidFill>
                <a:latin typeface="Segoe UI"/>
              </a:defRPr>
            </a:pPr>
            <a:r>
              <a:t>Credit Risk Scoring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70K applications, 7+ features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Approve / Risky / Reject tiers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Handles messy financial data well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063240"/>
            <a:ext cx="5303520" cy="3474720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136392"/>
            <a:ext cx="5084064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C50"/>
                </a:solidFill>
                <a:latin typeface="Segoe UI"/>
              </a:defRPr>
            </a:pPr>
            <a:r>
              <a:t>WHY 100 Trees &gt; 1 Tree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One Decision Tree: Like asking ONE doctor.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Might have blind spots. Memorizes training data.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Accuracy: ~75%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Random Forest: 100 trees, each trained on DIFFERENT data.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Each tree sees the patient differently. They VOTE.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73 say Dengue, 18 Malaria, 9 Flu → Dengue wins.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Errors from individual trees CANCEL OUT.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Accuracy: ~89%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Like asking 100 doctors. Majority opinion wins.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Rule: Only switch to Neural Net when RF accuracy is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insufficient AND you have 100K+ rows.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3063240"/>
          <a:ext cx="44805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10058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Explain?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Logistic Reg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~72%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Instant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~75%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Fast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~89%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Seconds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Neural Network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~91%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Hours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852160" y="475488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A5A"/>
                </a:solidFill>
                <a:latin typeface="Segoe UI"/>
              </a:defRPr>
            </a:pPr>
            <a:r>
              <a:t>WHY NOT Neural Network?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50K rows enough for RF, not needed for Neural Net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Neural Net takes HOURS vs RF takes SECONDS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Neural Net is black box (can't explain)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2% improvement not worth the trade-offs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Common pattern: RF for scoring + DT for explaining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Case 4: CNN / YOLO — When Data is IMAGES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3657600" cy="38100"/>
          </a:xfrm>
          <a:prstGeom prst="rect">
            <a:avLst/>
          </a:prstGeom>
          <a:solidFill>
            <a:srgbClr val="5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5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DCDC"/>
                </a:solidFill>
                <a:latin typeface="Segoe UI"/>
              </a:defRPr>
            </a:pPr>
            <a:r>
              <a:t>ExamGuard Cheating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10K video clips, live camera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→ Cheating / Normal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YOLO + Transfer Learning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Real-time at 30+ fps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5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DCDC"/>
                </a:solidFill>
                <a:latin typeface="Segoe UI"/>
              </a:defRPr>
            </a:pPr>
            <a:r>
              <a:t>Drone Crop Disease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15K aerial images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→ Healthy / Blight / Fungal / Nutrient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Detects visual disease patterns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GPS tagging during flight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5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DCDC"/>
                </a:solidFill>
                <a:latin typeface="Segoe UI"/>
              </a:defRPr>
            </a:pPr>
            <a:r>
              <a:t>Traffic Camera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25K frames, bounding boxes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→ Car/Truck/Motorcycle + Accidents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Multi-object detection in ONE pass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YOLO = You Only Look 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5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DCDC"/>
                </a:solidFill>
                <a:latin typeface="Segoe UI"/>
              </a:defRPr>
            </a:pPr>
            <a:r>
              <a:t>Retail Customer Tracking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20K store camera frames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→ Person + position in store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YOLO + DeepSORT tracking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Foot traffic heatmaps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246120"/>
            <a:ext cx="5303520" cy="3200400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319272"/>
            <a:ext cx="5084064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C50"/>
                </a:solidFill>
                <a:latin typeface="Segoe UI"/>
              </a:defRPr>
            </a:pPr>
            <a:r>
              <a:t>WHY Only CNN Can Handle Images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Traditional models (LogReg, RF, DT, SVM, KNN) work 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NUMBERS in a table: age=25, income=50000 → Approve/Reject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A camera frame is NOT a table. It's 1 MILLION pixel numbers.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These models can't find 'student looking at neighbor' from pixels.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CNN is SPECIFICALLY designed to: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Layer 1: Find edges and lines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Layer 2: Combine into shapes (head, desk, hand)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Layer 3: Understand positions (head turned, hand reaching)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Layer 4: Final decision → 'Cheating' or 'Normal'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Transfer Learning: YOLO pre-trained on 14M images already knows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phones, hands, faces. Fine-tune with just 10K clips → 85-90%!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3246120"/>
          <a:ext cx="56692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05840"/>
                <a:gridCol w="1005840"/>
                <a:gridCol w="23774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Speed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YOLO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85-90%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30+ fps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Real-time (ExamGuard)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ResNet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92-95%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5-10 fps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Batch processing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EfficientNet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90-93%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8-15 fps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Balanced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Faster R-CNN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93-95%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3-7 fps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Max accuracy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852160" y="502920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A3C"/>
                </a:solidFill>
                <a:latin typeface="Segoe UI"/>
              </a:defRPr>
            </a:pPr>
            <a:r>
              <a:t>The Trade-off: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YOLO sacrifices ~5% accuracy for 3-10x speed.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For live monitoring, speed wins every time.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Without Transfer Learning: 40-50%. With it: 85-90%!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Case 5: The Imbalance Trap — The MOST Important Lesson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3657600" cy="38100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A5A"/>
                </a:solidFill>
                <a:latin typeface="Segoe UI"/>
              </a:defRPr>
            </a:pPr>
            <a:r>
              <a:t>Credit Card Fraud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1M transactions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999,000 normal + 1,000 fraud (0.1%)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Classifier says 'not fraud' for all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= 99.9% accuracy, 0% fraud caught!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A5A"/>
                </a:solidFill>
                <a:latin typeface="Segoe UI"/>
              </a:defRPr>
            </a:pPr>
            <a:r>
              <a:t>Manufacturing Defects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500K inspections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99.5% pass, 0.5% defective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RF says 'all good' = 99.5% acc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But catches ZERO defects!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A5A"/>
                </a:solidFill>
                <a:latin typeface="Segoe UI"/>
              </a:defRPr>
            </a:pPr>
            <a:r>
              <a:t>Network Intrusion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10M requests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99.99% normal, 0.01% attacks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Classifier achieves 99.99% accuracy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By saying 'everything is normal'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A5A"/>
                </a:solidFill>
                <a:latin typeface="Segoe UI"/>
              </a:defRPr>
            </a:pPr>
            <a:r>
              <a:t>Rare Disease Screening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1M babies screened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100 have disorder (0.01%)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Missing a sick baby = life-threatening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99.99% acc = 100 babies MISSED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246120"/>
            <a:ext cx="5303520" cy="3200400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319272"/>
            <a:ext cx="5084064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C50"/>
                </a:solidFill>
                <a:latin typeface="Segoe UI"/>
              </a:defRPr>
            </a:pPr>
            <a:r>
              <a:t>WHY Regular Classification FAILS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The model learns: '99.9% of data is NOT fraud.'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So it says 'NOT FRAUD' for EVERYTHING.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Accuracy: 99.9% ← looks AMAZING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Fraud caught: 0 out of 1,000 ← COMPLETELY USELESS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Isolation Forest doesn't classify Fraud vs Normal.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Instead: 'What does NORMAL look like? Anything that's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NOT normal = suspicious.'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Normal: Rs 500, local store, 2 PM, weekday → NORMAL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Fraud: Rs 5,00,000, Dubai, 3 AM, unusual merchant → FLAG!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Classification asks: 'Is this fraud?' → FAILS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Isolation Forest asks: 'Is this WEIRD?' → WORKS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3246120"/>
          <a:ext cx="5760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256032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 Balance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50/50 or 60/40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Regular Classification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Both classes well represented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80/20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Classification + SMOTE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Slightly imbalanced, fixable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95/5 or worse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Anomaly Detection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Normal classification ignores rare class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99.9/0.1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DEFINITELY Anomaly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Classification completely useless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852160" y="530352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A5A"/>
                </a:solidFill>
                <a:latin typeface="Segoe UI"/>
              </a:defRPr>
            </a:pPr>
            <a:r>
              <a:t>REMEMBER: High accuracy on imbalanced data is MEANINGLESS.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FFDC50"/>
                </a:solidFill>
                <a:latin typeface="Segoe UI"/>
              </a:defRPr>
            </a:pPr>
            <a:r>
              <a:t>Always check: what % of the RARE class did we actually catch?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Case 6: Naive Bayes — Designed for 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3657600" cy="38100"/>
          </a:xfrm>
          <a:prstGeom prst="rect">
            <a:avLst/>
          </a:prstGeom>
          <a:solidFill>
            <a:srgbClr val="B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B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8FF"/>
                </a:solidFill>
                <a:latin typeface="Segoe UI"/>
              </a:defRPr>
            </a:pPr>
            <a:r>
              <a:t>Product Reviews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50K text reviews → Positive/Negative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Uses word probabilities: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'great' in positive: 80%, in negative: 5%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Fast, designed for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B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8FF"/>
                </a:solidFill>
                <a:latin typeface="Segoe UI"/>
              </a:defRPr>
            </a:pPr>
            <a:r>
              <a:t>Support Tickets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80K emails → 5 departments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'invoice' → Billing 82%, Refund 15%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'slow internet' → Technical 90%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Processes 5K tickets in 5 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B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8FF"/>
                </a:solidFill>
                <a:latin typeface="Segoe UI"/>
              </a:defRPr>
            </a:pPr>
            <a:r>
              <a:t>Resume Screening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40K resumes → Qualified / Not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'python' → Qualified 85%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'django' → Qualified 78%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Screens 2K resumes in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B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8FF"/>
                </a:solidFill>
                <a:latin typeface="Segoe UI"/>
              </a:defRPr>
            </a:pPr>
            <a:r>
              <a:t>Hate Speech Detection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100K posts → Hate/Offensive/Clean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Catches obvious slurs instantly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NB baseline 78% → upgrade to BERT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if context understanding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246120"/>
            <a:ext cx="5303520" cy="3200400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319272"/>
            <a:ext cx="5084064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C50"/>
                </a:solidFill>
                <a:latin typeface="Segoe UI"/>
              </a:defRPr>
            </a:pPr>
            <a:r>
              <a:t>WHY Naive Bayes for Text (Not Logistic Regression)?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Logistic Regression: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Needs numbers as input. Must CONVERT text to numbers.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'Great product!' → [word_count=2, avg_len=5.5, ...]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Loses the MEANING of words.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Naive Bayes: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DESIGNED for text. Works with word probabilities directly.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P('great' | positive review) = 80%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P('great' | negative review) = 5%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This review has 'great' → probably positive!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Calculates: P(positive | all words) vs P(negative | all words)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Whichever is higher → that's the answer.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Takes 2 seconds. If 80%+ accuracy, done.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3246120"/>
          <a:ext cx="5760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210312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Situation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Simple text (spam, sentiment)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Naive Bayes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Fast, designed for text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Deep understanding (sarcasm)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BERT / Transformer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Understands context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Very large text (1M+ docs)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BERT / Transformer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Scales better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Quick baseline on any text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Naive Bayes first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2 seconds. 80%+? Done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Case 7: Regression — Always Start with Linear, Then Upgrade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3657600" cy="38100"/>
          </a:xfrm>
          <a:prstGeom prst="rect">
            <a:avLst/>
          </a:prstGeom>
          <a:solidFill>
            <a:srgbClr val="64D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64D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DC8C"/>
                </a:solidFill>
                <a:latin typeface="Segoe UI"/>
              </a:defRPr>
            </a:pPr>
            <a:r>
              <a:t>House Price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10K houses, size + age + rooms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Linear R²=0.72 (location matters)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RF R²=0.88 (captures interactions)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Neural Net? NOT needed at 10K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64D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DC8C"/>
                </a:solidFill>
                <a:latin typeface="Segoe UI"/>
              </a:defRPr>
            </a:pPr>
            <a:r>
              <a:t>Employee Salary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15K records, exp + education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Linear R²=0.78 (decent!)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RF R²=0.87 (industry×city)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For estimate on portal, 0.78 is fine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64D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DC8C"/>
                </a:solidFill>
                <a:latin typeface="Segoe UI"/>
              </a:defRPr>
            </a:pPr>
            <a:r>
              <a:t>Delivery Time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25K deliveries, distance + traffic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Linear R²=0.65 (interactions!)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RF R²=0.84 (rain×rush hour)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Estimate off by 5-7 min vs 15-20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64D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DC8C"/>
                </a:solidFill>
                <a:latin typeface="Segoe UI"/>
              </a:defRPr>
            </a:pPr>
            <a:r>
              <a:t>Electricity Bill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20K records, units + ACs + season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Linear R²=0.91 (excellent!)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Bill IS basically linear.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RF only 2% better. Not worth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246120"/>
            <a:ext cx="5486400" cy="3200400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319272"/>
            <a:ext cx="5266944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C50"/>
                </a:solidFill>
                <a:latin typeface="Segoe UI"/>
              </a:defRPr>
            </a:pPr>
            <a:r>
              <a:t>The Regression Progression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STEP 1: Linear Regression (ALWAYS first)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Takes 1 minute. Gives baseline R².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R² &gt; 0.80? → DONE. Simple wins.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STEP 2: R² &lt; 0.80? Relationship is complex.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Plot data. Is it CURVED? → Polynomial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Need to EXPLAIN? → Decision Tree Regression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Want BEST accuracy? → Random Forest Regression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STEP 3: RF still not enough? Data is MASSIVE?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100K+ rows + 50+ features → Neural Net Regression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Only when everything else fails.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KEY INSIGHT: Sometimes Linear IS the best model.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Electricity bill IS linear. Don't overcomplicate it.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35040" y="3246120"/>
          <a:ext cx="56692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21945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Linear R²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RF R²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House Price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RF (interactions)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Salary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0.78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Depends on need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Delivery Time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0.65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0.84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RF (complex)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Electricity Bill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0.93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Linear (simple!)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Case 8: Polynomial Regression — When Data is CURVED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3657600" cy="38100"/>
          </a:xfrm>
          <a:prstGeom prst="rect">
            <a:avLst/>
          </a:prstGeom>
          <a:solidFill>
            <a:srgbClr val="FF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A3C"/>
                </a:solidFill>
                <a:latin typeface="Segoe UI"/>
              </a:defRPr>
            </a:pPr>
            <a:r>
              <a:t>Crop Yield vs Fertilizer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Too little → low yield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Right amount → HIGH yield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Too much → yield DROPS!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Inverted U-shape (hill)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A3C"/>
                </a:solidFill>
                <a:latin typeface="Segoe UI"/>
              </a:defRPr>
            </a:pPr>
            <a:r>
              <a:t>Productivity vs Hours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20h → low (not enough)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40h → HIGH (sweet spot)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70h → DROPS (burnout)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Optimal: 40-45 hours/week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A3C"/>
                </a:solidFill>
                <a:latin typeface="Segoe UI"/>
              </a:defRPr>
            </a:pPr>
            <a:r>
              <a:t>Medicine Dosage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10mg → no effect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100mg → MAXIMUM effect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200mg → DANGEROUS (toxic)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'Therapeutic window' = hill curve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A3C"/>
                </a:solidFill>
                <a:latin typeface="Segoe UI"/>
              </a:defRPr>
            </a:pPr>
            <a:r>
              <a:t>Ad Spend vs Revenue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Rs 10K → 5x return (amazing)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Rs 200K → 1.75x (OK)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Rs 500K → 0.8x (losing money!)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Diminishing returns curve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246120"/>
            <a:ext cx="5486400" cy="3200400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319272"/>
            <a:ext cx="5266944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C50"/>
                </a:solidFill>
                <a:latin typeface="Segoe UI"/>
              </a:defRPr>
            </a:pPr>
            <a:r>
              <a:t>Straight Line Misses the Curve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Linear Regression draws:  ________ (straight line going UP)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It thinks: more fertilizer = always more yield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WRONG! At some point, more fertilizer HURTS the yield.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Polynomial Regression draws:  /‾‾‾\ (hill shape)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It captures: low → rising → peak → falling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CORRECT! Matches real-world behavior.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CRITICAL: For medicine dosage, Linear says 'more drug =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more effective' → DANGEROUS! Could recommend toxic dose.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Polynomial shows the peak and the DROP. Safety-critical.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The polynomial equation IS the scientific model.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Doctors, regulators can review it. Neural Net = rejected.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35040" y="3246120"/>
          <a:ext cx="5760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22860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Sign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 It Means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Linear R² &lt; 0.60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Straight line doesn't fit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Plot the data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Scatter shows U/hill/wave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Clearly curved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Polynomial Reg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High error at extremes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Line misses the ends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Polynomial Reg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Domain knowledge says curved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Biology/economics/physics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Polynomial Reg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Case 9: K-Means vs DBSCAN — Clustering Without Labels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3657600" cy="38100"/>
          </a:xfrm>
          <a:prstGeom prst="rect">
            <a:avLst/>
          </a:prstGeom>
          <a:solidFill>
            <a:srgbClr val="B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B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8FF"/>
                </a:solidFill>
                <a:latin typeface="Segoe UI"/>
              </a:defRPr>
            </a:pPr>
            <a:r>
              <a:t>Customer Segments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50K customers, age + spend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Marketing wants 3-4 segments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K-Means (K=3): 3 exact groups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Perfect for planned campaigns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B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8FF"/>
                </a:solidFill>
                <a:latin typeface="Segoe UI"/>
              </a:defRPr>
            </a:pPr>
            <a:r>
              <a:t>Taxi Pickup Zones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200K GPS coordinates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K=10: 10 zones, one per team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DBSCAN: discovers 3 hotspots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+ 15 smaller + outliers naturally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B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8FF"/>
                </a:solidFill>
                <a:latin typeface="Segoe UI"/>
              </a:defRPr>
            </a:pPr>
            <a:r>
              <a:t>Student Study Groups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3K students, GPA + scores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University wants EXACTLY 5 groups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K-Means (K=5): guaranteed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Every student in exactly one group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B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78FF"/>
                </a:solidFill>
                <a:latin typeface="Segoe UI"/>
              </a:defRPr>
            </a:pPr>
            <a:r>
              <a:t>Social Media Users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500K user profiles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Want to DISCOVER user types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DBSCAN finds: Lurkers, Creators,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Influencers, Commenters, Curators + bots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246120"/>
            <a:ext cx="5486400" cy="3200400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319272"/>
            <a:ext cx="5266944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C50"/>
                </a:solidFill>
                <a:latin typeface="Segoe UI"/>
              </a:defRPr>
            </a:pPr>
            <a:r>
              <a:t>K-Means vs DBSCAN: Side by Side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K-MEANS: You control the output.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You tell it K=3 → it finds the BEST 3 groups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Every point belongs to exactly one group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Assumes similar-sized, spherical clusters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Marketing wants 4 campaigns? K=4. Done.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DBSCAN: Discovery mode.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Finds groups naturally — might find 2, 7, or 12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Handles groups of different sizes and shapes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Naturally marks outliers (doesn't force them into groups)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Airport pickup zone = long curve, not circle. DBSCAN wins.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DECISION: Know the count you want? → K-Means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        Don't know, want to discover? → DBSCAN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035040" y="3246120"/>
          <a:ext cx="5760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237744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Situation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Marketing: exactly 4 segments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K-Means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You control K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Find patterns in GPS data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Don't know count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Data has noise/outliers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Marks outliers naturally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Groups are different sizes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No size assumption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Need everyone in a group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K-Means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No one left out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Case 10: Autoencoder — Catch Unknown Anomalies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3657600" cy="38100"/>
          </a:xfrm>
          <a:prstGeom prst="rect">
            <a:avLst/>
          </a:prstGeom>
          <a:solidFill>
            <a:srgbClr val="50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5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DCDC"/>
                </a:solidFill>
                <a:latin typeface="Segoe UI"/>
              </a:defRPr>
            </a:pPr>
            <a:r>
              <a:t>ExamGuard Creative Cheating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10K NORMAL behavior clips only.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Autoencoder learns 'normal exam'.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Student taps morse code?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Can't recreate pattern → FLAG!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5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DCDC"/>
                </a:solidFill>
                <a:latin typeface="Segoe UI"/>
              </a:defRPr>
            </a:pPr>
            <a:r>
              <a:t>Hospital ICU Monitoring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50K hours of normal vitals.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Learns HR+BP+O2 correlations.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Rare allergic reaction?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COMBINATION is unusual → FLAG!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5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DCDC"/>
                </a:solidFill>
                <a:latin typeface="Segoe UI"/>
              </a:defRPr>
            </a:pPr>
            <a:r>
              <a:t>Satellite Deforestation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30K normal forest images.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Learns green canopy, rivers, clearings.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New road cutting through forest?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Unusual straight line → FLAG!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5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0DCDC"/>
                </a:solidFill>
                <a:latin typeface="Segoe UI"/>
              </a:defRPr>
            </a:pPr>
            <a:r>
              <a:t>Server Zero-Day Attacks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1M hours normal operation.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Learns CPU+memory+network patterns.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New attack reads files A-Z rapidly?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Pattern doesn't match normal → FLAG!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246120"/>
            <a:ext cx="5303520" cy="3200400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319272"/>
            <a:ext cx="5084064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C50"/>
                </a:solidFill>
                <a:latin typeface="Segoe UI"/>
              </a:defRPr>
            </a:pPr>
            <a:r>
              <a:t>Isolation Forest vs Autoencoder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Isolation Forest: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Works on NUMBERS in spreadsheet (tabular)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'Unusual amount + unusual time → ISOLATED → FRAUD'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Checks each feature independently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Fast, simple, great for structured data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Autoencoder: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Works on COMPLEX data (video, images, sequences)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Learns what NORMAL LOOKS like (trains on normal only)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Any data it CAN'T recreate well = 'not normal' = FLAG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Understands RELATIONSHIPS between variables over TIME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Catches anomalies it has NEVER seen before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KEY: IF knows anomaly is 'extreme values' → Isolation Forest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   Don't know what anomaly looks like? → Autoencoder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3246120"/>
          <a:ext cx="5760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246888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 Type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Tabular (numbers)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Isolation Forest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Credit card fraud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Images / Video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Autoencoder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ExamGuard, satellite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Complex time-series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Autoencoder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ICU vitals, servers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Known anomaly type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Isolation Forest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Sensor outliers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UNKNOWN anomaly type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Autoencoder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Zero-day attacks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Case 11: Reinforcement Learning — Learn a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3657600" cy="38100"/>
          </a:xfrm>
          <a:prstGeom prst="rect">
            <a:avLst/>
          </a:prstGeom>
          <a:solidFill>
            <a:srgbClr val="FFD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D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50"/>
                </a:solidFill>
                <a:latin typeface="Segoe UI"/>
              </a:defRPr>
            </a:pPr>
            <a:r>
              <a:t>Self-Driving Car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BILLIONS of unique situations.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Can't label: 60km/h + wet road +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pedestrian + car to left → ???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RL: 10M simulated rounds →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D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50"/>
                </a:solidFill>
                <a:latin typeface="Segoe UI"/>
              </a:defRPr>
            </a:pPr>
            <a:r>
              <a:t>Warehouse Robot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Layout changes WEEKLY.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Supervised data = outdated instantly.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RL: reward picking, penalize drops.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Adapts to new layout in 30 min.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D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50"/>
                </a:solidFill>
                <a:latin typeface="Segoe UI"/>
              </a:defRPr>
            </a:pPr>
            <a:r>
              <a:t>Stock Trading Bot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No 'correct' buy/sell timing.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Buy at 100? Depends on TOMORROW.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RL: maximize portfolio over 30 days.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Discovers 'buy on dip, sell at RSI 70'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D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DC50"/>
                </a:solidFill>
                <a:latin typeface="Segoe UI"/>
              </a:defRPr>
            </a:pPr>
            <a:r>
              <a:t>Smart Traffic Lights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100 intersections, each affects others.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Fixed rules fail at rush hour.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RL: minimize wait across ALL lights.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Discovers green waves + anticipation!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246120"/>
            <a:ext cx="5486400" cy="3200400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319272"/>
            <a:ext cx="5266944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A5A"/>
                </a:solidFill>
                <a:latin typeface="Segoe UI"/>
              </a:defRPr>
            </a:pPr>
            <a:r>
              <a:t>WHY NOT Supervised Learning?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Problem 1: Can't label every situation.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Billions of unique driving scenarios.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Can't hire humans to label them all.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Some situations have NEVER happened before.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Problem 2: Supervised predicts ONE thing at ONE moment.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'Should I brake?' depends on what happens AFTER braking.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Maybe braking NOW causes car behind to crash.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The BEST action depends on FUTURE consequences.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Supervised has no concept of future. RL does.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WHY RL works: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Tries millions of scenarios in simulation.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Learns through reward (+safe) and penalty (-crash).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Discovers strategies nobody programmed.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246120"/>
            <a:ext cx="5486400" cy="3200400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3319272"/>
            <a:ext cx="5266944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A3C"/>
                </a:solidFill>
                <a:latin typeface="Segoe UI"/>
              </a:defRPr>
            </a:pPr>
            <a:r>
              <a:t>Use RL When ALL of These Are True: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1. Can't label every situation (too many possibilities)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2. Need a STRATEGY over time (not just one prediction)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3. Have a reward/penalty system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4. Supervised/Unsupervised can't solve it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RL is the LAST RESORT — hardest to train,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needs millions of rounds of simulation.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If you CAN use Supervised → use Supervised.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It's easier, faster, and more predictable.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RL is only for: strategy + billions of states + future matters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Case 12: RL for Alerts &amp; Balance — Too Many vs Too Few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3657600" cy="38100"/>
          </a:xfrm>
          <a:prstGeom prst="rect">
            <a:avLst/>
          </a:prstGeom>
          <a:solidFill>
            <a:srgbClr val="FF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A5A"/>
                </a:solidFill>
                <a:latin typeface="Segoe UI"/>
              </a:defRPr>
            </a:pPr>
            <a:r>
              <a:t>ExamGuard Alerts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Glance 0.5s → ignore (normal)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Stare 5s → alert (suspicious)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Stare+lean+cover → HIGH PRIORITY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End of exam → raise threshold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5584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A5A"/>
                </a:solidFill>
                <a:latin typeface="Segoe UI"/>
              </a:defRPr>
            </a:pPr>
            <a:r>
              <a:t>ICU Alarm System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Current: 85% false alarms!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Nurses ignore ALL alarms = fatal.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RL: HR 121 for 5s → wait.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HR 121 + BP dropping → ALARM 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A5A"/>
                </a:solidFill>
                <a:latin typeface="Segoe UI"/>
              </a:defRPr>
            </a:pPr>
            <a:r>
              <a:t>Content Moderation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73% harmful + new account + viral → remove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73% harmful + journalist → review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73% harmful + satire → likely allow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Context changes the decision!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371600"/>
            <a:ext cx="2743200" cy="169164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8008" y="1444752"/>
            <a:ext cx="2523744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A5A"/>
                </a:solidFill>
                <a:latin typeface="Segoe UI"/>
              </a:defRPr>
            </a:pPr>
            <a:r>
              <a:t>Email Priority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Boss 'see you tmw' at 11 PM → batch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Newsletter 'FLIGHT CANCELED' → notify!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5th notification in 10 min → batch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User turns off notifs = catastrophic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246120"/>
            <a:ext cx="5486400" cy="3200400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319272"/>
            <a:ext cx="5266944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C50"/>
                </a:solidFill>
                <a:latin typeface="Segoe UI"/>
              </a:defRPr>
            </a:pPr>
            <a:r>
              <a:t>WHY NOT Classification for Alerts?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Classification approach: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'If student looks at neighbor → CHEATING → alert'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'If HR &gt; 120 → ALARM'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'If offensive word → REMOVE'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Problem: Same answer REGARDLESS of context.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Glance 0.5s = normal glance, not cheating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HR 121 for 5 seconds = transient, not emergency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Offensive word in news article = journalism, not hate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RL learns THRESHOLDS that adapt to context: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How crowded is the hall? What type of exam?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Night shift, only 1 nurse? → alarm EARLIER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3rd false alarm this hour? → raise threshold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• User checks email every 30 min? → batch everything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246120"/>
            <a:ext cx="5486400" cy="3200400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3319272"/>
            <a:ext cx="5266944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A3C"/>
                </a:solidFill>
                <a:latin typeface="Segoe UI"/>
              </a:defRPr>
            </a:pPr>
            <a:r>
              <a:t>The Balance Problem: Reward/Penalty Design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ExamGuard: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Correct alert = +100 | Correct silence = +10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False alarm = -50 | Missed cheating = -200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ICU Alarms: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Real emergency alerted = +1000 (life saved)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Correct silence = +10 (nurse trust maintained)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False alarm = -50 (erodes trust)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Missed emergency = -5000 (catastrophic)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KEY INSIGHT: RL optimizes LONG-TERM outcome.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One false alarm isn't just -50 points; it's -50 PLUS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'nurse will be 5% less likely to respond next time.'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RL accounts for this cascade effect.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  Classification has NO concept of consequences over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Complete Classification Model Map — All 7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8100"/>
          </a:xfrm>
          <a:prstGeom prst="rect">
            <a:avLst/>
          </a:prstGeom>
          <a:solidFill>
            <a:srgbClr val="50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371600"/>
          <a:ext cx="10332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  <a:gridCol w="2926080"/>
                <a:gridCol w="32004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Real Example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DON'T Use When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Quick baseline, 2 categories, small data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Spam filter, pass/fail, ad click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Images, complex patterns, 5+ categories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MUST explain why (banks, hospitals, legal)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Loan approval, diagnosis, tax audit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Just want accuracy (RF is better)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Best accuracy for tabular data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Disease diagnosis, churn, credit risk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Need to explain each step, real-time speed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Clear boundaries between groups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Handwriting recognition, text classification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Very large data (slow), messy boundaries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KNN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Small data, simple, intuitive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House category, small recommendation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Large data (very slow), many features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Naive Bayes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Text data (spam, sentiment, categorization)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Email spam, reviews, news classification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Images, numeric-only data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CNN / YOLO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Images and video (ONLY option for visual)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ExamGuard, X-ray, self-driving, face recog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Spreadsheet data (complete overkill)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0A0FF"/>
                </a:solidFill>
                <a:latin typeface="Segoe UI"/>
              </a:defRPr>
            </a:pPr>
            <a:r>
              <a:t>Supervised Classification: Answer is a WORD. You have labeled data. These 7 models cover 95% of classification problems.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Complete Regression Model Map — All 5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8100"/>
          </a:xfrm>
          <a:prstGeom prst="rect">
            <a:avLst/>
          </a:prstGeom>
          <a:solidFill>
            <a:srgbClr val="64D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371600"/>
          <a:ext cx="10332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2926080"/>
                <a:gridCol w="301752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Real Example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DON'T Use When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Always try first. Simple, fast baseline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House price, salary, basic forecasting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Curved relationships, very complex patterns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Polynomial Regression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Curved relationships (U-shape, hill, wave)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Crop yield vs fertilizer, dosage vs effect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Don't know if curved (try Linear first)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Decision Tree Regression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Must explain the number (tax, insurance)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Property tax, insurance premium calc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Just want accuracy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Random Forest Regression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Best accuracy for number prediction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Delivery time, house price, energy demand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Need to explain each step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Neural Net Regression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Massive data (100K+), 50+ features, complex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Stock price, weather, drug effectiveness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Small data (&lt;10K will overfit)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572000"/>
            <a:ext cx="10789920" cy="1828800"/>
          </a:xfrm>
          <a:prstGeom prst="round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645152"/>
            <a:ext cx="10570464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C50"/>
                </a:solidFill>
                <a:latin typeface="Segoe UI"/>
              </a:defRPr>
            </a:pPr>
            <a:r>
              <a:t>The Regression Decision Path: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8C8D2"/>
                </a:solidFill>
                <a:latin typeface="Segoe UI"/>
              </a:defRPr>
            </a:pPr>
            <a:r>
              <a:t>Linear Regression first → R² &gt; 0.80? DONE  →  R² &lt; 0.80? Is data CURVED? → Polynomial  →  Need explanation? → DT Regression  →  Best accuracy? → RF Regression  →  100K+ rows? → Neural Net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8C8D2"/>
                </a:solidFill>
                <a:latin typeface="Segoe UI"/>
              </a:defRPr>
            </a:pPr>
          </a:p>
          <a:p>
            <a:pPr algn="l">
              <a:spcBef>
                <a:spcPts val="200"/>
              </a:spcBef>
              <a:defRPr sz="1200" b="0">
                <a:solidFill>
                  <a:srgbClr val="C8C8D2"/>
                </a:solidFill>
                <a:latin typeface="Segoe UI"/>
              </a:defRPr>
            </a:pPr>
            <a:r>
              <a:t>KEY RULE: Always start simple. Sometimes Linear IS the best model (electricity bills, direct proportional relationships). Don't overcomplicate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Complete Unsupervised + RL Model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8100"/>
          </a:xfrm>
          <a:prstGeom prst="rect">
            <a:avLst/>
          </a:prstGeom>
          <a:solidFill>
            <a:srgbClr val="B4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371600"/>
          <a:ext cx="103327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  <a:gridCol w="3108960"/>
                <a:gridCol w="301752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Real Example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DON'T Use When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K-Means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Group into K clusters (you pick K)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Customer segments, playlist creation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Don't know K, have outliers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Find groups naturally + flag outliers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Delivery routes, suspicious accounts, hotspots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Want specific number of groups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Isolation Forest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Find rare events in tabular data (&lt;1%)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Credit card fraud, machine failure, score cheating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Events are common (&gt;10%), complex data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Autoencoder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Learn normal, catch ANY deviation (unknown)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ExamGuard behavior, factory defects, cybersecurity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Have labeled data (use supervised instead)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PCA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Too many features, simplify data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Face recognition (10K→10 features), gene analysis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Few features already (&lt;10)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C50"/>
                </a:solidFill>
                <a:latin typeface="Segoe UI"/>
              </a:defRPr>
            </a:pPr>
            <a:r>
              <a:t>Reinforcement Learning: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4800600"/>
          <a:ext cx="71323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828800"/>
                <a:gridCol w="22860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Reward Example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Why Not Supervised?</a:t>
                      </a:r>
                    </a:p>
                  </a:txBody>
                  <a:tcPr>
                    <a:solidFill>
                      <a:srgbClr val="3232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Game AI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Game player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Score points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Too many game states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Self-driving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Car AI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Safe driving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Billions of scenarios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Robotics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Robot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Stay upright, move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Can't label joint angles</a:t>
                      </a:r>
                    </a:p>
                  </a:txBody>
                  <a:tcPr>
                    <a:solidFill>
                      <a:srgbClr val="2A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Alert systems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Alert AI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Correct alerts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8C8D2"/>
                          </a:solidFill>
                          <a:latin typeface="Segoe UI"/>
                        </a:defRPr>
                      </a:pPr>
                      <a:r>
                        <a:t>Balance alerts over time</a:t>
                      </a:r>
                    </a:p>
                  </a:txBody>
                  <a:tcPr>
                    <a:solidFill>
                      <a:srgbClr val="2424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6 Expert Tricks for Model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8100"/>
          </a:xfrm>
          <a:prstGeom prst="rect">
            <a:avLst/>
          </a:prstGeom>
          <a:solidFill>
            <a:srgbClr val="FFD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325880"/>
            <a:ext cx="3566160" cy="256032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A0FF"/>
                </a:solidFill>
                <a:latin typeface="Segoe UI"/>
              </a:defRPr>
            </a:pPr>
            <a:r>
              <a:t>1. Always Start Simple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Try simplest model first. If Logistic Reg gives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83% and CNN gives 85%, use Logistic Reg.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Saves hours, runs on any laptop, easy to debug.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Real example: Ad click prediction — Google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started with Logistic Regression.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325880"/>
            <a:ext cx="3566160" cy="256032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64D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0" y="141732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DC8C"/>
                </a:solidFill>
                <a:latin typeface="Segoe UI"/>
              </a:defRPr>
            </a:pPr>
            <a:r>
              <a:t>2. Data Size Decides Complexity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&lt; 1K rows → Decision Tree, Logistic Regression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1K-100K → Random Forest, SVM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100K+ → Deep Learning worth trying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1M+ → Deep Learning will likely beat all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Don't use Neural Nets on small data!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325880"/>
            <a:ext cx="3566160" cy="256032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41732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A3C"/>
                </a:solidFill>
                <a:latin typeface="Segoe UI"/>
              </a:defRPr>
            </a:pPr>
            <a:r>
              <a:t>3. Check What Others Use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Google your problem: 'object detection real-time'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→ Everyone uses YOLO → Use YOLO.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Don't reinvent the wheel.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Industry standards exist for good reason.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Research papers show what 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114800"/>
            <a:ext cx="3566160" cy="256032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B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478FF"/>
                </a:solidFill>
                <a:latin typeface="Segoe UI"/>
              </a:defRPr>
            </a:pPr>
            <a:r>
              <a:t>4. Transfer Learning Is Your Best Friend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Have few images? Take a model pre-trained 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millions → fine-tune with YOUR small dataset.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90% of real image projects do this.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Without TL: 40-50%. With TL: 85-90%!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Like hiring a 5-language speaker to learn Urdu.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4114800"/>
            <a:ext cx="3566160" cy="256032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50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420624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DCDC"/>
                </a:solidFill>
                <a:latin typeface="Segoe UI"/>
              </a:defRPr>
            </a:pPr>
            <a:r>
              <a:t>5. Break Complex Problems Into Sub-Problems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ExamGuard = 7 different models working together: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Phone detection (YOLO)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Behavior analysis (Autoencoder)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Alert timing (RL)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• Identity verification (Face CNN)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4114800"/>
            <a:ext cx="3566160" cy="256032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420624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A5A"/>
                </a:solidFill>
                <a:latin typeface="Segoe UI"/>
              </a:defRPr>
            </a:pPr>
            <a:r>
              <a:t>6. Test Multiple Models, Pick the Best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Always try 3-4 models on the same data.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Compare accuracy AND speed AND explainability.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You'd NEVER know which is best without testing.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Common combo: Logistic Reg baseline → RF → XGBoost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C8C8D2"/>
                </a:solidFill>
                <a:latin typeface="Segoe UI"/>
              </a:defRPr>
            </a:pPr>
            <a:r>
              <a:t>Pick the one that fits your real requirements.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Quick Reference — The 5 Questions That Pick Your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4572000" cy="38100"/>
          </a:xfrm>
          <a:prstGeom prst="rect">
            <a:avLst/>
          </a:prstGeom>
          <a:solidFill>
            <a:srgbClr val="FFA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5029200"/>
          </a:xfrm>
          <a:prstGeom prst="roundRect">
            <a:avLst/>
          </a:prstGeom>
          <a:solidFill>
            <a:srgbClr val="2A2A3A"/>
          </a:solidFill>
          <a:ln w="19050">
            <a:solidFill>
              <a:srgbClr val="FF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10332720" cy="777240"/>
          </a:xfrm>
          <a:prstGeom prst="roundRect">
            <a:avLst/>
          </a:prstGeom>
          <a:solidFill>
            <a:srgbClr val="242432"/>
          </a:solidFill>
          <a:ln w="19050">
            <a:solidFill>
              <a:srgbClr val="50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0A0FF"/>
                </a:solidFill>
                <a:latin typeface="Segoe UI"/>
              </a:defRPr>
            </a:pPr>
            <a:r>
              <a:t>Q1: What does my answer look like?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WORD → Classification  |  NUMBER → Regression  |  GROUPS → Clustering  |  WEIRD → Anomaly Detection  |  STRATEGY → RL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10332720" cy="777240"/>
          </a:xfrm>
          <a:prstGeom prst="roundRect">
            <a:avLst/>
          </a:prstGeom>
          <a:solidFill>
            <a:srgbClr val="242432"/>
          </a:solidFill>
          <a:ln w="19050">
            <a:solidFill>
              <a:srgbClr val="64D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4DC8C"/>
                </a:solidFill>
                <a:latin typeface="Segoe UI"/>
              </a:defRPr>
            </a:pPr>
            <a:r>
              <a:t>Q2: Do I have labeled data?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YES → Supervised (Classification or Regression)  |  NO → Unsupervised (Clustering or Anomaly)  |  NO + reward/penalty → 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337560"/>
            <a:ext cx="10332720" cy="777240"/>
          </a:xfrm>
          <a:prstGeom prst="roundRect">
            <a:avLst/>
          </a:prstGeom>
          <a:solidFill>
            <a:srgbClr val="242432"/>
          </a:solidFill>
          <a:ln w="19050">
            <a:solidFill>
              <a:srgbClr val="FFA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383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A3C"/>
                </a:solidFill>
                <a:latin typeface="Segoe UI"/>
              </a:defRPr>
            </a:pPr>
            <a:r>
              <a:t>Q3: What TYPE is my data?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Numbers → Traditional ML  |  Images/Video → CNN/YOLO  |  Text → Naive Bayes/BERT  |  Time Series → LSTM/RNN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06239"/>
            <a:ext cx="10332720" cy="777240"/>
          </a:xfrm>
          <a:prstGeom prst="roundRect">
            <a:avLst/>
          </a:prstGeom>
          <a:solidFill>
            <a:srgbClr val="242432"/>
          </a:solidFill>
          <a:ln w="19050">
            <a:solidFill>
              <a:srgbClr val="B4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5195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478FF"/>
                </a:solidFill>
                <a:latin typeface="Segoe UI"/>
              </a:defRPr>
            </a:pPr>
            <a:r>
              <a:t>Q4: How much data?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&lt; 1K → Simplest only (LogReg, DT)  |  1K-100K → Medium (RF, SVM, KNN)  |  100K+ → Deep Learning worth trying  |  1M+ → DL wins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074920"/>
            <a:ext cx="10332720" cy="777240"/>
          </a:xfrm>
          <a:prstGeom prst="roundRect">
            <a:avLst/>
          </a:prstGeom>
          <a:solidFill>
            <a:srgbClr val="242432"/>
          </a:solidFill>
          <a:ln w="19050">
            <a:solidFill>
              <a:srgbClr val="FF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5A5A"/>
                </a:solidFill>
                <a:latin typeface="Segoe UI"/>
              </a:defRPr>
            </a:pPr>
            <a:r>
              <a:t>Q5: Any special requirements?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C8C8D2"/>
                </a:solidFill>
                <a:latin typeface="Segoe UI"/>
              </a:defRPr>
            </a:pPr>
            <a:r>
              <a:t>Explain WHY → Decision Tree  |  Real-time speed → YOLO/LogReg  |  Data IMBALANCED → Anomaly Detection  |  Few images → Transfer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035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C50"/>
                </a:solidFill>
                <a:latin typeface="Segoe UI"/>
              </a:defRPr>
            </a:pPr>
            <a:r>
              <a:t>"Answer these 5 questions and the model picks itself. When in doubt: start simple → test a few → pick the best."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