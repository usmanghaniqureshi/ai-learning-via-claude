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96FF"/>
                </a:solidFill>
              </a:defRPr>
            </a:pPr>
            <a:r>
              <a:t>AI &amp;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Visual Study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D2"/>
                </a:solidFill>
              </a:defRPr>
            </a:pPr>
            <a:r>
              <a:t>From Intelligence to Math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11 Topics  |  Personal Study Guide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1. What is Intelligence?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5603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64"/>
                </a:solidFill>
              </a:defRPr>
            </a:pPr>
            <a:r>
              <a:t>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Get better from</a:t>
            </a:r>
            <a:br/>
            <a:r>
              <a:t>past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371600"/>
            <a:ext cx="25603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</a:defRPr>
            </a:pPr>
            <a: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Make sense of</a:t>
            </a:r>
            <a:br/>
            <a:r>
              <a:t>new situations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25603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A500"/>
                </a:solidFill>
              </a:defRPr>
            </a:pPr>
            <a:r>
              <a:t>DECIDE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Choose the best</a:t>
            </a:r>
            <a:br/>
            <a:r>
              <a:t>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371600"/>
            <a:ext cx="25603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64FF"/>
                </a:solidFill>
              </a:defRPr>
            </a:pPr>
            <a:r>
              <a:t>ADAPT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1031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Change behavior</a:t>
            </a:r>
            <a:br/>
            <a:r>
              <a:t>when things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Dark clouds -&gt; remember rain -&gt; walk faster -&gt; carry umbrella</a:t>
            </a:r>
            <a:br/>
            <a:r>
              <a:t>That process = Intelligence!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2. What is AI?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457200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</a:defRPr>
            </a:pPr>
            <a:r>
              <a:t>HUMAN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297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Brain learns from experience</a:t>
            </a:r>
            <a:br/>
            <a:r>
              <a:t>Understands context</a:t>
            </a:r>
            <a:br/>
            <a:r>
              <a:t>Makes decisions</a:t>
            </a:r>
            <a:br/>
            <a:r>
              <a:t>Adapts to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457200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63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4297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Software learns from data</a:t>
            </a:r>
            <a:br/>
            <a:r>
              <a:t>Finds patterns</a:t>
            </a:r>
            <a:br/>
            <a:r>
              <a:t>Makes predictions</a:t>
            </a:r>
            <a:br/>
            <a:r>
              <a:t>Improves over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AI = Brain (Software)     |     Robot = Body (Hardware)     |     Most AI has NO body!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3. Types of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058400" cy="1371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64"/>
                </a:solidFill>
              </a:defRPr>
            </a:pPr>
            <a:r>
              <a:t>NARROW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One thing really well |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Google Maps, ChatGPT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</a:defRPr>
            </a:pPr>
            <a:r>
              <a:t>GENERAL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Everything a human can | NOT 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Science fiction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80560"/>
            <a:ext cx="10058400" cy="1371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050"/>
                </a:solidFill>
              </a:defRPr>
            </a:pPr>
            <a:r>
              <a:t>SUPER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Better than ALL humans | SCI-FI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Ultron, Skynet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4. Traditional Programming vs ML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050"/>
                </a:solidFill>
              </a:defRPr>
            </a:pPr>
            <a:r>
              <a:t>TRADITIONAL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RULES + DATA --&gt;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</a:defRPr>
            </a:pPr>
            <a:r>
              <a:t>Human writes all rules</a:t>
            </a:r>
            <a:br/>
            <a:r>
              <a:t>Computer follows blindly</a:t>
            </a:r>
            <a:br/>
            <a:r>
              <a:t>Like a recipe 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64"/>
                </a:solidFill>
              </a:defRPr>
            </a:pPr>
            <a: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 + ANSWERS --&gt;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</a:defRPr>
            </a:pPr>
            <a:r>
              <a:t>Computer learns rules itself</a:t>
            </a:r>
            <a:br/>
            <a:r>
              <a:t>Finds patterns from examples</a:t>
            </a:r>
            <a:br/>
            <a:r>
              <a:t>Like tasting 1000 dishes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5. The AI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9418320" cy="5029200"/>
          </a:xfrm>
          <a:prstGeom prst="rect">
            <a:avLst/>
          </a:prstGeom>
          <a:solidFill>
            <a:srgbClr val="283246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AI - Any smart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828800"/>
            <a:ext cx="7955279" cy="4114800"/>
          </a:xfrm>
          <a:prstGeom prst="rect">
            <a:avLst/>
          </a:prstGeom>
          <a:solidFill>
            <a:srgbClr val="283C32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0279" y="1920240"/>
            <a:ext cx="7680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</a:defRPr>
            </a:pPr>
            <a:r>
              <a:t>ML - Learns from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2468880"/>
            <a:ext cx="6492240" cy="3200400"/>
          </a:xfrm>
          <a:prstGeom prst="rect">
            <a:avLst/>
          </a:prstGeom>
          <a:solidFill>
            <a:srgbClr val="3C28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25603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464FF"/>
                </a:solidFill>
              </a:defRPr>
            </a:pPr>
            <a:r>
              <a:t>Deep Learning - Neural networks with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108960"/>
            <a:ext cx="4846320" cy="2286000"/>
          </a:xfrm>
          <a:prstGeom prst="rect">
            <a:avLst/>
          </a:prstGeom>
          <a:solidFill>
            <a:srgbClr val="463228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</a:defRPr>
            </a:pPr>
            <a:r>
              <a:t>LLMs - Deep Learning for language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464FF"/>
                </a:solidFill>
              </a:defRPr>
            </a:pPr>
            <a:r>
              <a:t>How Deep Learning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1031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Layer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Find edges</a:t>
            </a:r>
            <a:br/>
            <a:r>
              <a:t>&amp;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C32"/>
                </a:solidFill>
              </a:defRPr>
            </a:pPr>
            <a:r>
              <a:t>&gt;&gt;&gt;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371600"/>
            <a:ext cx="21031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Layer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59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Combine into</a:t>
            </a:r>
            <a:br/>
            <a:r>
              <a:t>shapes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C32"/>
                </a:solidFill>
              </a:defRPr>
            </a:pPr>
            <a:r>
              <a:t>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21031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Layer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Assemble</a:t>
            </a:r>
            <a:br/>
            <a:r>
              <a:t>face parts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C32"/>
                </a:solidFill>
              </a:defRPr>
            </a:pPr>
            <a:r>
              <a:t>&gt;&gt;&gt;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59" y="1371600"/>
            <a:ext cx="21031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59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</a:defRPr>
            </a:pPr>
            <a:r>
              <a:t>Layer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Identify</a:t>
            </a:r>
            <a:br/>
            <a:r>
              <a:t>person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</a:defRPr>
            </a:pPr>
            <a:r>
              <a:t>Each layer builds on previous: Simple -&gt; Complex -&gt; Answer. "DEEP" = many layers!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6. Supervised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29260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64"/>
                </a:solidFill>
              </a:defRPr>
            </a:pPr>
            <a:r>
              <a:t>CLASSIFICATION =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Spam? -&gt; Yes/No</a:t>
            </a:r>
            <a:br/>
            <a:r>
              <a:t>Animal? -&gt; Cat/Dog/Bird</a:t>
            </a:r>
            <a:br/>
            <a:r>
              <a:t>Broken? -&gt; Yes/No</a:t>
            </a:r>
            <a:br/>
            <a:r>
              <a:t>Size? -&gt; S/M/L/XL</a:t>
            </a:r>
            <a:br/>
            <a:br/>
            <a:r>
              <a:t>Like fruit sorting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29260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REGRESSION =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House price? -&gt; Rs 45 lakhs</a:t>
            </a:r>
            <a:br/>
            <a:r>
              <a:t>Temperature? -&gt; 33 deg C</a:t>
            </a:r>
            <a:br/>
            <a:r>
              <a:t>Delivery? -&gt; 2.5 hours</a:t>
            </a:r>
            <a:br/>
            <a:r>
              <a:t>Marks? -&gt; 87/100</a:t>
            </a:r>
            <a:br/>
            <a:br/>
            <a:r>
              <a:t>Like mango shopkeeper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C32"/>
                </a:solidFill>
              </a:defRPr>
            </a:pPr>
            <a:r>
              <a:t>"Will student pass?" = Classification  |  "What marks?" = Regression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64"/>
                </a:solidFill>
              </a:defRPr>
            </a:pPr>
            <a:r>
              <a:t>Famous Classification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10312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864"/>
                </a:solidFill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Line between</a:t>
            </a:r>
            <a:br/>
            <a:r>
              <a:t>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Fence: apples</a:t>
            </a:r>
            <a:br/>
            <a:r>
              <a:t>vs oranges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097280"/>
            <a:ext cx="210312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188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864"/>
                </a:solidFill>
              </a:defRPr>
            </a:pPr>
            <a:r>
              <a:t>Decision</a:t>
            </a:r>
            <a:br/>
            <a:r>
              <a:t>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Yes/No</a:t>
            </a:r>
            <a:br/>
            <a:r>
              <a:t>flowchart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926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Playing 20</a:t>
            </a:r>
            <a:br/>
            <a:r>
              <a:t>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097280"/>
            <a:ext cx="210312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188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864"/>
                </a:solidFill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100+ trees</a:t>
            </a:r>
            <a:br/>
            <a:r>
              <a:t>vote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100 doctors</a:t>
            </a:r>
            <a:br/>
            <a:r>
              <a:t>majority wins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097280"/>
            <a:ext cx="210312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188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864"/>
                </a:solidFill>
              </a:defRPr>
            </a:pPr>
            <a:r>
              <a:t>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Best boundary</a:t>
            </a:r>
            <a:br/>
            <a:r>
              <a:t>max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926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Wall with</a:t>
            </a:r>
            <a:br/>
            <a:r>
              <a:t>max space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097280"/>
            <a:ext cx="210312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188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864"/>
                </a:solidFill>
              </a:defRPr>
            </a:pPr>
            <a:r>
              <a:t>KNN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K nearest</a:t>
            </a:r>
            <a:br/>
            <a:r>
              <a:t>neighbors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926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Rich neighbors</a:t>
            </a:r>
            <a:br/>
            <a:r>
              <a:t>= expensive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500"/>
                </a:solidFill>
              </a:defRPr>
            </a:pPr>
            <a:r>
              <a:t>Famous Regression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37744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</a:defRPr>
            </a:pPr>
            <a:r>
              <a:t>Linear</a:t>
            </a:r>
            <a:br/>
            <a:r>
              <a:t>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Straight line</a:t>
            </a:r>
            <a:br/>
            <a:r>
              <a:t>through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Size vs price</a:t>
            </a:r>
            <a:br/>
            <a:r>
              <a:t>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097280"/>
            <a:ext cx="237744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188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</a:defRPr>
            </a:pPr>
            <a:r>
              <a:t>Polynomial</a:t>
            </a:r>
            <a:br/>
            <a:r>
              <a:t>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Curved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Life isn't</a:t>
            </a:r>
            <a:br/>
            <a:r>
              <a:t>always straight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237744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188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</a:defRPr>
            </a:pPr>
            <a:r>
              <a:t>Random Forest</a:t>
            </a:r>
            <a:br/>
            <a:r>
              <a:t>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100+ trees</a:t>
            </a:r>
            <a:br/>
            <a:r>
              <a:t>average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Classification</a:t>
            </a:r>
            <a:br/>
            <a:r>
              <a:t>but numbers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097280"/>
            <a:ext cx="237744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188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</a:defRPr>
            </a:pPr>
            <a:r>
              <a:t>Neural</a:t>
            </a:r>
            <a:br/>
            <a:r>
              <a:t>Networks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Many layers</a:t>
            </a:r>
            <a:br/>
            <a:r>
              <a:t>complex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Most powerful</a:t>
            </a:r>
            <a:br/>
            <a:r>
              <a:t>needs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7. Unsupervised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64"/>
                </a:solidFill>
              </a:defRPr>
            </a:pPr>
            <a:r>
              <a:t>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"Group similar things"</a:t>
            </a:r>
            <a:br/>
            <a:br/>
            <a:r>
              <a:t>Customers: budget/luxury/deal hunters</a:t>
            </a:r>
            <a:br/>
            <a:r>
              <a:t>Spotify: songs by mood</a:t>
            </a:r>
            <a:br/>
            <a:r>
              <a:t>Google Photos: faces grouped</a:t>
            </a:r>
            <a:br/>
            <a:br/>
            <a:r>
              <a:t>School Photo: sort 50 photos</a:t>
            </a:r>
            <a:br/>
            <a:r>
              <a:t>with NO names by similarity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050"/>
                </a:solidFill>
              </a:defRPr>
            </a:pPr>
            <a:r>
              <a:t>ANOMALY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"Find the weird one"</a:t>
            </a:r>
            <a:br/>
            <a:br/>
            <a:r>
              <a:t>Credit card: Rs 500K in Tokyo</a:t>
            </a:r>
            <a:br/>
            <a:r>
              <a:t>Factory: 1000 -&gt; 1500 RPM</a:t>
            </a:r>
            <a:br/>
            <a:r>
              <a:t>Student: 40% -&gt; suddenly 100%</a:t>
            </a:r>
            <a:br/>
            <a:br/>
            <a:r>
              <a:t>Clustering = who belongs?</a:t>
            </a:r>
            <a:br/>
            <a:r>
              <a:t>Anomaly = who DOESN'T belong?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8.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</a:defRPr>
            </a:pPr>
            <a:r>
              <a:t>We define WHAT success looks like. Model discovers HOW.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2103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64"/>
                </a:solidFill>
              </a:defRPr>
            </a:pPr>
            <a: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The learner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You / Batsman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45920"/>
            <a:ext cx="2651760" cy="2103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</a:defRPr>
            </a:pPr>
            <a:r>
              <a:t>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194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The 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Road / Pitch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651760" cy="2103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C32"/>
                </a:solidFill>
              </a:defRPr>
            </a:pPr>
            <a:r>
              <a:t>REWARD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194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Good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Balanced! / Four!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645920"/>
            <a:ext cx="2651760" cy="2103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050"/>
                </a:solidFill>
              </a:defRPr>
            </a:pPr>
            <a:r>
              <a:t>PENALTY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2194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Bad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Fell / Got 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Chai: "Good = happy. Bad = face. Figure it out." After 50 attempts = perfect!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</a:defRPr>
            </a:pPr>
            <a:r>
              <a:t>Traditional: define WHAT + HOW  |  RL: define only WHAT, model discovers HOW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How RL is Set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651760" cy="1828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1.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Engineer builds</a:t>
            </a:r>
            <a:br/>
            <a:r>
              <a:t>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188720"/>
            <a:ext cx="2651760" cy="1828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2.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7373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Define what agent</a:t>
            </a:r>
            <a:br/>
            <a:r>
              <a:t>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2651760" cy="1828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3. REWARDS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7373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Define good</a:t>
            </a:r>
            <a:br/>
            <a:r>
              <a:t>and bad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188720"/>
            <a:ext cx="2651760" cy="1828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</a:defRPr>
            </a:pPr>
            <a:r>
              <a:t>4. START!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17373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Model learns</a:t>
            </a:r>
            <a:br/>
            <a:r>
              <a:t>on its own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3 Types of ML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56616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64"/>
                </a:solidFill>
              </a:defRPr>
            </a:pPr>
            <a:r>
              <a:t>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"WHAT is this?"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Data WITH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Cricket: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Ball, bat, bowler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56616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464FF"/>
                </a:solidFill>
              </a:defRPr>
            </a:pPr>
            <a:r>
              <a:t>UNSUPERVISED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"What PATTERNS?"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Data NO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Cricket: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91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Fielding positions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56616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500"/>
                </a:solidFill>
              </a:defRPr>
            </a:pPr>
            <a:r>
              <a:t>REINFORCEMENT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"HOW to do well?"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Trial +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926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Cricket: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91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Hit or defend?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C32"/>
                </a:solidFill>
              </a:defRPr>
            </a:pPr>
            <a:r>
              <a:t>Recognize | Discover | Strategize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Real Project: Exam Monitoring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</a:defRPr>
            </a:pPr>
            <a:r>
              <a:t>All 3 types working together!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56616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SUPERVISED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Recognize cheating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Label 10K clips</a:t>
            </a:r>
            <a:br/>
            <a:r>
              <a:t>cheating/normal</a:t>
            </a:r>
            <a:br/>
            <a:r>
              <a:t>Model learns what</a:t>
            </a:r>
            <a:br/>
            <a:r>
              <a:t>cheating looks like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56616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464FF"/>
                </a:solidFill>
              </a:defRPr>
            </a:pPr>
            <a:r>
              <a:t>UNSUPERVISED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Spot unusual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Learns normal patterns</a:t>
            </a:r>
            <a:br/>
            <a:r>
              <a:t>Flags anything unusual</a:t>
            </a:r>
            <a:br/>
            <a:r>
              <a:t>even never seen 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56616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REINFORCEMENT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When to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Correct alert = +10</a:t>
            </a:r>
            <a:br/>
            <a:r>
              <a:t>False alarm = -10</a:t>
            </a:r>
            <a:br/>
            <a:r>
              <a:t>Learns WHEN to flag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5050"/>
                </a:solidFill>
              </a:defRPr>
            </a:pPr>
            <a:r>
              <a:t>Self-Driving Car: Emergency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</a:defRPr>
            </a:pPr>
            <a:r>
              <a:t>Evaluates ALL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Brake? Swerve left? Right?</a:t>
            </a:r>
            <a:br/>
            <a:r>
              <a:t>Brake + slight swerve?</a:t>
            </a:r>
            <a:br/>
            <a:br/>
            <a:r>
              <a:t>Picks LEAST total harm</a:t>
            </a:r>
            <a:br/>
            <a:r>
              <a:t>In 0.001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02920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Human life:    -1000 pts</a:t>
            </a:r>
            <a:br/>
            <a:r>
              <a:t>Human injury: -500 pts</a:t>
            </a:r>
            <a:br/>
            <a:r>
              <a:t>Car damage:   -30 pts</a:t>
            </a:r>
            <a:br/>
            <a:br/>
            <a:r>
              <a:t>ALWAYS saves lives first!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</a:defRPr>
            </a:pPr>
            <a:r>
              <a:t>AI is SAFER: 0.001 sec reaction vs human 1-2 sec panic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PREVENTS emergencies: detects child 5 sec BEFORE, starts slowing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9. Neural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</a:defRPr>
            </a:pPr>
            <a:r>
              <a:t>Company Analogy: Reception -&gt; Departments -&gt; CEO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10896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INPUT</a:t>
            </a:r>
            <a:br/>
            <a:r>
              <a:t>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Receives 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Pixels, numbers,</a:t>
            </a:r>
            <a:br/>
            <a: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10896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464FF"/>
                </a:solidFill>
              </a:defRPr>
            </a:pPr>
            <a:r>
              <a:t>HIDDEN</a:t>
            </a:r>
            <a:br/>
            <a:r>
              <a:t>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Real processing</a:t>
            </a:r>
            <a:br/>
            <a:r>
              <a:t>happens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108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Find patterns,</a:t>
            </a:r>
            <a:br/>
            <a:r>
              <a:t>combine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645920"/>
            <a:ext cx="310896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OUTPUT</a:t>
            </a:r>
            <a:br/>
            <a:r>
              <a:t>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Final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108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Cat, Rs 72 lakhs,</a:t>
            </a:r>
            <a:br/>
            <a:r>
              <a:t>Spam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5029200" cy="1371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Epoch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One complete pass through</a:t>
            </a:r>
            <a:br/>
            <a:r>
              <a:t>ALL training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572000"/>
            <a:ext cx="5029200" cy="1371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Activation Function = Bouncer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292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At EVERY neuron: "Important</a:t>
            </a:r>
            <a:br/>
            <a:r>
              <a:t>enough to pass forward?"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10. Math Foundations - Why ML Needs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C32"/>
                </a:solidFill>
              </a:defRPr>
            </a:pPr>
            <a:r>
              <a:t>SPEAK -&gt; COMPARE -&gt; FIND -&gt;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Convert data to</a:t>
            </a:r>
            <a:br/>
            <a:r>
              <a:t>numbers. ML's</a:t>
            </a:r>
            <a:br/>
            <a:r>
              <a:t>language.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45920"/>
            <a:ext cx="265176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DOT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8346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How similar are</a:t>
            </a:r>
            <a:br/>
            <a:r>
              <a:t>two things?</a:t>
            </a:r>
            <a:br/>
            <a:r>
              <a:t>High = similar.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65176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DERIVATIVES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8346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Which weight</a:t>
            </a:r>
            <a:br/>
            <a:r>
              <a:t>caused the error?</a:t>
            </a:r>
            <a:br/>
            <a:r>
              <a:t>By how much?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645920"/>
            <a:ext cx="265176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</a:defRPr>
            </a:pPr>
            <a:r>
              <a:t>GRADIENT</a:t>
            </a:r>
            <a:br/>
            <a:r>
              <a:t>DESCENT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8346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Walk downhill</a:t>
            </a:r>
            <a:br/>
            <a:r>
              <a:t>to minimum error.</a:t>
            </a:r>
            <a:br/>
            <a:r>
              <a:t>Adjust weights.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You = Driver (decide what problem)  |  Math = Engine (calculations)  |  Python = Car (press buttons)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The Full Training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38328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1.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Data -&gt;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[1000, 5]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188720"/>
            <a:ext cx="338328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2. 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Features x weights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= 20 lakhs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38328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</a:defRPr>
            </a:pPr>
            <a:r>
              <a:t>3.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Actual vs predicted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50-20 = 30 off!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338328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23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4. DERIVATIVE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5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Find what's wrong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1207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Size weight too 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3931920"/>
            <a:ext cx="338328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4023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464FF"/>
                </a:solidFill>
              </a:defRPr>
            </a:pPr>
            <a:r>
              <a:t>5. ADJUST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448055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Fix all weights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521207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0.01 -&gt; 0.018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931920"/>
            <a:ext cx="338328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023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C32"/>
                </a:solidFill>
              </a:defRPr>
            </a:pPr>
            <a:r>
              <a:t>6. REPEAT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48055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Until accurate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21207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500 rounds!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Train/Test Split &amp; Overfitting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64"/>
                </a:solidFill>
              </a:defRPr>
            </a:pPr>
            <a:r>
              <a:t>TRAIN/TEST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80% data -&gt; TRAINING (model learns)</a:t>
            </a:r>
            <a:br/>
            <a:r>
              <a:t>20% data -&gt; TESTING (never seen!)</a:t>
            </a:r>
            <a:br/>
            <a:br/>
            <a:r>
              <a:t>Computer checks accuracy automatically</a:t>
            </a:r>
            <a:br/>
            <a:r>
              <a:t>No human reads each output!</a:t>
            </a:r>
            <a:br/>
            <a:r>
              <a:t>Even 100 million entries = 2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02920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050"/>
                </a:solidFill>
              </a:defRPr>
            </a:pPr>
            <a:r>
              <a:t>OVERFITTING = Biggest Danger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Model MEMORIZES instead of LEARNING</a:t>
            </a:r>
            <a:br/>
            <a:br/>
            <a:r>
              <a:t>Like student who memorizes practice</a:t>
            </a:r>
            <a:br/>
            <a:r>
              <a:t>questions but fails real exam</a:t>
            </a:r>
            <a:br/>
            <a:br/>
            <a:r>
              <a:t>99% training + 30% test = OVERFITTING!</a:t>
            </a:r>
            <a:br/>
            <a:r>
              <a:t>Bad data = low on BOTH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10698480" cy="1828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</a:defRPr>
            </a:pPr>
            <a:r>
              <a:t>Testing by ML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64"/>
                </a:solidFill>
              </a:defRPr>
            </a:pPr>
            <a:r>
              <a:t>Supervised:</a:t>
            </a:r>
            <a:br/>
            <a:r>
              <a:t>Computer compares</a:t>
            </a:r>
            <a:br/>
            <a:r>
              <a:t>predictions vs labels</a:t>
            </a:r>
            <a:br/>
            <a:r>
              <a:t>(automatic)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389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64FF"/>
                </a:solidFill>
              </a:defRPr>
            </a:pPr>
            <a:r>
              <a:t>Unsupervised:</a:t>
            </a:r>
            <a:br/>
            <a:r>
              <a:t>Human checks groups</a:t>
            </a:r>
            <a:br/>
            <a:r>
              <a:t>+ math similarity</a:t>
            </a:r>
            <a:br/>
            <a: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389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500"/>
                </a:solidFill>
              </a:defRPr>
            </a:pPr>
            <a:r>
              <a:t>Reinforcement:</a:t>
            </a:r>
            <a:br/>
            <a:r>
              <a:t>Measure performance</a:t>
            </a:r>
            <a:br/>
            <a:r>
              <a:t>win rate, score,</a:t>
            </a:r>
            <a:br/>
            <a:r>
              <a:t>crashes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11. How Math Connects to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8C8D2"/>
                </a:solidFill>
              </a:defRPr>
            </a:pPr>
            <a:r>
              <a:t>Real Estate Agent Analogy: Start dumb -&gt; learn from mistakes -&gt; become expert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C32"/>
                </a:solidFill>
              </a:defRPr>
            </a:pPr>
            <a:r>
              <a:t>The 5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050"/>
                </a:solidFill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Model starts DUMB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Random weights = random guesses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Each round: guess -&gt; wrong -&gt; adjust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788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Guided by math, not random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64"/>
                </a:solidFill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After 1000s of rounds = EXPERT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Weights = learned 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</a:defRPr>
            </a:pPr>
            <a: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94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Discovers rules NOBODY taught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Older house = cheaper (negative weight!)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64FF"/>
                </a:solidFill>
              </a:defRPr>
            </a:pPr>
            <a: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Test on unseen data -&gt; if good -&gt; deploy!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80/20 split, computer checks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C32"/>
                </a:solidFill>
              </a:defRPr>
            </a:pPr>
            <a:r>
              <a:t>You don't need to DO the math. Python does it in one line of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</a:defRPr>
            </a:pPr>
            <a:r>
              <a:t>You need to understand the PROCESS: what's happening and why.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Key Terms -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024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Learn + Understand + Decide + Adapt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5910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Machines that learn &amp; decide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39696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Narrow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579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One task (ALL current AI)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06624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724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Learns rules from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73552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Deep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291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Layers for complex patterns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587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8587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DL for language (ChatGPT)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07408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256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Features /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4256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Input data / Correct answers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74336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92623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Classification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99262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Predict a WORD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41264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559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Regression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55595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Predict a NUMBER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108192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1264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Clustering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61264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Group similar (no labels)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1024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Anomaly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1024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Spot the odd 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572768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15910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Agent / Environment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15910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RL learner / RL world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139696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59" y="21579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Reward / Penalty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1579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Good / Bad feedback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706624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59" y="2724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Vector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724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List of numbers = 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273552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3291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Dot Product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291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Similarity score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840480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59" y="38587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Derivative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8587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What went wrong?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407408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59" y="44256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Gradient Descent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4256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Fix weights step by step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4974336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59" y="4992623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Learning Rate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499262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Step size (don't overshoot)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5541264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59" y="5559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Epoch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55595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One pass through all data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6108192"/>
            <a:ext cx="5486400" cy="457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59" y="61264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Overfitting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61264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Memorized, can't generalize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