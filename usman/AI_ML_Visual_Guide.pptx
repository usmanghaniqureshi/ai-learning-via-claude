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96FF"/>
                </a:solidFill>
              </a:defRPr>
            </a:pPr>
            <a:r>
              <a:t>AI &amp;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Visual Study Guide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8C8D2"/>
                </a:solidFill>
              </a:defRPr>
            </a:pPr>
            <a:r>
              <a:t>From Intelligence to Math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11 Topics  |  Personal Study Guide  |  March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FF"/>
                </a:solidFill>
              </a:defRPr>
            </a:pPr>
            <a:r>
              <a:t>1. What is Intelligence?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25603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C864"/>
                </a:solidFill>
              </a:defRPr>
            </a:pPr>
            <a:r>
              <a:t>LEARN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Get better from</a:t>
            </a:r>
            <a:br/>
            <a:r>
              <a:t>past experience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0" y="1371600"/>
            <a:ext cx="25603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463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96FF"/>
                </a:solidFill>
              </a:defRPr>
            </a:pPr>
            <a:r>
              <a:t>UNDERSTAND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031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Make sense of</a:t>
            </a:r>
            <a:br/>
            <a:r>
              <a:t>new situations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371600"/>
            <a:ext cx="25603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463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A500"/>
                </a:solidFill>
              </a:defRPr>
            </a:pPr>
            <a:r>
              <a:t>DECIDE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031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Choose the best</a:t>
            </a:r>
            <a:br/>
            <a:r>
              <a:t>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35440" y="1371600"/>
            <a:ext cx="25603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0" y="1463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64FF"/>
                </a:solidFill>
              </a:defRPr>
            </a:pPr>
            <a:r>
              <a:t>ADAPT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103120"/>
            <a:ext cx="2377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Change behavior</a:t>
            </a:r>
            <a:br/>
            <a:r>
              <a:t>when things change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1148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Dark clouds -&gt; remember rain -&gt; walk faster -&gt; carry umbrella</a:t>
            </a:r>
            <a:br/>
            <a:r>
              <a:t>That process = Intelligence!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FF"/>
                </a:solidFill>
              </a:defRPr>
            </a:pPr>
            <a:r>
              <a:t>2. What is AI?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45720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4630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64"/>
                </a:solidFill>
              </a:defRPr>
            </a:pPr>
            <a:r>
              <a:t>HUMAN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783080"/>
            <a:ext cx="42976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Brain learns from experience</a:t>
            </a:r>
            <a:br/>
            <a:r>
              <a:t>Understands context</a:t>
            </a:r>
            <a:br/>
            <a:r>
              <a:t>Makes decisions</a:t>
            </a:r>
            <a:br/>
            <a:r>
              <a:t>Adapts to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371600"/>
            <a:ext cx="45720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4630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FF"/>
                </a:solidFill>
              </a:defRPr>
            </a:pPr>
            <a:r>
              <a:t>ARTIFICIAL INTELLIGENCE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783080"/>
            <a:ext cx="42976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C8C8D2"/>
                </a:solidFill>
              </a:defRPr>
            </a:pPr>
            <a:r>
              <a:t>Software learns from data</a:t>
            </a:r>
            <a:br/>
            <a:r>
              <a:t>Finds patterns</a:t>
            </a:r>
            <a:br/>
            <a:r>
              <a:t>Makes predictions</a:t>
            </a:r>
            <a:br/>
            <a:r>
              <a:t>Improves over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0"/>
                </a:solidFill>
              </a:defRPr>
            </a:pPr>
            <a:r>
              <a:t>AI = Brain (Software)     |     Robot = Body (Hardware)     |     Most AI has NO body!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FF"/>
                </a:solidFill>
              </a:defRPr>
            </a:pPr>
            <a:r>
              <a:t>3. Types of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188720"/>
            <a:ext cx="10058400" cy="1371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C864"/>
                </a:solidFill>
              </a:defRPr>
            </a:pPr>
            <a:r>
              <a:t>NARROW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2"/>
                </a:solidFill>
              </a:defRPr>
            </a:pPr>
            <a:r>
              <a:t>One thing really well | EXISTS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Google Maps, ChatGPT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A500"/>
                </a:solidFill>
              </a:defRPr>
            </a:pPr>
            <a:r>
              <a:t>GENERAL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83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2"/>
                </a:solidFill>
              </a:defRPr>
            </a:pPr>
            <a:r>
              <a:t>Everything a human can | NOT YET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1089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Science fiction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480560"/>
            <a:ext cx="10058400" cy="1371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572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5050"/>
                </a:solidFill>
              </a:defRPr>
            </a:pPr>
            <a:r>
              <a:t>SUPER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2"/>
                </a:solidFill>
              </a:defRPr>
            </a:pPr>
            <a:r>
              <a:t>Better than ALL humans | SCI-FI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47548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</a:defRPr>
            </a:pPr>
            <a:r>
              <a:t>Ultron, Skynet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4. Traditional Programming vs ML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029200" cy="2743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5050"/>
                </a:solidFill>
              </a:defRPr>
            </a:pPr>
            <a:r>
              <a:t>TRADITIONAL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RULES + DATA --&gt; ANSWERS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60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C8D2"/>
                </a:solidFill>
              </a:defRPr>
            </a:pPr>
            <a:r>
              <a:t>Human writes all rules</a:t>
            </a:r>
            <a:br/>
            <a:r>
              <a:t>Computer follows blindly</a:t>
            </a:r>
            <a:br/>
            <a:r>
              <a:t>Like a recipe book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371600"/>
            <a:ext cx="5029200" cy="2743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864"/>
                </a:solidFill>
              </a:defRPr>
            </a:pPr>
            <a:r>
              <a:t>MACHINE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DATA + ANSWERS --&gt;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560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8C8D2"/>
                </a:solidFill>
              </a:defRPr>
            </a:pPr>
            <a:r>
              <a:t>Computer learns rules itself</a:t>
            </a:r>
            <a:br/>
            <a:r>
              <a:t>Finds patterns from examples</a:t>
            </a:r>
            <a:br/>
            <a:r>
              <a:t>Like tasting 1000 dishes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FF"/>
                </a:solidFill>
              </a:defRPr>
            </a:pPr>
            <a:r>
              <a:t>5. The AI Hierarchy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88720"/>
            <a:ext cx="9418320" cy="5029200"/>
          </a:xfrm>
          <a:prstGeom prst="rect">
            <a:avLst/>
          </a:prstGeom>
          <a:solidFill>
            <a:srgbClr val="283246"/>
          </a:solidFill>
          <a:ln w="25400">
            <a:solidFill>
              <a:srgbClr val="009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08760" y="12801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FF"/>
                </a:solidFill>
              </a:defRPr>
            </a:pPr>
            <a:r>
              <a:t>AI - Any smart machine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20" y="1828800"/>
            <a:ext cx="7955279" cy="4114800"/>
          </a:xfrm>
          <a:prstGeom prst="rect">
            <a:avLst/>
          </a:prstGeom>
          <a:solidFill>
            <a:srgbClr val="283C32"/>
          </a:solidFill>
          <a:ln w="25400">
            <a:solidFill>
              <a:srgbClr val="00C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40279" y="1920240"/>
            <a:ext cx="768095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64"/>
                </a:solidFill>
              </a:defRPr>
            </a:pPr>
            <a:r>
              <a:t>ML - Learns from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2468880"/>
            <a:ext cx="6492240" cy="3200400"/>
          </a:xfrm>
          <a:prstGeom prst="rect">
            <a:avLst/>
          </a:prstGeom>
          <a:solidFill>
            <a:srgbClr val="3C283C"/>
          </a:solidFill>
          <a:ln w="25400">
            <a:solidFill>
              <a:srgbClr val="B4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71800" y="256032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B464FF"/>
                </a:solidFill>
              </a:defRPr>
            </a:pPr>
            <a:r>
              <a:t>Deep Learning - Neural networks with layers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0" y="3108960"/>
            <a:ext cx="4846320" cy="2286000"/>
          </a:xfrm>
          <a:prstGeom prst="rect">
            <a:avLst/>
          </a:prstGeom>
          <a:solidFill>
            <a:srgbClr val="463228"/>
          </a:solidFill>
          <a:ln w="254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A500"/>
                </a:solidFill>
              </a:defRPr>
            </a:pPr>
            <a:r>
              <a:t>LLMs - Deep Learning for language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B464FF"/>
                </a:solidFill>
              </a:defRPr>
            </a:pPr>
            <a:r>
              <a:t>How Deep Learning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371600"/>
            <a:ext cx="21031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FF"/>
                </a:solidFill>
              </a:defRPr>
            </a:pPr>
            <a:r>
              <a:t>Layer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01168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Find edges</a:t>
            </a:r>
            <a:br/>
            <a:r>
              <a:t>&amp; 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C32"/>
                </a:solidFill>
              </a:defRPr>
            </a:pPr>
            <a:r>
              <a:t>&gt;&gt;&gt;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931920" y="1371600"/>
            <a:ext cx="21031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0" y="14630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864"/>
                </a:solidFill>
              </a:defRPr>
            </a:pPr>
            <a:r>
              <a:t>Layer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59" y="201168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Combine into</a:t>
            </a:r>
            <a:br/>
            <a:r>
              <a:t>shapes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C32"/>
                </a:solidFill>
              </a:defRPr>
            </a:pPr>
            <a:r>
              <a:t>&gt;&gt;&gt;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371600"/>
            <a:ext cx="21031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0"/>
                </a:solidFill>
              </a:defRPr>
            </a:pPr>
            <a:r>
              <a:t>Layer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79" y="201168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Assemble</a:t>
            </a:r>
            <a:br/>
            <a:r>
              <a:t>face parts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59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C32"/>
                </a:solidFill>
              </a:defRPr>
            </a:pPr>
            <a:r>
              <a:t>&gt;&gt;&gt;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59" y="1371600"/>
            <a:ext cx="210312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59" y="14630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5050"/>
                </a:solidFill>
              </a:defRPr>
            </a:pPr>
            <a:r>
              <a:t>Layer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3999" y="2011680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Identify</a:t>
            </a:r>
            <a:br/>
            <a:r>
              <a:t>person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114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D2"/>
                </a:solidFill>
              </a:defRPr>
            </a:pPr>
            <a:r>
              <a:t>Each layer builds on previous: Simple -&gt; Complex -&gt; Answer. "DEEP" = many layers!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FF"/>
                </a:solidFill>
              </a:defRPr>
            </a:pPr>
            <a:r>
              <a:t>6. Supervised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29260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864"/>
                </a:solidFill>
              </a:defRPr>
            </a:pPr>
            <a:r>
              <a:t>CLASSIFICATION = WORD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Spam? -&gt; Yes/No</a:t>
            </a:r>
            <a:br/>
            <a:r>
              <a:t>Animal? -&gt; Cat/Dog/Bird</a:t>
            </a:r>
            <a:br/>
            <a:r>
              <a:t>Broken? -&gt; Yes/No</a:t>
            </a:r>
            <a:br/>
            <a:r>
              <a:t>Size? -&gt; S/M/L/XL</a:t>
            </a:r>
            <a:br/>
            <a:br/>
            <a:r>
              <a:t>Like fruit sorting machine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212080" cy="29260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A500"/>
                </a:solidFill>
              </a:defRPr>
            </a:pPr>
            <a:r>
              <a:t>REGRESSION = NUMBER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House price? -&gt; Rs 45 lakhs</a:t>
            </a:r>
            <a:br/>
            <a:r>
              <a:t>Temperature? -&gt; 33 deg C</a:t>
            </a:r>
            <a:br/>
            <a:r>
              <a:t>Delivery? -&gt; 2.5 hours</a:t>
            </a:r>
            <a:br/>
            <a:r>
              <a:t>Marks? -&gt; 87/100</a:t>
            </a:r>
            <a:br/>
            <a:br/>
            <a:r>
              <a:t>Like mango shopkeeper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DC32"/>
                </a:solidFill>
              </a:defRPr>
            </a:pPr>
            <a:r>
              <a:t>"Will student pass?" = Classification  |  "What marks?" = Regression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C864"/>
                </a:solidFill>
              </a:defRPr>
            </a:pPr>
            <a:r>
              <a:t>Famous Classification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210312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864"/>
                </a:solidFill>
              </a:defRPr>
            </a:pPr>
            <a:r>
              <a:t>Logistic</a:t>
            </a:r>
            <a:br/>
            <a:r>
              <a:t>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Line between</a:t>
            </a:r>
            <a:br/>
            <a:r>
              <a:t>groups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260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Fence: apples</a:t>
            </a:r>
            <a:br/>
            <a:r>
              <a:t>vs oranges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1097280"/>
            <a:ext cx="210312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11887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864"/>
                </a:solidFill>
              </a:defRPr>
            </a:pPr>
            <a:r>
              <a:t>Decision</a:t>
            </a:r>
            <a:br/>
            <a:r>
              <a:t>Tree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920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Yes/No</a:t>
            </a:r>
            <a:br/>
            <a:r>
              <a:t>flowchart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9260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Playing 20</a:t>
            </a:r>
            <a:br/>
            <a:r>
              <a:t>Questions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097280"/>
            <a:ext cx="210312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0" y="11887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864"/>
                </a:solidFill>
              </a:defRPr>
            </a:pPr>
            <a:r>
              <a:t>Random</a:t>
            </a:r>
            <a:br/>
            <a:r>
              <a:t>Forest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920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100+ trees</a:t>
            </a:r>
            <a:br/>
            <a:r>
              <a:t>vote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9260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100 doctors</a:t>
            </a:r>
            <a:br/>
            <a:r>
              <a:t>majority wins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097280"/>
            <a:ext cx="210312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11887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864"/>
                </a:solidFill>
              </a:defRPr>
            </a:pPr>
            <a:r>
              <a:t>SVM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920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Best boundary</a:t>
            </a:r>
            <a:br/>
            <a:r>
              <a:t>max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9260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Wall with</a:t>
            </a:r>
            <a:br/>
            <a:r>
              <a:t>max space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01200" y="1097280"/>
            <a:ext cx="210312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92640" y="1188720"/>
            <a:ext cx="1920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864"/>
                </a:solidFill>
              </a:defRPr>
            </a:pPr>
            <a:r>
              <a:t>KNN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192024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K nearest</a:t>
            </a:r>
            <a:br/>
            <a:r>
              <a:t>neighbors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92608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Rich neighbors</a:t>
            </a:r>
            <a:br/>
            <a:r>
              <a:t>= expensive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A500"/>
                </a:solidFill>
              </a:defRPr>
            </a:pPr>
            <a:r>
              <a:t>Famous Regression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097280"/>
            <a:ext cx="237744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1887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A500"/>
                </a:solidFill>
              </a:defRPr>
            </a:pPr>
            <a:r>
              <a:t>Linear</a:t>
            </a:r>
            <a:br/>
            <a:r>
              <a:t>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9202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Straight line</a:t>
            </a:r>
            <a:br/>
            <a:r>
              <a:t>through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Size vs price</a:t>
            </a:r>
            <a:br/>
            <a:r>
              <a:t>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097280"/>
            <a:ext cx="237744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11887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A500"/>
                </a:solidFill>
              </a:defRPr>
            </a:pPr>
            <a:r>
              <a:t>Polynomial</a:t>
            </a:r>
            <a:br/>
            <a:r>
              <a:t>Regression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9202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Curved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926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Life isn't</a:t>
            </a:r>
            <a:br/>
            <a:r>
              <a:t>always straight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37744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1887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A500"/>
                </a:solidFill>
              </a:defRPr>
            </a:pPr>
            <a:r>
              <a:t>Random Forest</a:t>
            </a:r>
            <a:br/>
            <a:r>
              <a:t>Regression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19202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100+ trees</a:t>
            </a:r>
            <a:br/>
            <a:r>
              <a:t>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2926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Classification</a:t>
            </a:r>
            <a:br/>
            <a:r>
              <a:t>but numbers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69680" y="1097280"/>
            <a:ext cx="237744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19" y="11887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A500"/>
                </a:solidFill>
              </a:defRPr>
            </a:pPr>
            <a:r>
              <a:t>Neural</a:t>
            </a:r>
            <a:br/>
            <a:r>
              <a:t>Networks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19" y="192024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Many layers</a:t>
            </a:r>
            <a:br/>
            <a:r>
              <a:t>complex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2926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Most powerful</a:t>
            </a:r>
            <a:br/>
            <a:r>
              <a:t>needs data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FF"/>
                </a:solidFill>
              </a:defRPr>
            </a:pPr>
            <a:r>
              <a:t>7. Unsupervised Learning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21208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C864"/>
                </a:solidFill>
              </a:defRPr>
            </a:pPr>
            <a:r>
              <a:t>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"Group similar things"</a:t>
            </a:r>
            <a:br/>
            <a:br/>
            <a:r>
              <a:t>Customers: budget/luxury/deal hunters</a:t>
            </a:r>
            <a:br/>
            <a:r>
              <a:t>Spotify: songs by mood</a:t>
            </a:r>
            <a:br/>
            <a:r>
              <a:t>Google Photos: faces grouped</a:t>
            </a:r>
            <a:br/>
            <a:br/>
            <a:r>
              <a:t>School Photo: sort 50 photos</a:t>
            </a:r>
            <a:br/>
            <a:r>
              <a:t>with NO names by similarity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371600"/>
            <a:ext cx="521208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5050"/>
                </a:solidFill>
              </a:defRPr>
            </a:pPr>
            <a:r>
              <a:t>ANOMALY DETECTION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1168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"Find the weird one"</a:t>
            </a:r>
            <a:br/>
            <a:br/>
            <a:r>
              <a:t>Credit card: Rs 500K in Tokyo</a:t>
            </a:r>
            <a:br/>
            <a:r>
              <a:t>Factory: 1000 -&gt; 1500 RPM</a:t>
            </a:r>
            <a:br/>
            <a:r>
              <a:t>Student: 40% -&gt; suddenly 100%</a:t>
            </a:r>
            <a:br/>
            <a:br/>
            <a:r>
              <a:t>Clustering = who belongs?</a:t>
            </a:r>
            <a:br/>
            <a:r>
              <a:t>Anomaly = who DOESN'T belong?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FF"/>
                </a:solidFill>
              </a:defRPr>
            </a:pPr>
            <a:r>
              <a:t>8.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</a:defRPr>
            </a:pPr>
            <a:r>
              <a:t>We define WHAT success looks like. Model discovers HOW.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2651760" cy="21031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864"/>
                </a:solidFill>
              </a:defRPr>
            </a:pPr>
            <a: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The learner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You / Batsman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45920"/>
            <a:ext cx="2651760" cy="21031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737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96FF"/>
                </a:solidFill>
              </a:defRPr>
            </a:pPr>
            <a:r>
              <a:t>ENVIRONMENT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1945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The world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8346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Road / Pitch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2651760" cy="21031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737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C32"/>
                </a:solidFill>
              </a:defRPr>
            </a:pPr>
            <a:r>
              <a:t>REWARD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21945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Good feedback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8346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Balanced! / Four!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645920"/>
            <a:ext cx="2651760" cy="21031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17373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5050"/>
                </a:solidFill>
              </a:defRPr>
            </a:pPr>
            <a:r>
              <a:t>PENALTY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21945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Bad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283464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FFFFFF"/>
                </a:solidFill>
              </a:defRPr>
            </a:pPr>
            <a:r>
              <a:t>Fell / Got out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114800"/>
            <a:ext cx="10698480" cy="10972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062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2"/>
                </a:solidFill>
              </a:defRPr>
            </a:pPr>
            <a:r>
              <a:t>Chai: "Good = happy. Bad = face. Figure it out." After 50 attempts = perfect!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634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</a:defRPr>
            </a:pPr>
            <a:r>
              <a:t>Traditional: define WHAT + HOW  |  RL: define only WHAT, model discovers HOW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How RL is Set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65176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FF"/>
                </a:solidFill>
              </a:defRPr>
            </a:pPr>
            <a:r>
              <a:t>1.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Engineer builds</a:t>
            </a:r>
            <a:br/>
            <a:r>
              <a:t>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7373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C32"/>
                </a:solidFill>
              </a:defRPr>
            </a:pPr>
            <a:r>
              <a:t>&gt;&gt;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7560" y="1188720"/>
            <a:ext cx="265176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864"/>
                </a:solidFill>
              </a:defRPr>
            </a:pPr>
            <a:r>
              <a:t>2. 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0" y="17373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Define what agent</a:t>
            </a:r>
            <a:br/>
            <a:r>
              <a:t>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7373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C32"/>
                </a:solidFill>
              </a:defRPr>
            </a:pPr>
            <a:r>
              <a:t>&gt;&gt;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65176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59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0"/>
                </a:solidFill>
              </a:defRPr>
            </a:pPr>
            <a:r>
              <a:t>3. REWARDS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17373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Define good</a:t>
            </a:r>
            <a:br/>
            <a:r>
              <a:t>and bad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17373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C32"/>
                </a:solidFill>
              </a:defRPr>
            </a:pPr>
            <a:r>
              <a:t>&gt;&gt;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98280" y="1188720"/>
            <a:ext cx="265176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89719" y="128016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5050"/>
                </a:solidFill>
              </a:defRPr>
            </a:pPr>
            <a:r>
              <a:t>4. START!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1737360"/>
            <a:ext cx="24688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Model learns</a:t>
            </a:r>
            <a:br/>
            <a:r>
              <a:t>on its own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3 Types of ML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566160" cy="4114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C864"/>
                </a:solidFill>
              </a:defRPr>
            </a:pPr>
            <a:r>
              <a:t>SUPERVISED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"WHAT is this?"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Data WITH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26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C32"/>
                </a:solidFill>
              </a:defRPr>
            </a:pPr>
            <a:r>
              <a:t>Cricket: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Ball, bat, bowler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097280"/>
            <a:ext cx="3566160" cy="4114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188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B464FF"/>
                </a:solidFill>
              </a:defRPr>
            </a:pPr>
            <a:r>
              <a:t>UNSUPERVISED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1645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"What PATTERNS?"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Data NO labels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926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C32"/>
                </a:solidFill>
              </a:defRPr>
            </a:pPr>
            <a:r>
              <a:t>Cricket: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291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Fielding positions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097280"/>
            <a:ext cx="3566160" cy="4114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188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A500"/>
                </a:solidFill>
              </a:defRPr>
            </a:pPr>
            <a:r>
              <a:t>REINFORCEMENT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645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"HOW to do well?"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Trial +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926080"/>
            <a:ext cx="3383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DC32"/>
                </a:solidFill>
              </a:defRPr>
            </a:pPr>
            <a:r>
              <a:t>Cricket: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918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Hit or defend?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DC32"/>
                </a:solidFill>
              </a:defRPr>
            </a:pPr>
            <a:r>
              <a:t>Recognize | Discover | Strategize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Real Project: Exam Monitoring Bot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</a:defRPr>
            </a:pPr>
            <a:r>
              <a:t>All 3 types working together!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54480"/>
            <a:ext cx="356616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864"/>
                </a:solidFill>
              </a:defRPr>
            </a:pPr>
            <a:r>
              <a:t>SUPERVISED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Recognize cheating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Label 10K clips</a:t>
            </a:r>
            <a:br/>
            <a:r>
              <a:t>cheating/normal</a:t>
            </a:r>
            <a:br/>
            <a:r>
              <a:t>Model learns what</a:t>
            </a:r>
            <a:br/>
            <a:r>
              <a:t>cheating looks like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554480"/>
            <a:ext cx="356616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645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464FF"/>
                </a:solidFill>
              </a:defRPr>
            </a:pPr>
            <a:r>
              <a:t>UNSUPERVISED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Spot unusual behavior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274320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Learns normal patterns</a:t>
            </a:r>
            <a:br/>
            <a:r>
              <a:t>Flags anything unusual</a:t>
            </a:r>
            <a:br/>
            <a:r>
              <a:t>even never seen before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554480"/>
            <a:ext cx="3566160" cy="3657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6459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0"/>
                </a:solidFill>
              </a:defRPr>
            </a:pPr>
            <a:r>
              <a:t>REINFORCEMENT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031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When to alert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74320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Correct alert = +10</a:t>
            </a:r>
            <a:br/>
            <a:r>
              <a:t>False alarm = -10</a:t>
            </a:r>
            <a:br/>
            <a:r>
              <a:t>Learns WHEN to flag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5050"/>
                </a:solidFill>
              </a:defRPr>
            </a:pPr>
            <a:r>
              <a:t>Self-Driving Car: Emergency Handling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029200" cy="25603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FF"/>
                </a:solidFill>
              </a:defRPr>
            </a:pPr>
            <a:r>
              <a:t>Evaluates ALL Options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Brake? Swerve left? Right?</a:t>
            </a:r>
            <a:br/>
            <a:r>
              <a:t>Brake + slight swerve?</a:t>
            </a:r>
            <a:br/>
            <a:br/>
            <a:r>
              <a:t>Picks LEAST total harm</a:t>
            </a:r>
            <a:br/>
            <a:r>
              <a:t>In 0.001 seconds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5029200" cy="25603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A500"/>
                </a:solidFill>
              </a:defRPr>
            </a:pPr>
            <a:r>
              <a:t>Priority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663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Human life:    -1000 pts</a:t>
            </a:r>
            <a:br/>
            <a:r>
              <a:t>Human injury: -500 pts</a:t>
            </a:r>
            <a:br/>
            <a:r>
              <a:t>Car damage:   -30 pts</a:t>
            </a:r>
            <a:br/>
            <a:br/>
            <a:r>
              <a:t>ALWAYS saves lives first!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C864"/>
                </a:solidFill>
              </a:defRPr>
            </a:pPr>
            <a:r>
              <a:t>AI is SAFER: 0.001 sec reaction vs human 1-2 sec panic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7200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8C8D2"/>
                </a:solidFill>
              </a:defRPr>
            </a:pPr>
            <a:r>
              <a:t>PREVENTS emergencies: detects child 5 sec BEFORE, starts slowing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FF"/>
                </a:solidFill>
              </a:defRPr>
            </a:pPr>
            <a:r>
              <a:t>9. Neural Networks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8C8D2"/>
                </a:solidFill>
              </a:defRPr>
            </a:pPr>
            <a:r>
              <a:t>Company Analogy: Reception -&gt; Departments -&gt; CEO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3108960" cy="25603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864"/>
                </a:solidFill>
              </a:defRPr>
            </a:pPr>
            <a:r>
              <a:t>INPUT</a:t>
            </a:r>
            <a:br/>
            <a:r>
              <a:t>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Receives raw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Pixels, numbers,</a:t>
            </a:r>
            <a:br/>
            <a: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C32"/>
                </a:solidFill>
              </a:defRPr>
            </a:pPr>
            <a:r>
              <a:t>&gt;&gt;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645920"/>
            <a:ext cx="3108960" cy="25603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464FF"/>
                </a:solidFill>
              </a:defRPr>
            </a:pPr>
            <a:r>
              <a:t>HIDDEN</a:t>
            </a:r>
            <a:br/>
            <a:r>
              <a:t>LAYERS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Real processing</a:t>
            </a:r>
            <a:br/>
            <a:r>
              <a:t>happens here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31089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Find patterns,</a:t>
            </a:r>
            <a:br/>
            <a:r>
              <a:t>combine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2560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C32"/>
                </a:solidFill>
              </a:defRPr>
            </a:pPr>
            <a:r>
              <a:t>&gt;&gt;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63840" y="1645920"/>
            <a:ext cx="3108960" cy="25603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173736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0"/>
                </a:solidFill>
              </a:defRPr>
            </a:pPr>
            <a:r>
              <a:t>OUTPUT</a:t>
            </a:r>
            <a:br/>
            <a:r>
              <a:t>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Final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79" y="31089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Cat, Rs 72 lakhs,</a:t>
            </a:r>
            <a:br/>
            <a:r>
              <a:t>Spam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572000"/>
            <a:ext cx="5029200" cy="1371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634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FF"/>
                </a:solidFill>
              </a:defRPr>
            </a:pPr>
            <a:r>
              <a:t>Epoch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02920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One complete pass through</a:t>
            </a:r>
            <a:br/>
            <a:r>
              <a:t>ALL training data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4572000"/>
            <a:ext cx="5029200" cy="1371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46634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FF"/>
                </a:solidFill>
              </a:defRPr>
            </a:pPr>
            <a:r>
              <a:t>Activation Function = Bouncer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029200"/>
            <a:ext cx="4663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At EVERY neuron: "Important</a:t>
            </a:r>
            <a:br/>
            <a:r>
              <a:t>enough to pass forward?"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10. Math Foundations - Why ML Needs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DC32"/>
                </a:solidFill>
              </a:defRPr>
            </a:pPr>
            <a:r>
              <a:t>SPEAK -&gt; COMPARE -&gt; FIND -&gt; FIX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645920"/>
            <a:ext cx="265176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864"/>
                </a:solidFill>
              </a:defRPr>
            </a:pPr>
            <a:r>
              <a:t>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SPEAK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Convert data to</a:t>
            </a:r>
            <a:br/>
            <a:r>
              <a:t>numbers. ML's</a:t>
            </a:r>
            <a:br/>
            <a:r>
              <a:t>language.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645920"/>
            <a:ext cx="265176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29000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FF"/>
                </a:solidFill>
              </a:defRPr>
            </a:pPr>
            <a:r>
              <a:t>DOT PRODUCT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22860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COMPARE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283464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How similar are</a:t>
            </a:r>
            <a:br/>
            <a:r>
              <a:t>two things?</a:t>
            </a:r>
            <a:br/>
            <a:r>
              <a:t>High = similar.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645920"/>
            <a:ext cx="265176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0"/>
                </a:solidFill>
              </a:defRPr>
            </a:pPr>
            <a:r>
              <a:t>DERIVATIVES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22860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FIND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283464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Which weight</a:t>
            </a:r>
            <a:br/>
            <a:r>
              <a:t>caused the error?</a:t>
            </a:r>
            <a:br/>
            <a:r>
              <a:t>By how much?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1645920"/>
            <a:ext cx="265176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19" y="173736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5050"/>
                </a:solidFill>
              </a:defRPr>
            </a:pPr>
            <a:r>
              <a:t>GRADIENT</a:t>
            </a:r>
            <a:br/>
            <a:r>
              <a:t>DESCENT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19" y="228600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FIX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19" y="2834640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Walk downhill</a:t>
            </a:r>
            <a:br/>
            <a:r>
              <a:t>to minimum error.</a:t>
            </a:r>
            <a:br/>
            <a:r>
              <a:t>Adjust weights.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8C8D2"/>
                </a:solidFill>
              </a:defRPr>
            </a:pPr>
            <a:r>
              <a:t>You = Driver (decide what problem)  |  Math = Engine (calculations)  |  Python = Car (press buttons)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The Full Training Process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338328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864"/>
                </a:solidFill>
              </a:defRPr>
            </a:pPr>
            <a:r>
              <a:t>1.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Data -&gt;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[1000, 5]</a:t>
            </a:r>
          </a:p>
        </p:txBody>
      </p:sp>
      <p:sp>
        <p:nvSpPr>
          <p:cNvPr id="7" name="Rectangle 6"/>
          <p:cNvSpPr/>
          <p:nvPr/>
        </p:nvSpPr>
        <p:spPr>
          <a:xfrm>
            <a:off x="4480559" y="1188720"/>
            <a:ext cx="338328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1999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FF"/>
                </a:solidFill>
              </a:defRPr>
            </a:pPr>
            <a:r>
              <a:t>2. PREDICT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1737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Features x 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1999" y="2468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= 20 lakhs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188720"/>
            <a:ext cx="338328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280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5050"/>
                </a:solidFill>
              </a:defRPr>
            </a:pPr>
            <a:r>
              <a:t>3. 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7373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Actual vs predicted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24688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50-20 = 30 off!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3931920"/>
            <a:ext cx="338328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233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0"/>
                </a:solidFill>
              </a:defRPr>
            </a:pPr>
            <a:r>
              <a:t>4. DERIVATIVE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48055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Find what's wrong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79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Size weight too 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3931920"/>
            <a:ext cx="338328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1999" y="40233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464FF"/>
                </a:solidFill>
              </a:defRPr>
            </a:pPr>
            <a:r>
              <a:t>5. ADJUST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448055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Fix all weights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1999" y="5212079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0.01 -&gt; 0.018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931920"/>
            <a:ext cx="338328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402335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DC32"/>
                </a:solidFill>
              </a:defRPr>
            </a:pPr>
            <a:r>
              <a:t>6. REPEAT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480559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</a:defRPr>
            </a:pPr>
            <a:r>
              <a:t>Until accurate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5212079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500 rounds!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Train/Test Split &amp; Overfitting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50292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C864"/>
                </a:solidFill>
              </a:defRPr>
            </a:pPr>
            <a:r>
              <a:t>TRAIN/TEST SPLIT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80% data -&gt; TRAINING (model learns)</a:t>
            </a:r>
            <a:br/>
            <a:r>
              <a:t>20% data -&gt; TESTING (never seen!)</a:t>
            </a:r>
            <a:br/>
            <a:br/>
            <a:r>
              <a:t>Computer checks accuracy automatically</a:t>
            </a:r>
            <a:br/>
            <a:r>
              <a:t>No human reads each output!</a:t>
            </a:r>
            <a:br/>
            <a:r>
              <a:t>Even 100 million entries = 2 seconds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188720"/>
            <a:ext cx="50292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5050"/>
                </a:solidFill>
              </a:defRPr>
            </a:pPr>
            <a:r>
              <a:t>OVERFITTING = Biggest Danger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4663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Model MEMORIZES instead of LEARNING</a:t>
            </a:r>
            <a:br/>
            <a:br/>
            <a:r>
              <a:t>Like student who memorizes practice</a:t>
            </a:r>
            <a:br/>
            <a:r>
              <a:t>questions but fails real exam</a:t>
            </a:r>
            <a:br/>
            <a:br/>
            <a:r>
              <a:t>99% training + 30% test = OVERFITTING!</a:t>
            </a:r>
            <a:br/>
            <a:r>
              <a:t>Bad data = low on BOTH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840480"/>
            <a:ext cx="10698480" cy="18288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FF"/>
                </a:solidFill>
              </a:defRPr>
            </a:pPr>
            <a:r>
              <a:t>Testing by ML 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3891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00C864"/>
                </a:solidFill>
              </a:defRPr>
            </a:pPr>
            <a:r>
              <a:t>Supervised:</a:t>
            </a:r>
            <a:br/>
            <a:r>
              <a:t>Computer compares</a:t>
            </a:r>
            <a:br/>
            <a:r>
              <a:t>predictions vs labels</a:t>
            </a:r>
            <a:br/>
            <a:r>
              <a:t>(automatic)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464FF"/>
                </a:solidFill>
              </a:defRPr>
            </a:pPr>
            <a:r>
              <a:t>Unsupervised:</a:t>
            </a:r>
            <a:br/>
            <a:r>
              <a:t>Human checks groups</a:t>
            </a:r>
            <a:br/>
            <a:r>
              <a:t>+ math similarity</a:t>
            </a:r>
            <a:br/>
            <a: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38912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A500"/>
                </a:solidFill>
              </a:defRPr>
            </a:pPr>
            <a:r>
              <a:t>Reinforcement:</a:t>
            </a:r>
            <a:br/>
            <a:r>
              <a:t>Measure performance</a:t>
            </a:r>
            <a:br/>
            <a:r>
              <a:t>win rate, score,</a:t>
            </a:r>
            <a:br/>
            <a:r>
              <a:t>crashes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11. How Math Connects to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8C8D2"/>
                </a:solidFill>
              </a:defRPr>
            </a:pPr>
            <a:r>
              <a:t>Real Estate Agent Analogy: Start dumb -&gt; learn from mistakes -&gt; become expert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645920"/>
            <a:ext cx="10698480" cy="32004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C32"/>
                </a:solidFill>
              </a:defRPr>
            </a:pPr>
            <a:r>
              <a:t>The 5 Things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5050"/>
                </a:solidFill>
              </a:defRPr>
            </a:pPr>
            <a: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22860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Model starts DUMB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286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Random weights = random guesses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A500"/>
                </a:solidFill>
              </a:defRPr>
            </a:pPr>
            <a: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788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Each round: guess -&gt; wrong -&gt; adjust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788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Guided by math, not random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29184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C864"/>
                </a:solidFill>
              </a:defRPr>
            </a:pPr>
            <a: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2918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After 1000s of rounds = EXPERT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2918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Weights = learned intuition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94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FF"/>
                </a:solidFill>
              </a:defRPr>
            </a:pPr>
            <a: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794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Discovers rules NOBODY taught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794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Older house = cheaper (negative weight!)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2976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B464FF"/>
                </a:solidFill>
              </a:defRPr>
            </a:pPr>
            <a: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4297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Test on unseen data -&gt; if good -&gt; deploy!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2976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8C8D2"/>
                </a:solidFill>
              </a:defRPr>
            </a:pPr>
            <a:r>
              <a:t>80/20 split, computer checks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212080"/>
            <a:ext cx="10698480" cy="10972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3035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You don't need to DO the math. Python does it in one line of code.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8C8D2"/>
                </a:solidFill>
              </a:defRPr>
            </a:pPr>
            <a:r>
              <a:t>You need to understand the PROCESS: what's happening and why.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96FF"/>
                </a:solidFill>
              </a:defRPr>
            </a:pPr>
            <a:r>
              <a:t>Key Terms - Quick Reference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241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10241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Learn + Understand + Decide + Adapt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572768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760" y="15910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Machines that learn &amp; decide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39696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15798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Narrow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1579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One task (ALL current AI)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706624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7249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51760" y="27249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Learns rules from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73552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918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Deep 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3291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Layers for complex patterns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8587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LLM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38587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DL for language (ChatGPT)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407408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42569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Features / Labels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51760" y="442569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Input data / Correct answers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974336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992623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Classification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4992623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Predict a WORD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1264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Regression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51760" y="55595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Predict a NUMBER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108192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612647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Clustering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60" y="612647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Group similar (no labels)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1005840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59" y="102412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Anomaly Detection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10241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Spot the odd one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1572768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59" y="159105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Agent / Environment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15910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RL learner / RL world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2139696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09359" y="215798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Reward / Penalty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21579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Good / Bad feedback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2706624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59" y="27249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Vector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12480" y="27249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List of numbers = data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3273552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09359" y="32918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Dot Product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3291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Similarity score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3840480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59" y="385876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Derivative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12480" y="385876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What went wrong?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4407408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59" y="442569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Gradient Descent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442569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Fix weights step by step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4974336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59" y="4992623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Learning Rate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412480" y="4992623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Step size (don't overshoot)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5541264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09359" y="555955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Epoch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55595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One pass through all data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6108192"/>
            <a:ext cx="5486400" cy="4572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09359" y="6126479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C864"/>
                </a:solidFill>
              </a:defRPr>
            </a:pPr>
            <a:r>
              <a:t>Overfitting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0" y="612647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8C8D2"/>
                </a:solidFill>
              </a:defRPr>
            </a:pPr>
            <a:r>
              <a:t>Memorized, can't generalize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96FF"/>
                </a:solidFill>
              </a:defRPr>
            </a:pPr>
            <a:r>
              <a:t>12. Problem Understanding &amp; Model Selection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8C8D2"/>
                </a:solidFill>
              </a:defRPr>
            </a:pPr>
            <a:r>
              <a:t>Ask these 5 questions BEFORE touching any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554480"/>
            <a:ext cx="2148840" cy="34747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C864"/>
                </a:solidFill>
              </a:defRPr>
            </a:pPr>
            <a:r>
              <a:t>1. GOAL?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194560"/>
            <a:ext cx="1965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What am I trying</a:t>
            </a:r>
            <a:br/>
            <a:r>
              <a:t>to achieve?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2918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Detect cheating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606039" y="1554480"/>
            <a:ext cx="2148840" cy="34747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79" y="16459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96FF"/>
                </a:solidFill>
              </a:defRPr>
            </a:pPr>
            <a:r>
              <a:t>2. DATA?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79" y="2194560"/>
            <a:ext cx="1965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What type do</a:t>
            </a:r>
            <a:br/>
            <a:r>
              <a:t>I have?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79" y="32918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Labeled clips +</a:t>
            </a:r>
            <a:br/>
            <a:r>
              <a:t>live feeds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7759" y="1554480"/>
            <a:ext cx="2148840" cy="34747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199" y="16459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A500"/>
                </a:solidFill>
              </a:defRPr>
            </a:pPr>
            <a:r>
              <a:t>3. ANSWER?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199" y="2194560"/>
            <a:ext cx="1965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Word or Number</a:t>
            </a:r>
            <a:br/>
            <a:r>
              <a:t>or Strategy?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199" y="32918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Word = cheating</a:t>
            </a:r>
            <a:br/>
            <a:r>
              <a:t>or normal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79" y="1554480"/>
            <a:ext cx="2148840" cy="34747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60919" y="16459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B464FF"/>
                </a:solidFill>
              </a:defRPr>
            </a:pPr>
            <a:r>
              <a:t>4. SIZE?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19" y="2194560"/>
            <a:ext cx="1965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How much data</a:t>
            </a:r>
            <a:br/>
            <a:r>
              <a:t>do I have?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19" y="32918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10K+ clips =</a:t>
            </a:r>
            <a:br/>
            <a:r>
              <a:t>DL territory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0" y="1554480"/>
            <a:ext cx="2148840" cy="34747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0" y="1645920"/>
            <a:ext cx="1965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5050"/>
                </a:solidFill>
              </a:defRPr>
            </a:pPr>
            <a:r>
              <a:t>5. SPEED?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194560"/>
            <a:ext cx="1965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Real-time</a:t>
            </a:r>
            <a:br/>
            <a:r>
              <a:t>needed?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291840"/>
            <a:ext cx="1965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YES = fast</a:t>
            </a:r>
            <a:br/>
            <a:r>
              <a:t>models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10972800" cy="73152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949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C32"/>
                </a:solidFill>
              </a:defRPr>
            </a:pPr>
            <a:r>
              <a:t>Wrong model = weeks of wasted work. Right questions = right model = faster results!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96FF"/>
                </a:solidFill>
              </a:defRPr>
            </a:pPr>
            <a:r>
              <a:t>Model Selection Decision Flowchart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0" y="1097280"/>
            <a:ext cx="3931920" cy="640080"/>
          </a:xfrm>
          <a:prstGeom prst="rect">
            <a:avLst/>
          </a:prstGeom>
          <a:solidFill>
            <a:srgbClr val="3C3C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206240" y="11430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Do I have LABELED data?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737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C864"/>
                </a:solidFill>
              </a:defRPr>
            </a:pPr>
            <a:r>
              <a:t>YES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103120"/>
            <a:ext cx="3200400" cy="548640"/>
          </a:xfrm>
          <a:prstGeom prst="rect">
            <a:avLst/>
          </a:prstGeom>
          <a:solidFill>
            <a:srgbClr val="3246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21488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00C864"/>
                </a:solidFill>
              </a:defRPr>
            </a:pPr>
            <a:r>
              <a:t>Answer = WORD?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834640"/>
            <a:ext cx="2286000" cy="548640"/>
          </a:xfrm>
          <a:prstGeom prst="rect">
            <a:avLst/>
          </a:prstGeom>
          <a:solidFill>
            <a:srgbClr val="2850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880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864"/>
                </a:solidFill>
              </a:defRPr>
            </a:pPr>
            <a:r>
              <a:t>CLASSIFICATION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2834640"/>
            <a:ext cx="2286000" cy="548640"/>
          </a:xfrm>
          <a:prstGeom prst="rect">
            <a:avLst/>
          </a:prstGeom>
          <a:solidFill>
            <a:srgbClr val="463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17520" y="2880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A500"/>
                </a:solidFill>
              </a:defRPr>
            </a:pPr>
            <a:r>
              <a:t>Answer = NUMBER?</a:t>
            </a:r>
            <a:br/>
            <a:r>
              <a:t>REGRESSION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737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5050"/>
                </a:solidFill>
              </a:defRPr>
            </a:pPr>
            <a:r>
              <a:t>NO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103120"/>
            <a:ext cx="3200400" cy="548640"/>
          </a:xfrm>
          <a:prstGeom prst="rect">
            <a:avLst/>
          </a:prstGeom>
          <a:solidFill>
            <a:srgbClr val="4628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214884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5050"/>
                </a:solidFill>
              </a:defRPr>
            </a:pPr>
            <a:r>
              <a:t>Find groups or spot weird?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2834640"/>
            <a:ext cx="2286000" cy="548640"/>
          </a:xfrm>
          <a:prstGeom prst="rect">
            <a:avLst/>
          </a:prstGeom>
          <a:solidFill>
            <a:srgbClr val="3228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2880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B464FF"/>
                </a:solidFill>
              </a:defRPr>
            </a:pPr>
            <a:r>
              <a:t>CLUSTERING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34640"/>
            <a:ext cx="2286000" cy="548640"/>
          </a:xfrm>
          <a:prstGeom prst="rect">
            <a:avLst/>
          </a:prstGeom>
          <a:solidFill>
            <a:srgbClr val="46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0" y="28803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5050"/>
                </a:solidFill>
              </a:defRPr>
            </a:pPr>
            <a:r>
              <a:t>ANOMALY</a:t>
            </a:r>
            <a:br/>
            <a:r>
              <a:t>DETECTION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657600"/>
            <a:ext cx="3931920" cy="640080"/>
          </a:xfrm>
          <a:prstGeom prst="rect">
            <a:avLst/>
          </a:prstGeom>
          <a:solidFill>
            <a:srgbClr val="3C32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370332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</a:defRPr>
            </a:pPr>
            <a:r>
              <a:t>Goal + Feedback? -&gt; RL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572000"/>
            <a:ext cx="10972800" cy="13716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6634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C32"/>
                </a:solidFill>
              </a:defRPr>
            </a:pPr>
            <a:r>
              <a:t>Then check DATA SIZE: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0292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C864"/>
                </a:solidFill>
              </a:defRPr>
            </a:pPr>
            <a:r>
              <a:t>&lt; 1,000 rows</a:t>
            </a:r>
            <a:br/>
            <a:r>
              <a:t>Simple models</a:t>
            </a:r>
            <a:br/>
            <a:r>
              <a:t>Logistic Reg, Tree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50292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A500"/>
                </a:solidFill>
              </a:defRPr>
            </a:pPr>
            <a:r>
              <a:t>1K - 100K rows</a:t>
            </a:r>
            <a:br/>
            <a:r>
              <a:t>Medium models</a:t>
            </a:r>
            <a:br/>
            <a:r>
              <a:t>Random Forest, XGBoost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502920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5050"/>
                </a:solidFill>
              </a:defRPr>
            </a:pPr>
            <a:r>
              <a:t>100K+ or Images</a:t>
            </a:r>
            <a:br/>
            <a:r>
              <a:t>Deep Learning</a:t>
            </a:r>
            <a:br/>
            <a:r>
              <a:t>CNN, LSTM, YOLO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96FF"/>
                </a:solidFill>
              </a:defRPr>
            </a:pPr>
            <a:r>
              <a:t>6 Expert Tricks for Model Selection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566160" cy="24688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C864"/>
                </a:solidFill>
              </a:defRPr>
            </a:pPr>
            <a:r>
              <a:t>1. START SIMPLE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373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Try Logistic Regression first</a:t>
            </a:r>
            <a:br/>
            <a:r>
              <a:t>If low -&gt; Random Forest</a:t>
            </a:r>
            <a:br/>
            <a:r>
              <a:t>Still low -&gt; Neural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4251960" y="1097280"/>
            <a:ext cx="3566160" cy="24688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96FF"/>
                </a:solidFill>
              </a:defRPr>
            </a:pPr>
            <a:r>
              <a:t>2. DATA SIZE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7373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&lt; 1K = simple model</a:t>
            </a:r>
            <a:br/>
            <a:r>
              <a:t>1K-100K = Random Forest</a:t>
            </a:r>
            <a:br/>
            <a:r>
              <a:t>100K+ = Deep Learning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097280"/>
            <a:ext cx="3566160" cy="24688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188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A500"/>
                </a:solidFill>
              </a:defRPr>
            </a:pPr>
            <a:r>
              <a:t>3. CHECK EXISTING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73736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YOLO for objects</a:t>
            </a:r>
            <a:br/>
            <a:r>
              <a:t>BERT for text</a:t>
            </a:r>
            <a:br/>
            <a:r>
              <a:t>Most problems = solved!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3566160" cy="24688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023359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464FF"/>
                </a:solidFill>
              </a:defRPr>
            </a:pPr>
            <a:r>
              <a:t>4. TRANSFER 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5720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Use PRE-TRAINED model</a:t>
            </a:r>
            <a:br/>
            <a:r>
              <a:t>Fine-tune with YOUR data</a:t>
            </a:r>
            <a:br/>
            <a:r>
              <a:t>500 images vs 1 million!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3931920"/>
            <a:ext cx="3566160" cy="24688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43400" y="4023359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5050"/>
                </a:solidFill>
              </a:defRPr>
            </a:pPr>
            <a:r>
              <a:t>5. MAP SUB-PROBLEMS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5720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Each piece = different model</a:t>
            </a:r>
            <a:br/>
            <a:r>
              <a:t>ExamGuard = 7 models</a:t>
            </a:r>
            <a:br/>
            <a:r>
              <a:t>working together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3931920"/>
            <a:ext cx="3566160" cy="246888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023359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C32"/>
                </a:solidFill>
              </a:defRPr>
            </a:pPr>
            <a:r>
              <a:t>6. TEST MULTIPLE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80" y="457200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8C8D2"/>
                </a:solidFill>
              </a:defRPr>
            </a:pPr>
            <a:r>
              <a:t>Try 3-4 models on same data</a:t>
            </a:r>
            <a:br/>
            <a:r>
              <a:t>Pick best accuracy + speed</a:t>
            </a:r>
            <a:br/>
            <a:r>
              <a:t>Don't guess, MEASURE!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0096FF"/>
                </a:solidFill>
              </a:defRPr>
            </a:pPr>
            <a:r>
              <a:t>ExamGuard AI - Model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8C8D2"/>
                </a:solidFill>
              </a:defRPr>
            </a:pPr>
            <a:r>
              <a:t>Each sub-problem -&gt; right ML type -&gt; best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554480"/>
            <a:ext cx="27432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Detect Phone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11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864"/>
                </a:solidFill>
              </a:defRPr>
            </a:pPr>
            <a:r>
              <a:t>SUPERVISED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77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C32"/>
                </a:solidFill>
              </a:defRPr>
            </a:pPr>
            <a:r>
              <a:t>YOLO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834639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Pre-trained</a:t>
            </a:r>
            <a:br/>
            <a:r>
              <a:t>real-time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1554480"/>
            <a:ext cx="27432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1645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Where Looking?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2011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864"/>
                </a:solidFill>
              </a:defRPr>
            </a:pPr>
            <a:r>
              <a:t>SUPERVISED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2377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C32"/>
                </a:solidFill>
              </a:defRPr>
            </a:pPr>
            <a:r>
              <a:t>CNN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2834639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Best for</a:t>
            </a:r>
            <a:br/>
            <a:r>
              <a:t>images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554480"/>
            <a:ext cx="27432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645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Cheating?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2011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0C864"/>
                </a:solidFill>
              </a:defRPr>
            </a:pPr>
            <a:r>
              <a:t>SUPERVISED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2377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C32"/>
                </a:solidFill>
              </a:defRPr>
            </a:pPr>
            <a:r>
              <a:t>CNN+LSTM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59" y="2834639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Frames +</a:t>
            </a:r>
            <a:br/>
            <a:r>
              <a:t>time sequence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89720" y="1554480"/>
            <a:ext cx="27432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81160" y="1645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Unusual?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81160" y="20116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464FF"/>
                </a:solidFill>
              </a:defRPr>
            </a:pPr>
            <a:r>
              <a:t>UNSUPERVISED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2377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C32"/>
                </a:solidFill>
              </a:defRPr>
            </a:pPr>
            <a:r>
              <a:t>Autoencoder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2834639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Learns normal</a:t>
            </a:r>
            <a:br/>
            <a:r>
              <a:t>flags rest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114800"/>
            <a:ext cx="27432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206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Group Behavior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464FF"/>
                </a:solidFill>
              </a:defRPr>
            </a:pPr>
            <a:r>
              <a:t>UNSUPERVISED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4937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C32"/>
                </a:solidFill>
              </a:defRPr>
            </a:pPr>
            <a:r>
              <a:t>K-Means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53949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Simple</a:t>
            </a:r>
            <a:br/>
            <a:r>
              <a:t>proven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6120" y="4114800"/>
            <a:ext cx="27432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37560" y="4206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When Alert?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A500"/>
                </a:solidFill>
              </a:defRPr>
            </a:pPr>
            <a:r>
              <a:t>RL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37560" y="4937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C32"/>
                </a:solidFill>
              </a:defRPr>
            </a:pPr>
            <a:r>
              <a:t>Custom RL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37560" y="53949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Balance alert</a:t>
            </a:r>
            <a:br/>
            <a:r>
              <a:t>vs ignore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114800"/>
            <a:ext cx="2743200" cy="2286000"/>
          </a:xfrm>
          <a:prstGeom prst="rect">
            <a:avLst/>
          </a:prstGeom>
          <a:solidFill>
            <a:srgbClr val="2D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4206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Track Person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45720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5050"/>
                </a:solidFill>
              </a:defRPr>
            </a:pPr>
            <a:r>
              <a:t>DEEP LEARNING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59" y="49377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DC32"/>
                </a:solidFill>
              </a:defRPr>
            </a:pPr>
            <a:r>
              <a:t>Re-ID 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59" y="539496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C8C8D2"/>
                </a:solidFill>
              </a:defRPr>
            </a:pPr>
            <a:r>
              <a:t>Match across</a:t>
            </a:r>
            <a:br/>
            <a:r>
              <a:t>cameras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