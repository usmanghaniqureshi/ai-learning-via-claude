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FF"/>
                </a:solidFill>
              </a:defRPr>
            </a:pPr>
            <a:r>
              <a:t>Problem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The AI Backbone — 10 Essential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</a:defRPr>
            </a:pPr>
            <a:r>
              <a:t>From vague goal to trained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1. Problem Understanding — Watch the Human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Don't start with "which model?" Start with "what would a HUMAN do?"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41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C32"/>
                </a:solidFill>
              </a:defRPr>
            </a:pPr>
            <a:r>
              <a:t>What decisions</a:t>
            </a:r>
            <a:br/>
            <a:r>
              <a:t>do doctors</a:t>
            </a:r>
            <a:br/>
            <a:r>
              <a:t>struggle with?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Predict disease</a:t>
            </a:r>
            <a:br/>
            <a:r>
              <a:t>Spot abnormal reports</a:t>
            </a:r>
            <a:br/>
            <a:r>
              <a:t>Smart ICU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941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Online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280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C32"/>
                </a:solidFill>
              </a:defRPr>
            </a:pPr>
            <a:r>
              <a:t>What costs you</a:t>
            </a:r>
            <a:br/>
            <a:r>
              <a:t>money or time</a:t>
            </a:r>
            <a:br/>
            <a:r>
              <a:t>right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03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Predict demand</a:t>
            </a:r>
            <a:br/>
            <a:r>
              <a:t>Detect fraud</a:t>
            </a:r>
            <a:br/>
            <a:r>
              <a:t>Group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1440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941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ExamGuard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C32"/>
                </a:solidFill>
              </a:defRPr>
            </a:pPr>
            <a:r>
              <a:t>What does</a:t>
            </a:r>
            <a:br/>
            <a:r>
              <a:t>cheating LOOK</a:t>
            </a:r>
            <a:br/>
            <a:r>
              <a:t>like?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Phone on desk</a:t>
            </a:r>
            <a:br/>
            <a:r>
              <a:t>Looking sideways</a:t>
            </a:r>
            <a:br/>
            <a:r>
              <a:t>Unusual behavior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91440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941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Cricket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280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C32"/>
                </a:solidFill>
              </a:defRPr>
            </a:pPr>
            <a:r>
              <a:t>What does the</a:t>
            </a:r>
            <a:br/>
            <a:r>
              <a:t>coach actually</a:t>
            </a:r>
            <a:br/>
            <a:r>
              <a:t>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103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Analyze opponent</a:t>
            </a:r>
            <a:br/>
            <a:r>
              <a:t>Predict form</a:t>
            </a:r>
            <a:br/>
            <a:r>
              <a:t>Field placement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47472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50215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Technique: Keep asking "but what EXACTLY?" until you get something a human can physically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C32"/>
                </a:solidFill>
              </a:defRPr>
            </a:pPr>
            <a:r>
              <a:t>2. The 3 Questions — The Core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Q1: What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Eyes = IMAGES</a:t>
            </a:r>
            <a:br/>
            <a:r>
              <a:t>Words = TEXT</a:t>
            </a:r>
            <a:br/>
            <a:r>
              <a:t>Measurements =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64008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79" y="667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Q2: HOW thinking?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097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Recognizing = SUPERVISED</a:t>
            </a:r>
            <a:br/>
            <a:r>
              <a:t>Something off = ANOMALY</a:t>
            </a:r>
            <a:br/>
            <a:r>
              <a:t>Grouping = CLUSTERING</a:t>
            </a:r>
            <a:br/>
            <a:r>
              <a:t>Balancing = RL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64008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667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Q3: Past examples?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097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YES labeled = SUPERVISED</a:t>
            </a:r>
            <a:br/>
            <a:r>
              <a:t>NO just normal = UNSUPERVISED</a:t>
            </a:r>
            <a:br/>
            <a:r>
              <a:t>NO learns trying = 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IMAGES + Recognize + 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75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CNN / 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429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IMAGES + Abnormal +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675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Autoencoder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052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TEXT + Categorize +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53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Naive Bayes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6052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NUMBERS + Predict word + 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453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Classification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93776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NUMBERS + Predict number + 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30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3776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NUMBERS + Abnormal + 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230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Isolation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71500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NUMBERS + Group + 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007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K-Means / DBSCAN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715000"/>
            <a:ext cx="576072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ANY + Balance + Rewards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6007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64"/>
                </a:solidFill>
              </a:defRPr>
            </a:pPr>
            <a:r>
              <a:t>Practice: Restaurant Manager — Apply the 3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194560" cy="365760"/>
          </a:xfrm>
          <a:prstGeom prst="rect">
            <a:avLst/>
          </a:prstGeom>
          <a:solidFill>
            <a:srgbClr val="323241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548640"/>
            <a:ext cx="2194560" cy="365760"/>
          </a:xfrm>
          <a:prstGeom prst="rect">
            <a:avLst/>
          </a:prstGeom>
          <a:solidFill>
            <a:srgbClr val="323241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6040" y="566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Q1: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548640"/>
            <a:ext cx="2194560" cy="365760"/>
          </a:xfrm>
          <a:prstGeom prst="rect">
            <a:avLst/>
          </a:prstGeom>
          <a:solidFill>
            <a:srgbClr val="323241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566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Q2: Thinking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548640"/>
            <a:ext cx="2194560" cy="365760"/>
          </a:xfrm>
          <a:prstGeom prst="rect">
            <a:avLst/>
          </a:prstGeom>
          <a:solidFill>
            <a:srgbClr val="323241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566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Q3: Labels?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548640"/>
            <a:ext cx="2194560" cy="365760"/>
          </a:xfrm>
          <a:prstGeom prst="rect">
            <a:avLst/>
          </a:prstGeom>
          <a:solidFill>
            <a:srgbClr val="323241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566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ML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051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Predict chicken</a:t>
            </a:r>
            <a:br/>
            <a:r>
              <a:t>to buy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00584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051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NUMBERS</a:t>
            </a:r>
            <a:br/>
            <a:r>
              <a:t>(past sales)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00584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051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Predicting</a:t>
            </a:r>
            <a:br/>
            <a:r>
              <a:t>amount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00584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051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YES</a:t>
            </a:r>
            <a:br/>
            <a:r>
              <a:t>past sales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00584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051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Regression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0312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Categorize</a:t>
            </a:r>
            <a:br/>
            <a:r>
              <a:t>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10312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TEXT</a:t>
            </a:r>
            <a:br/>
            <a:r>
              <a:t>(reviews)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10312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Good/bad/</a:t>
            </a:r>
            <a:br/>
            <a:r>
              <a:t>average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10312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YES</a:t>
            </a:r>
            <a:br/>
            <a:r>
              <a:t>past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10312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Naive Bayes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20040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32461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Unusual</a:t>
            </a:r>
            <a:br/>
            <a:r>
              <a:t>electricity bill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20040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32461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NUMBERS</a:t>
            </a:r>
            <a:br/>
            <a:r>
              <a:t>(bills)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20040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32461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Doesn't match</a:t>
            </a:r>
            <a:br/>
            <a: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20040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2461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NO</a:t>
            </a:r>
            <a:br/>
            <a:r>
              <a:t>just knows normal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3200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32461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5050"/>
                </a:solidFill>
              </a:defRPr>
            </a:pPr>
            <a:r>
              <a:t>Anomaly</a:t>
            </a:r>
            <a:br/>
            <a:r>
              <a:t>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297679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43433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Set lunch</a:t>
            </a:r>
            <a:br/>
            <a:r>
              <a:t>prices daily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4297679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43433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NUMBERS+</a:t>
            </a:r>
            <a:br/>
            <a:r>
              <a:t>JUDGMENT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97679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43433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Balance profit</a:t>
            </a:r>
            <a:br/>
            <a:r>
              <a:t>vs customers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4297679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43433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NO</a:t>
            </a:r>
            <a:br/>
            <a:r>
              <a:t>learns by results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4297679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38360" y="43433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500"/>
                </a:solidFill>
              </a:defRPr>
            </a:pPr>
            <a:r>
              <a:t>RL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39496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5440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Spot theft</a:t>
            </a:r>
            <a:br/>
            <a:r>
              <a:t>on CCTV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539496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06040" y="5440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IMAGES</a:t>
            </a:r>
            <a:br/>
            <a:r>
              <a:t>(camera)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539496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83480" y="5440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Recognize cash</a:t>
            </a:r>
            <a:br/>
            <a:r>
              <a:t>in hand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5394960"/>
            <a:ext cx="219456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0920" y="5440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YES</a:t>
            </a:r>
            <a:br/>
            <a:r>
              <a:t>knows theft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539496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440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64FF"/>
                </a:solidFill>
              </a:defRPr>
            </a:pPr>
            <a:r>
              <a:t>CNN/YOLO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3. Data Collection — 4 Sources (In Order)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834640" cy="27432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75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1. Already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Check databases,</a:t>
            </a:r>
            <a:br/>
            <a:r>
              <a:t>CCTV, logs,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Hospital records</a:t>
            </a:r>
            <a:br/>
            <a:r>
              <a:t>Website analytics</a:t>
            </a:r>
            <a:br/>
            <a:r>
              <a:t>Past exam footage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ALWAYS check first!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640080"/>
            <a:ext cx="2834640" cy="27432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6675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2. Public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Kaggle, Roboflow,</a:t>
            </a:r>
            <a:br/>
            <a:r>
              <a:t>HuggingFace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50K+ free datasets</a:t>
            </a:r>
            <a:br/>
            <a:r>
              <a:t>Labeled images</a:t>
            </a:r>
            <a:br/>
            <a:r>
              <a:t>Text corpora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Search before collecting!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640080"/>
            <a:ext cx="2834640" cy="27432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675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3. Pre-trained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YOLO, MediaPipe,</a:t>
            </a:r>
            <a:br/>
            <a:r>
              <a:t>BERT, Whisper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Zero data needed!</a:t>
            </a:r>
            <a:br/>
            <a:r>
              <a:t>Download and test</a:t>
            </a:r>
            <a:br/>
            <a:r>
              <a:t>in 10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Fastest path to v1!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640080"/>
            <a:ext cx="2834640" cy="27432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6675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4. Collect Yourself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Camera, forms,</a:t>
            </a:r>
            <a:br/>
            <a:r>
              <a:t>scraping, 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Last resort</a:t>
            </a:r>
            <a:br/>
            <a:r>
              <a:t>Match real setup</a:t>
            </a:r>
            <a:br/>
            <a:r>
              <a:t>Min 200 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Only if 1-3 fail!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050"/>
                </a:solidFill>
              </a:defRPr>
            </a:pPr>
            <a:r>
              <a:t>4. Data Validation — 5 Checks Before Using Any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194560" cy="3200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7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1.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Count rows/images</a:t>
            </a:r>
            <a:br/>
            <a:r>
              <a:t>Enough for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&lt;500 risky</a:t>
            </a:r>
            <a:br/>
            <a:r>
              <a:t>500-5K good</a:t>
            </a:r>
            <a:br/>
            <a:r>
              <a:t>10K+ great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40080"/>
            <a:ext cx="2194560" cy="3200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667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2. 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Open 30 random samples</a:t>
            </a:r>
            <a:br/>
            <a:r>
              <a:t>Clear? Labels correct?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Blurry = remove</a:t>
            </a:r>
            <a:br/>
            <a:r>
              <a:t>Wrong label =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640080"/>
            <a:ext cx="2194560" cy="3200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667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3.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Matches YOUR situation?</a:t>
            </a:r>
            <a:br/>
            <a:r>
              <a:t>Street phone != desk 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Camera angle must</a:t>
            </a:r>
            <a:br/>
            <a:r>
              <a:t>match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640080"/>
            <a:ext cx="2194560" cy="3200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667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4.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Equal per class?</a:t>
            </a:r>
            <a:br/>
            <a:r>
              <a:t>500+500 = good</a:t>
            </a:r>
            <a:br/>
            <a:r>
              <a:t>4500+50 = bad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Imbalanced =</a:t>
            </a:r>
            <a:br/>
            <a:r>
              <a:t>model ignores minority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640080"/>
            <a:ext cx="2194560" cy="32004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67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5.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Downloads? Comments?</a:t>
            </a:r>
            <a:br/>
            <a:r>
              <a:t>Ratings? Others used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1000+ downloads</a:t>
            </a:r>
            <a:br/>
            <a:r>
              <a:t>= probably decent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</a:defRPr>
            </a:pPr>
            <a:r>
              <a:t>5. Data Augmentation — 500 Images → 3000+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Mirror</a:t>
            </a:r>
            <a:br/>
            <a:r>
              <a:t>horizontally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Phone left</a:t>
            </a:r>
            <a:br/>
            <a:r>
              <a:t>vs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</a:defRPr>
            </a:pPr>
            <a:r>
              <a:t>Rotate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Tilt</a:t>
            </a:r>
            <a:br/>
            <a:r>
              <a:t>5-30 degrees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Camera</a:t>
            </a:r>
            <a:br/>
            <a:r>
              <a:t>tilted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Brightness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Lighter</a:t>
            </a:r>
            <a:br/>
            <a:r>
              <a:t>or darker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Morning vs</a:t>
            </a:r>
            <a:br/>
            <a:r>
              <a:t>evening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64FF"/>
                </a:solidFill>
              </a:defRPr>
            </a:pPr>
            <a:r>
              <a:t>Zoom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Closer</a:t>
            </a:r>
            <a:br/>
            <a:r>
              <a:t>or further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Different</a:t>
            </a:r>
            <a:br/>
            <a:r>
              <a:t>distances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</a:defRPr>
            </a:pPr>
            <a:r>
              <a:t>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Add grain</a:t>
            </a:r>
            <a:br/>
            <a:r>
              <a:t>or blur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Cheap camera</a:t>
            </a:r>
            <a:br/>
            <a:r>
              <a:t>simulation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640080"/>
            <a:ext cx="1828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667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Different</a:t>
            </a:r>
            <a:br/>
            <a:r>
              <a:t>framing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Phone partially</a:t>
            </a:r>
            <a:br/>
            <a:r>
              <a:t>visible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20040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2783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1 image x 6 techniques = 6 images. 500 original = 3000 augmented. But REAL data &gt; augmented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050"/>
                </a:solidFill>
              </a:defRPr>
            </a:pPr>
            <a:r>
              <a:t>6. Data Cleaning — 80% of ML Engineer's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7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Delete row OR</a:t>
            </a:r>
            <a:br/>
            <a:r>
              <a:t>fill with average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64008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667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Find and</a:t>
            </a:r>
            <a:br/>
            <a:r>
              <a:t>remove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64008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667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</a:defRPr>
            </a:pPr>
            <a:r>
              <a:t>Wrong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Check 50 random</a:t>
            </a:r>
            <a:br/>
            <a:r>
              <a:t>fix mistakes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64008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667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Outliers (age=500)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Detect, remove</a:t>
            </a:r>
            <a:br/>
            <a:r>
              <a:t>or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28600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64FF"/>
                </a:solidFill>
              </a:defRPr>
            </a:pPr>
            <a:r>
              <a:t>Wrong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'Rs 50,000' →</a:t>
            </a:r>
            <a:br/>
            <a:r>
              <a:t>50000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228600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Inconsistent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'Male','M','m'</a:t>
            </a:r>
            <a:br/>
            <a:r>
              <a:t>→ standardize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28600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Blurry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Remove or</a:t>
            </a:r>
            <a:br/>
            <a:r>
              <a:t>recapture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286000"/>
            <a:ext cx="283464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8C8D2"/>
                </a:solidFill>
              </a:defRPr>
            </a:pPr>
            <a:r>
              <a:t>Wrong File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.bmp → .jpg</a:t>
            </a:r>
            <a:br/>
            <a:r>
              <a:t>convert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64"/>
                </a:solidFill>
              </a:defRPr>
            </a:pPr>
            <a:r>
              <a:t>7. Pre-trained Models — Zero Data to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67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64"/>
                </a:solidFill>
              </a:defRPr>
            </a:pPr>
            <a:r>
              <a:t>YOLOv8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Detect 80 objects</a:t>
            </a:r>
            <a:br/>
            <a:r>
              <a:t>(phone, person, car...)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Data: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D2"/>
                </a:solidFill>
              </a:defRPr>
            </a:pPr>
            <a:r>
              <a:t>pip install</a:t>
            </a:r>
            <a:br/>
            <a:r>
              <a:t>ultralytics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64008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667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FF"/>
                </a:solidFill>
              </a:defRPr>
            </a:pPr>
            <a:r>
              <a:t>MediaPipe</a:t>
            </a:r>
            <a:br/>
            <a:r>
              <a:t>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Face landmarks</a:t>
            </a:r>
            <a:br/>
            <a:r>
              <a:t>gaze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Data: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D2"/>
                </a:solidFill>
              </a:defRPr>
            </a:pPr>
            <a:r>
              <a:t>pip install</a:t>
            </a:r>
            <a:br/>
            <a:r>
              <a:t>mediapipe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64008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667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</a:defRPr>
            </a:pPr>
            <a:r>
              <a:t>MediaPipe</a:t>
            </a:r>
            <a:br/>
            <a:r>
              <a:t>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Body skeleton</a:t>
            </a:r>
            <a:br/>
            <a:r>
              <a:t>33 keypoints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Data: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D2"/>
                </a:solidFill>
              </a:defRPr>
            </a:pPr>
            <a:r>
              <a:t>Same</a:t>
            </a:r>
            <a:br/>
            <a:r>
              <a:t>package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64008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667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64FF"/>
                </a:solidFill>
              </a:defRPr>
            </a:pPr>
            <a:r>
              <a:t>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Text understanding</a:t>
            </a:r>
            <a:br/>
            <a:r>
              <a:t>sentiment, 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Data: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D2"/>
                </a:solidFill>
              </a:defRPr>
            </a:pPr>
            <a:r>
              <a:t>pip install</a:t>
            </a:r>
            <a:br/>
            <a:r>
              <a:t>transformers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64008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667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</a:defRPr>
            </a:pPr>
            <a:r>
              <a:t>Whisper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Speech to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Data: 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D2"/>
                </a:solidFill>
              </a:defRPr>
            </a:pPr>
            <a:r>
              <a:t>pip install</a:t>
            </a:r>
            <a:br/>
            <a:r>
              <a:t>openai-whisper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200400"/>
            <a:ext cx="117957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22783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The 10-Photo Test (10 minutes):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Take 10 photos from YOUR setup → run pre-trained → check results:</a:t>
            </a:r>
            <a:br/>
            <a:r>
              <a:t>&gt;85% correct = USE AS-IS  |  60-85% = FINE-TUNE with 300 photos  |  &lt;60% = wrong model, try another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64FF"/>
                </a:solidFill>
              </a:defRPr>
            </a:pPr>
            <a:r>
              <a:t>8. Data Labeling — How to Label Properly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75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Classification</a:t>
            </a:r>
            <a:br/>
            <a: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Whole image =</a:t>
            </a:r>
            <a:br/>
            <a:r>
              <a:t>'phone' or 'no phone'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Is there a phone?</a:t>
            </a:r>
            <a:br/>
            <a:r>
              <a:t>Simplest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64008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6675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</a:defRPr>
            </a:pPr>
            <a:r>
              <a:t>Bounding</a:t>
            </a:r>
            <a:br/>
            <a:r>
              <a:t>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Draw rectangle</a:t>
            </a:r>
            <a:br/>
            <a:r>
              <a:t>around the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WHERE is the phone?</a:t>
            </a:r>
            <a:br/>
            <a:r>
              <a:t>YOLO needs this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64008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6675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Outline exact shape</a:t>
            </a:r>
            <a:br/>
            <a:r>
              <a:t>pixel by pixel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Medical imaging</a:t>
            </a:r>
            <a:br/>
            <a:r>
              <a:t>Self-driving (precise)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640080"/>
            <a:ext cx="283464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6675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64FF"/>
                </a:solidFill>
              </a:defRPr>
            </a:pPr>
            <a:r>
              <a:t>Text</a:t>
            </a:r>
            <a:br/>
            <a: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188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'positive' / 'negative'</a:t>
            </a:r>
            <a:br/>
            <a:r>
              <a:t>per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Review sentiment</a:t>
            </a:r>
            <a:br/>
            <a:r>
              <a:t>Ticket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Tools: Roboflow (web) | LabelImg (desktop) | CVAT (video) | Label Studio (all types)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9. Data Pipeline — Complete A-to-Z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1.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97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2. 3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097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3. 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097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</a:defRPr>
            </a:pPr>
            <a:r>
              <a:t>4.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1097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5.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097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64008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731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64FF"/>
                </a:solidFill>
              </a:defRPr>
            </a:pPr>
            <a:r>
              <a:t>6. 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1887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7. Augment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8.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80/20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</a:defRPr>
            </a:pPr>
            <a:r>
              <a:t>9. Select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59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79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10. Train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59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64FF"/>
                </a:solidFill>
              </a:defRPr>
            </a:pPr>
            <a:r>
              <a:t>11.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2651760"/>
            <a:ext cx="18288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12. Deploy!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75488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78231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Time: 60% data work | 20% training | 10% testing | 10% deployment. DATA IS THE JOB.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10. Multi-Model Systems — Real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Real systems = multiple independent models + regular code connecting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41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Phone</a:t>
            </a:r>
            <a:br/>
            <a:r>
              <a:t>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YOLO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14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941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Gaze</a:t>
            </a:r>
            <a:br/>
            <a:r>
              <a:t>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MediaPipe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914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941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Behavior</a:t>
            </a:r>
            <a:br/>
            <a: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Autoencoder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914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941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Identity</a:t>
            </a:r>
            <a:br/>
            <a:r>
              <a:t>Verifier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Face CNN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914400"/>
            <a:ext cx="219456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941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Alert</a:t>
            </a:r>
            <a:br/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RL/Rules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v v v v 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solidFill>
            <a:srgbClr val="323219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313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CONNECTOR (Regular Python) → if phone&gt;80% OR gaze&gt;30s →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108960"/>
            <a:ext cx="219456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v0.1</a:t>
            </a:r>
            <a:br/>
            <a:r>
              <a:t>Week 1-2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Phone only</a:t>
            </a:r>
            <a:br/>
            <a:r>
              <a:t>Simple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108960"/>
            <a:ext cx="219456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v0.2</a:t>
            </a:r>
            <a:br/>
            <a:r>
              <a:t>Week 3-4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+Gaze</a:t>
            </a:r>
            <a:br/>
            <a:r>
              <a:t>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108960"/>
            <a:ext cx="219456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v0.3</a:t>
            </a:r>
            <a:br/>
            <a:r>
              <a:t>Week 5-6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+Behavior</a:t>
            </a:r>
            <a:br/>
            <a:r>
              <a:t>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108960"/>
            <a:ext cx="219456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v0.4</a:t>
            </a:r>
            <a:br/>
            <a:r>
              <a:t>Week 7-8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+Identity</a:t>
            </a:r>
            <a:br/>
            <a:r>
              <a:t>Verifier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108960"/>
            <a:ext cx="2194560" cy="13716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v1.0</a:t>
            </a:r>
            <a:br/>
            <a:r>
              <a:t>Week 9-12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+RL Alert</a:t>
            </a:r>
            <a:br/>
            <a:r>
              <a:t>Full system!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75488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78231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Build ONE at a time. Start with rules. Replace with ML when ready. Different models = different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