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6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Problem &amp;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C8DCFF"/>
                </a:solidFill>
                <a:latin typeface="Calibri"/>
              </a:defRPr>
            </a:pPr>
            <a:r>
              <a:t>The AI Backbone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931920"/>
            <a:ext cx="3962095" cy="36576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4D2FF"/>
                </a:solidFill>
                <a:latin typeface="Calibri"/>
              </a:defRPr>
            </a:pPr>
            <a:r>
              <a:t>From Vague Goal to Trained Model in 10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BEF0"/>
                </a:solidFill>
                <a:latin typeface="Calibri"/>
              </a:defRPr>
            </a:pPr>
            <a:r>
              <a:t>AI Foundations  •  Section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10-Step Roadmap</a:t>
            </a:r>
          </a:p>
        </p:txBody>
      </p:sp>
      <p:pic>
        <p:nvPicPr>
          <p:cNvPr id="3" name="Picture 2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64240" cy="4262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Each step builds on the previous one. You cannot skip steps — but you WILL loop back as you learn more about your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1: Understand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962FF"/>
                </a:solidFill>
                <a:latin typeface="Calibri"/>
              </a:defRPr>
            </a:pPr>
            <a:r>
              <a:t>Don't start with 'which model?' — Start with 'what would a HUMAN do?'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Someone gives you a vague goal ("Build AI for hospital")</a:t>
            </a:r>
          </a:p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You ask: "What SPECIFICALLY do you want to know?"</a:t>
            </a:r>
          </a:p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You watch what a HUMAN expert actually does in that role</a:t>
            </a:r>
          </a:p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You list each specific task the human performs</a:t>
            </a:r>
          </a:p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Each task = one potential ML problem to solve</a:t>
            </a:r>
          </a:p>
          <a:p>
            <a:pPr algn="l">
              <a:spcAft>
                <a:spcPts val="560"/>
              </a:spcAft>
              <a:defRPr sz="1400">
                <a:solidFill>
                  <a:srgbClr val="32323C"/>
                </a:solidFill>
                <a:latin typeface="Calibri"/>
              </a:defRPr>
              <a:lnSpc>
                <a:spcPct val="150000"/>
              </a:lnSpc>
            </a:pPr>
            <a:r>
              <a:t>•  Some tasks need ML, others are simple rules — identify which is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0" y="1737360"/>
          <a:ext cx="48463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Vague Goal</a:t>
                      </a:r>
                    </a:p>
                  </a:txBody>
                  <a:tcPr marL="73152" marR="73152" marT="36576" marB="36576">
                    <a:solidFill>
                      <a:srgbClr val="296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 Question</a:t>
                      </a:r>
                    </a:p>
                  </a:txBody>
                  <a:tcPr marL="73152" marR="73152" marT="36576" marB="36576">
                    <a:solidFill>
                      <a:srgbClr val="296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Tasks Found</a:t>
                      </a:r>
                    </a:p>
                  </a:txBody>
                  <a:tcPr marL="73152" marR="73152" marT="36576" marB="36576">
                    <a:solidFill>
                      <a:srgbClr val="2962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Build AI for hospital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 which patients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will need ICU?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Vital sign monitoring,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Risk scoring, Triage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Make exam fair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Catch cheaters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automatically?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Phone detection,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Gaze tracking, Identity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Help cricket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 match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outcome?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Player stats, Weather,</a:t>
                      </a:r>
                    </a:p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Pitch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029200"/>
            <a:ext cx="10881360" cy="731520"/>
          </a:xfrm>
          <a:prstGeom prst="roundRect">
            <a:avLst/>
          </a:prstGeom>
          <a:solidFill>
            <a:srgbClr val="E3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300" b="1">
                <a:solidFill>
                  <a:srgbClr val="2962FF"/>
                </a:solidFill>
                <a:latin typeface="Calibri"/>
              </a:defRPr>
            </a:pPr>
            <a:r>
              <a:t>KEY INSIGHT: The #1 mistake beginners make is jumping straight to models. Spend 80% of your thinking time understanding the problem BEFORE touching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ExamGuard — Watching the Invigilator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6400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Invigilator Does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Used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They Think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Type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Spots phone on desk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Images (camera)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"I recognize that shape"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= trained on examples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YOLO (Supervised)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Notices student looking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sideways repeatedly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(face direction)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"Head turned toward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neighbor" = recognizing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behavior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CNN + Pose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Estimation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Senses something "off"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about a student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(body language)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"Can't explain but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not normal" = gut feeling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Autoencoder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(Anomaly Detection)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Decides to confront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or wait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Judgment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(context)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"Is it worth disrupting?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Balancing risk vs. harm"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Reinforcement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Learning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Counts absent students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Counting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"30 desks, 28 present"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= simple arithmetic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NOT ML —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Simple Rule!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5303520"/>
            <a:ext cx="11277295" cy="914400"/>
          </a:xfrm>
          <a:prstGeom prst="roundRect">
            <a:avLst/>
          </a:prstGeom>
          <a:solidFill>
            <a:srgbClr val="DC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009650"/>
                </a:solidFill>
                <a:latin typeface="Calibri"/>
              </a:defRPr>
            </a:pPr>
            <a:r>
              <a:t>KEY INSIGHT: 1 project = 5 ML models + 1 simple rule. Not everything needs ML! A real AI system is a COLLECTION of models, each handling one specific task.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2: The 3 Questions That Decide Your ML Type</a:t>
            </a:r>
          </a:p>
        </p:txBody>
      </p:sp>
      <p:pic>
        <p:nvPicPr>
          <p:cNvPr id="3" name="Picture 2" descr="three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861418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0" y="1188720"/>
            <a:ext cx="5943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1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How to use the 3 Questions: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1. Start with your specific task (e.g., "detect phones")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2. Q1 — What data will you feed the model?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Images from CCTV? Text from reviews?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Spreadsheet numbers? Audio clips?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3. Q2 — How does a human THINK about this?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"I RECOGNIZE that" → Classification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"That seems ABNORMAL" → Anomaly Detection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"These GROUP together" → Clustering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"I PREDICT this will happen" → Regression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"I'm BALANCING tradeoffs" → RL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4. Q3 — Do you have labeled examples?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Yes (labeled data) → Supervised Learning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No (just raw data) → Unsupervised Learning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Rewards/penalties → Reinforcement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Q1 + Q2 + Q3 → Your ML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8996"/>
                </a:solidFill>
                <a:latin typeface="Calibri"/>
              </a:defRPr>
            </a:pPr>
            <a:r>
              <a:t>Use this table as a quick-reference to map ANY problem to the right approach.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772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673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(Q1)</a:t>
                      </a:r>
                    </a:p>
                  </a:txBody>
                  <a:tcPr marL="73152" marR="73152" marT="36576" marB="36576">
                    <a:solidFill>
                      <a:srgbClr val="0089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Thinking (Q2)</a:t>
                      </a:r>
                    </a:p>
                  </a:txBody>
                  <a:tcPr marL="73152" marR="73152" marT="36576" marB="36576">
                    <a:solidFill>
                      <a:srgbClr val="0089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Labels? (Q3)</a:t>
                      </a:r>
                    </a:p>
                  </a:txBody>
                  <a:tcPr marL="73152" marR="73152" marT="36576" marB="36576">
                    <a:solidFill>
                      <a:srgbClr val="0089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Type</a:t>
                      </a:r>
                    </a:p>
                  </a:txBody>
                  <a:tcPr marL="73152" marR="73152" marT="36576" marB="36576">
                    <a:solidFill>
                      <a:srgbClr val="0089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Examples</a:t>
                      </a:r>
                    </a:p>
                  </a:txBody>
                  <a:tcPr marL="73152" marR="73152" marT="36576" marB="36576">
                    <a:solidFill>
                      <a:srgbClr val="008996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Recognizing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Supervised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CNN / YOLO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Images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Something off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Anomaly Detection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Autoencoder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Categorizing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Supervised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Naive Bayes / BERT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Numbers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Predicting category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Classification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LogReg / DT / RF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Numbers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Predicting amount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Linear / Poly / 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Numbers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Something off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Anomaly Detection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Numbers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Grouping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Clustering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K-Means / DBSCAN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Any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Balancing tradeoffs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Rewards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Reinforcement Learning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Q-Learning / PPO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1">
                <a:solidFill>
                  <a:srgbClr val="008996"/>
                </a:solidFill>
                <a:latin typeface="Calibri"/>
              </a:defRPr>
              <a:lnSpc>
                <a:spcPct val="130000"/>
              </a:lnSpc>
            </a:pPr>
            <a:r>
              <a:t>TIP: Most real projects need MULTIPLE rows from this table. ExamGuard uses rows 1, 2, and 8!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Practice: Apply 3 Questions to Real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Restaurant Manager — "Reduce food waste"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(Q1)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Thinking (Q2)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Type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 daily demand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Sales numbers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Predicting amount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Spot spoiled ingredients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Images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Something off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Anomaly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Group similar dishes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Menu +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Grouping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Clustering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Categorize complaints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Text reviews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Categorizing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Classification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Optimize pricing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Sales + prices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Balancing tradeoffs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Clothing Store — "Reduce returns"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600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(Q1)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Thinking (Q2)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 Type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 if item returned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Purchase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Predicting category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Classification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Recommend right size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Body + item data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Predicting amount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Detect listing errors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Product images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Something off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Anomaly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Group return reasons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Text feedback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Grouping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Clustering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Optimize return policy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Cost + satisfaction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Balancing tradeoffs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572000"/>
            <a:ext cx="11277295" cy="1645920"/>
          </a:xfrm>
          <a:prstGeom prst="roundRect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E67E22"/>
                </a:solidFill>
                <a:latin typeface="Calibri"/>
              </a:defRPr>
            </a:pPr>
            <a:r>
              <a:t>NOTICE THE PATTERN:</a:t>
            </a:r>
          </a:p>
          <a:p>
            <a:pPr>
              <a:defRPr sz="1300">
                <a:solidFill>
                  <a:srgbClr val="32323C"/>
                </a:solidFill>
                <a:latin typeface="Calibri"/>
              </a:defRPr>
            </a:pPr>
            <a:r>
              <a:t>Every real-world project decomposes into 4-6 sub-tasks. Each sub-task maps to a different ML type. This is why Step 1 (decomposition) is so critical — without it, you'd try to build ONE model to do everything, and it would fail.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3: Where to Get Data</a:t>
            </a:r>
          </a:p>
        </p:txBody>
      </p:sp>
      <p:pic>
        <p:nvPicPr>
          <p:cNvPr id="3" name="Picture 2" descr="data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6946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1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Data Source Priority (try top-to-bottom):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1. YOUR OWN DATA is always best because it matches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your exact situation. CCTV from YOUR exam hall,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patient records from YOUR hospital.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2. PUBLIC DATASETS are great for starting out.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Kaggle.com has 200K+ datasets. Roboflow has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labeled image datasets. HuggingFace for text.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3. PRE-TRAINED MODELS already know how to do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common tasks. YOLO detects 80 objects out of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the box. MediaPipe tracks faces and poses.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You may need ZERO data!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4. COLLECTING YOUR OWN is expensive and slow.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Only do this when nothing else works.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14999"/>
              </a:lnSpc>
            </a:pPr>
            <a:r>
              <a:t>   But the result is the most valuable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Pre-trained Models — Start with ZERO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876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Needed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Install Command</a:t>
                      </a:r>
                    </a:p>
                  </a:txBody>
                  <a:tcPr marL="73152" marR="73152" marT="36576" marB="36576">
                    <a:solidFill>
                      <a:srgbClr val="00965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YOLOv8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Detect 80 objects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(phone, person, bag...)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Zero!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pip install ultralytics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MediaPipe Face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Face landmarks +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gaze direction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Zero!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pip install mediapipe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MediaPipe Pose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Body skeleton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tracking (33 points)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Zero!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(same package)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BERT / DistilBERT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Text understanding,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sentiment, classification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Zero for basic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use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pip install transformers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Whisper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Speech-to-text</a:t>
                      </a:r>
                    </a:p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(98 languages)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Zero!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pip install openai-whisper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389120"/>
            <a:ext cx="11277295" cy="2011680"/>
          </a:xfrm>
          <a:prstGeom prst="roundRect">
            <a:avLst/>
          </a:prstGeom>
          <a:solidFill>
            <a:srgbClr val="DC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500" b="1">
                <a:solidFill>
                  <a:srgbClr val="009650"/>
                </a:solidFill>
                <a:latin typeface="Calibri"/>
              </a:defRPr>
            </a:pPr>
            <a:r>
              <a:t>THE 10-PHOTO TEST  —  Before committing to any model:</a:t>
            </a:r>
          </a:p>
          <a:p>
            <a:pPr>
              <a:spcBef>
                <a:spcPts val="400"/>
              </a:spcBef>
              <a:defRPr sz="1200">
                <a:solidFill>
                  <a:srgbClr val="32323C"/>
                </a:solidFill>
                <a:latin typeface="Calibri"/>
              </a:defRPr>
            </a:pPr>
            <a:r>
              <a:t>1. Take 10 photos/samples from YOUR actual setup (your classroom, your camera angle)</a:t>
            </a:r>
          </a:p>
          <a:p>
            <a:pPr>
              <a:spcBef>
                <a:spcPts val="400"/>
              </a:spcBef>
              <a:defRPr sz="1200">
                <a:solidFill>
                  <a:srgbClr val="32323C"/>
                </a:solidFill>
                <a:latin typeface="Calibri"/>
              </a:defRPr>
            </a:pPr>
            <a:r>
              <a:t>2. Run the pre-trained model on those 10 samples</a:t>
            </a:r>
          </a:p>
          <a:p>
            <a:pPr>
              <a:spcBef>
                <a:spcPts val="400"/>
              </a:spcBef>
              <a:defRPr sz="1200">
                <a:solidFill>
                  <a:srgbClr val="32323C"/>
                </a:solidFill>
                <a:latin typeface="Calibri"/>
              </a:defRPr>
            </a:pPr>
            <a:r>
              <a:t>3. Check accuracy:  &gt;85%  =  Use AS-IS    |    60-85%  =  FINE-TUNE with your data    |    &lt;60%  =  Wrong model, try another</a:t>
            </a:r>
          </a:p>
          <a:p>
            <a:pPr>
              <a:spcBef>
                <a:spcPts val="400"/>
              </a:spcBef>
              <a:defRPr sz="1200">
                <a:solidFill>
                  <a:srgbClr val="32323C"/>
                </a:solidFill>
                <a:latin typeface="Calibri"/>
              </a:defRPr>
            </a:pPr>
            <a:r>
              <a:t>4. This takes 30 minutes and saves you WEEKS of wrong-path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4: Validate Your Data — 5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32F2F"/>
                </a:solidFill>
                <a:latin typeface="Calibri"/>
              </a:defRPr>
            </a:pPr>
            <a:r>
              <a:t>1. SIZE — Count your rows/images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2323C"/>
                </a:solidFill>
                <a:latin typeface="Calibri"/>
              </a:defRPr>
            </a:pPr>
            <a:r>
              <a:t>Less than 500 samples is risky and may not generalize. 500-5,000 is workable for most tasks. 10,000+ is great. For images, even 200 can work with augmentation + transfer 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32F2F"/>
                </a:solidFill>
                <a:latin typeface="Calibri"/>
              </a:defRPr>
            </a:pPr>
            <a:r>
              <a:t>2. LOOK — Open 30 random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2323C"/>
                </a:solidFill>
                <a:latin typeface="Calibri"/>
              </a:defRPr>
            </a:pPr>
            <a:r>
              <a:t>Are images clear enough? Are labels actually correct? Do the numbers make sense? You'd be surprised how many datasets have wrong labels or corrupted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32F2F"/>
                </a:solidFill>
                <a:latin typeface="Calibri"/>
              </a:defRPr>
            </a:pPr>
            <a:r>
              <a:t>3. RELEVANCE — Does it match YOUR situation?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2323C"/>
                </a:solidFill>
                <a:latin typeface="Calibri"/>
              </a:defRPr>
            </a:pPr>
            <a:r>
              <a:t>A dataset of phones on streets is NOT the same as phones on exam desks. Different angles, lighting, and context. Your model will fail if training data doesn't match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32F2F"/>
                </a:solidFill>
                <a:latin typeface="Calibri"/>
              </a:defRPr>
            </a:pPr>
            <a:r>
              <a:t>4. BALANCE — Check class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2323C"/>
                </a:solidFill>
                <a:latin typeface="Calibri"/>
              </a:defRPr>
            </a:pPr>
            <a:r>
              <a:t>500 phone images + 500 no-phone images = GOOD. 4,500 no-phone + 50 phone = BAD. The model will just say 'no phone' every time and be 98% accurate but useless.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32F2F"/>
                </a:solidFill>
                <a:latin typeface="Calibri"/>
              </a:defRPr>
            </a:pPr>
            <a:r>
              <a:t>5. TRUST — Who made this dataset?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2323C"/>
                </a:solidFill>
                <a:latin typeface="Calibri"/>
              </a:defRPr>
            </a:pPr>
            <a:r>
              <a:t>Check: download count, community ratings, recent updates, clear documentation. A dataset with 50K downloads and 4.8 stars is safer than one uploaded yesterday with no description.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52160"/>
            <a:ext cx="11277295" cy="640080"/>
          </a:xfrm>
          <a:prstGeom prst="roundRect">
            <a:avLst/>
          </a:prstGeom>
          <a:solidFill>
            <a:srgbClr val="FF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200" b="1">
                <a:solidFill>
                  <a:srgbClr val="D32F2F"/>
                </a:solidFill>
                <a:latin typeface="Calibri"/>
              </a:defRPr>
            </a:pPr>
            <a:r>
              <a:t>RED FLAGS: No documentation  |  Last updated 5+ years ago  |  Less than 100 downloads  |  Mismatch with your use case  |  Only 1 class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5: Clean Your Data — 80% of ML Work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800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marL="73152" marR="73152" marT="36576" marB="36576">
                    <a:solidFill>
                      <a:srgbClr val="E67E22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Missing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50% of rows have blank fields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Fill with average/median, or delete row if too many 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Duplicates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Same row appears 100 times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Find duplicates and remove (keep one copy)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Wrong labels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"Phone" label on a no-phone image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Manually check 50 random samples, fix incorrect ones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Outliers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Age = 500, Salary = -10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Cap at reasonable max/min, or remove if clearly error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Wrong format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"Rs 50,000" instead of 50000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Convert strings to numbers, standardize currency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Inconsistent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"Male", "M", "m", "male"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Map all variants to one standard format</a:t>
                      </a:r>
                    </a:p>
                  </a:txBody>
                  <a:tcPr marL="73152" marR="73152" marT="36576" marB="36576">
                    <a:solidFill>
                      <a:srgbClr val="F0F0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Blurry images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Can't see what's in the photo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32323C"/>
                          </a:solidFill>
                          <a:latin typeface="Calibri"/>
                        </a:defRPr>
                      </a:pPr>
                      <a:r>
                        <a:t>Remove or recapture. Blurry = noise for the model.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5303520"/>
            <a:ext cx="11277295" cy="1097280"/>
          </a:xfrm>
          <a:prstGeom prst="roundRect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800" b="1">
                <a:solidFill>
                  <a:srgbClr val="E67E22"/>
                </a:solidFill>
                <a:latin typeface="Calibri"/>
              </a:defRPr>
            </a:pPr>
            <a:r>
              <a:t>GARBAGE IN = GARBAGE OUT</a:t>
            </a:r>
          </a:p>
          <a:p>
            <a:pPr>
              <a:defRPr sz="1200">
                <a:solidFill>
                  <a:srgbClr val="32323C"/>
                </a:solidFill>
                <a:latin typeface="Calibri"/>
              </a:defRPr>
            </a:pPr>
            <a:r>
              <a:t>The single most important rule in ML. A simple model on clean data will ALWAYS beat a fancy model on dirty data. Data scientists spend 60-80% of their time on cleaning alone.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6: Label Your Data</a:t>
            </a:r>
          </a:p>
        </p:txBody>
      </p:sp>
      <p:pic>
        <p:nvPicPr>
          <p:cNvPr id="3" name="Picture 2" descr="label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7295" cy="32139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1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Best Practices for Labeling: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Be CONSISTENT — same rules for every image. Write a labeling guide.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Label TIGHTLY — bounding box should hug the object, not include extra space.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When in doubt, SKIP the image rather than guess wrong.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Have 2 people label independently, then compare. Agreement &lt; 90%? Rules are unclear.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Tools:  Roboflow (web, free tier)  |  LabelImg (desktop, free)  |  CVAT (open source)  |  Label Studio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7: Data Augmentation — Make Small Data Bigger</a:t>
            </a:r>
          </a:p>
        </p:txBody>
      </p:sp>
      <p:pic>
        <p:nvPicPr>
          <p:cNvPr id="3" name="Picture 2" descr="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7295" cy="2370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74903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When TO augment: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You have fewer than 1,000 images per class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Your model is overfitting (training accuracy high, test accuracy low)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You want your model to handle different lighting/angles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When NOT to augment: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Text data (flipping text makes no sense)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Numbers/tabular data (use SMOTE instead)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If augmented images become unrealistic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3749039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200" b="1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Tools for Augmentation: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Roboflow — web-based, automatic augmentation pipeline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Albumentations — Python library, 60+ transforms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torchvision.transforms — built into PyTorch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Keras ImageDataGenerator — built into TensorFlow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Common transforms: flip, rotate, brightness, contrast,</a:t>
            </a:r>
          </a:p>
          <a:p>
            <a:pPr algn="l">
              <a:spcAft>
                <a:spcPts val="480"/>
              </a:spcAft>
              <a:defRPr sz="12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crop, blur, noise, scale, shear, cutout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8: Transfer Learning — Build on What Exists</a:t>
            </a:r>
          </a:p>
        </p:txBody>
      </p:sp>
      <p:pic>
        <p:nvPicPr>
          <p:cNvPr id="3" name="Picture 2" descr="transfer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7295" cy="34366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65760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1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Extending Your Model in Phases: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Phase 1:  Phones only  →  Train on 300 phone photos  →  Deploy &amp; test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Phase 2:  + Cheat sheets  →  Add 200 chit photos, retrain  →  Now detects 2 things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Phase 3:  + Earpieces  →  Add 150 earpiece photos  →  Now detects 3 things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Phase 4:  + Smartwatches  →  Add 100 watch photos  →  Full detection system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KEY RULE: You NEVER train from scratch. Always build on what exists.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Transfer learning = standing on the shoulders of giants.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9: The Complete Pipeline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2303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Notice: 60% of the work is data preparation (Steps 3-8). Only 20% is actual model training. This is why 'data engineering' is a separate career. Most beginners spend 90% on models and 10% on data — and then wonder why their models don't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Step 10: How Real AI Systems Work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3538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65760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1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Key Rules for Multi-Model Systems: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Each model runs INDEPENDENTLY — if one fails, others keep working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The Connector is SIMPLE Python code (if/else logic), not another ML model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Models communicate through standard formats: JSON, CSV, or simple variables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Build and test EACH model separately before connecting them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Use confidence scores: "YOLO says phone detected with 87% confidence"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Set thresholds per model: only alert if confidence &gt; 70% (configurable)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30000"/>
              </a:lnSpc>
            </a:pPr>
            <a:r>
              <a:t>•  Log everything — when models disagree, logs help you debug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Build ONE Module at a Time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00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29768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1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Why Build Incrementally?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Each version is DEPLOYABLE and TESTABLE on its own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You get feedback from real users after Week 2, not Week 12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If v0.1 doesn't work, you haven't wasted 12 weeks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Each new module builds on proven working infrastructure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•  Your stakeholders see progress every 2 weeks (keeps funding alive!)</a:t>
            </a: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</a:p>
          <a:p>
            <a:pPr algn="l">
              <a:spcAft>
                <a:spcPts val="520"/>
              </a:spcAft>
              <a:defRPr sz="1300">
                <a:solidFill>
                  <a:srgbClr val="32323C"/>
                </a:solidFill>
                <a:latin typeface="Calibri"/>
              </a:defRPr>
              <a:lnSpc>
                <a:spcPct val="125000"/>
              </a:lnSpc>
            </a:pPr>
            <a:r>
              <a:t>NEVER try to build everything at once. Ship v0.1 fast, iterate.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Quick Reference — 10 Steps to AI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207008"/>
            <a:ext cx="365760" cy="36576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188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962FF"/>
                </a:solidFill>
                <a:latin typeface="Calibri"/>
              </a:rPr>
              <a:t>UNDERSTAND </a:t>
            </a:r>
            <a:r>
              <a:rPr sz="1400" b="0">
                <a:solidFill>
                  <a:srgbClr val="32323C"/>
                </a:solidFill>
                <a:latin typeface="Calibri"/>
              </a:rPr>
              <a:t>the problem — watch what a human does, list every specific task.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733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B1FA2"/>
                </a:solidFill>
                <a:latin typeface="Calibri"/>
              </a:rPr>
              <a:t>ASK 3 QUESTIONS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What data? How thinking? Past examples? → ML type.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176272"/>
            <a:ext cx="365760" cy="36576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962FF"/>
                </a:solidFill>
                <a:latin typeface="Calibri"/>
              </a:rPr>
              <a:t>FIND DATA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check what you have, then public datasets, then pre-trained models.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60904"/>
            <a:ext cx="365760" cy="3657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4261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32F2F"/>
                </a:solidFill>
                <a:latin typeface="Calibri"/>
              </a:rPr>
              <a:t>VALIDATE DATA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check size, look at samples, relevance, balance, trust.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45536"/>
            <a:ext cx="365760" cy="36576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1272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67E22"/>
                </a:solidFill>
                <a:latin typeface="Calibri"/>
              </a:rPr>
              <a:t>CLEAN DATA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fix missing values, duplicates, wrong labels, outliers, formats.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630168"/>
            <a:ext cx="365760" cy="3657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11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B1FA2"/>
                </a:solidFill>
                <a:latin typeface="Calibri"/>
              </a:rPr>
              <a:t>LABEL DATA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classification, bounding box, or segmentation. Be consistent.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14800"/>
            <a:ext cx="365760" cy="365760"/>
          </a:xfrm>
          <a:prstGeom prst="ellipse">
            <a:avLst/>
          </a:prstGeom>
          <a:solidFill>
            <a:srgbClr val="009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965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9650"/>
                </a:solidFill>
                <a:latin typeface="Calibri"/>
              </a:rPr>
              <a:t>AUGMENT DATA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flip, rotate, brightness. 200 images → 1,200 images.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99432"/>
            <a:ext cx="365760" cy="36576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811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962FF"/>
                </a:solidFill>
                <a:latin typeface="Calibri"/>
              </a:rPr>
              <a:t>TRANSFER LEARN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start from pre-trained model, fine-tune with YOUR data.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084064"/>
            <a:ext cx="365760" cy="365760"/>
          </a:xfrm>
          <a:prstGeom prst="ellipse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06577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8996"/>
                </a:solidFill>
                <a:latin typeface="Calibri"/>
              </a:rPr>
              <a:t>BUILD PIPELINE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Problem → Data → Clean → Train → Test → Deploy. 60% = data work.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568696"/>
            <a:ext cx="365760" cy="3657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5504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B1FA2"/>
                </a:solidFill>
                <a:latin typeface="Calibri"/>
              </a:rPr>
              <a:t>CONNECT MODULES </a:t>
            </a:r>
            <a:r>
              <a:rPr sz="1400" b="0">
                <a:solidFill>
                  <a:srgbClr val="32323C"/>
                </a:solidFill>
                <a:latin typeface="Calibri"/>
              </a:rPr>
              <a:t>— each model is independent, simple Python connector merges outputs.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962FF"/>
                </a:solidFill>
                <a:latin typeface="Calibri"/>
              </a:defRPr>
            </a:pPr>
            <a:r>
              <a:t>Remember: 80% thinking, 20% coding. The best AI engineers are problem-solvers first, coders second.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