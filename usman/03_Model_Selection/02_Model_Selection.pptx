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5" r:id="rId36"/>
    <p:sldId id="257" r:id="rId8"/>
    <p:sldId id="258" r:id="rId9"/>
    <p:sldId id="259" r:id="rId10"/>
    <p:sldId id="260" r:id="rId11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96FF"/>
                </a:solidFill>
              </a:defRPr>
            </a:pPr>
            <a:r>
              <a:t>How to Choose the Right ML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D2"/>
                </a:solidFill>
              </a:defRPr>
            </a:pPr>
            <a:r>
              <a:t>12 Cases | 24 Real Examples | Visual Flow for Every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C32"/>
                </a:solidFill>
              </a:defRPr>
            </a:pPr>
            <a:r>
              <a:t>Each example walks through the 5 questions step by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The 5 Questions You Ask Every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219456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Q1: Answer Type?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WORD = Classification</a:t>
            </a:r>
            <a:br/>
            <a:r>
              <a:t>NUMBER = Regression</a:t>
            </a:r>
            <a:br/>
            <a:r>
              <a:t>GROUPS = Clustering</a:t>
            </a:r>
            <a:br/>
            <a:r>
              <a:t>STRATEGY = RL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39" y="914400"/>
            <a:ext cx="219456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79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Q2: Have Labels?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13716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YES = Supervised</a:t>
            </a:r>
            <a:br/>
            <a:r>
              <a:t>NO = Unsupervised</a:t>
            </a:r>
            <a:br/>
            <a:r>
              <a:t>REWARDS = RL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59" y="914400"/>
            <a:ext cx="219456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199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Q3: Data Type?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13716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IMAGES = CNN/YOLO</a:t>
            </a:r>
            <a:br/>
            <a:r>
              <a:t>TEXT = Naive Bayes</a:t>
            </a:r>
            <a:br/>
            <a:r>
              <a:t>NUMBERS = Many 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79" y="914400"/>
            <a:ext cx="219456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19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Q4: How Much Data?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13716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&lt;5K = Simple models</a:t>
            </a:r>
            <a:br/>
            <a:r>
              <a:t>5K-100K = Most models</a:t>
            </a:r>
            <a:br/>
            <a:r>
              <a:t>100K+ = Deep 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914400"/>
            <a:ext cx="219456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960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Q5: Special Needs?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3716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D2"/>
                </a:solidFill>
              </a:defRPr>
            </a:pPr>
            <a:r>
              <a:t>Explain? = Decision Tree</a:t>
            </a:r>
            <a:br/>
            <a:r>
              <a:t>Real-time? = YOLO</a:t>
            </a:r>
            <a:br/>
            <a:r>
              <a:t>Imbalanced? = Anomaly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6FF"/>
                </a:solidFill>
              </a:defRPr>
            </a:pPr>
            <a:r>
              <a:t>Classification Master Flow — "Answer is a WORD"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2011680" cy="7315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Answer=WORD</a:t>
            </a:r>
            <a:br/>
            <a:r>
              <a:t>Labels=YES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914400"/>
            <a:ext cx="2286000" cy="7315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960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500"/>
                </a:solidFill>
              </a:defRPr>
            </a:pPr>
            <a:r>
              <a:t>What is your DATA?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280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C8D2"/>
                </a:solidFill>
              </a:defRPr>
            </a:pPr>
            <a:r>
              <a:t>IMAGES? TEXT? NUMBERS?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914400"/>
            <a:ext cx="3200400" cy="6400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960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5050"/>
                </a:solidFill>
              </a:defRPr>
            </a:pPr>
            <a:r>
              <a:t>IMAGES &gt;&gt;&gt; CNN/YOLO | &lt;500 imgs? Transfer Learning | Real-time? YOLO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051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IMG&gt;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737360"/>
            <a:ext cx="3200400" cy="64008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783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64FF"/>
                </a:solidFill>
              </a:defRPr>
            </a:pPr>
            <a:r>
              <a:t>TEXT &gt;&gt;&gt; Naive Bayes (small) | BERT/Transformer (large, context)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8745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64FF"/>
                </a:solidFill>
              </a:defRPr>
            </a:pPr>
            <a:r>
              <a:t>TXT&gt;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011680"/>
            <a:ext cx="2286000" cy="4572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</a:defRPr>
            </a:pPr>
            <a:r>
              <a:t>NUMBERS (spreadsheet)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</a:defRPr>
            </a:pPr>
            <a:r>
              <a:t>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743200"/>
            <a:ext cx="3200400" cy="54864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788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Must EXPLAIN? (bank/hospital/court)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2743200"/>
            <a:ext cx="2743200" cy="548640"/>
          </a:xfrm>
          <a:prstGeom prst="rect">
            <a:avLst/>
          </a:prstGeom>
          <a:solidFill>
            <a:srgbClr val="1E371E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YES &gt;&gt;&gt; DECISION TREE</a:t>
            </a:r>
            <a:br/>
            <a:r>
              <a:t>"age&gt;50 AND sugar&gt;200"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880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YES&gt;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337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</a:defRPr>
            </a:pPr>
            <a:r>
              <a:t>NO 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566160"/>
            <a:ext cx="3200400" cy="54864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3611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Want BEST accuracy? (don't care about explanation)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3566160"/>
            <a:ext cx="2743200" cy="548640"/>
          </a:xfrm>
          <a:prstGeom prst="rect">
            <a:avLst/>
          </a:prstGeom>
          <a:solidFill>
            <a:srgbClr val="1E371E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3611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YES &gt;&gt;&gt; RANDOM FOREST</a:t>
            </a:r>
            <a:br/>
            <a:r>
              <a:t>100 trees vote = best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703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YES&gt;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</a:defRPr>
            </a:pPr>
            <a:r>
              <a:t>NO 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4389120"/>
            <a:ext cx="3200400" cy="54864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4434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Simple + Quick + 2 categories?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4389120"/>
            <a:ext cx="2743200" cy="548640"/>
          </a:xfrm>
          <a:prstGeom prst="rect">
            <a:avLst/>
          </a:prstGeom>
          <a:solidFill>
            <a:srgbClr val="1E371E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YES &gt;&gt;&gt; LOGISTIC REGRESSION</a:t>
            </a:r>
            <a:br/>
            <a:r>
              <a:t>Simplest, fastest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526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YES&gt;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914400"/>
            <a:ext cx="3200400" cy="1371600"/>
          </a:xfrm>
          <a:prstGeom prst="rect">
            <a:avLst/>
          </a:prstGeom>
          <a:solidFill>
            <a:srgbClr val="371919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960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050"/>
                </a:solidFill>
              </a:defRPr>
            </a:pPr>
            <a:r>
              <a:t>IMBALANCED DATA?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12801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99% one class, 1% other?</a:t>
            </a:r>
            <a:br/>
            <a:r>
              <a:t>DON'T classify!</a:t>
            </a:r>
            <a:br/>
            <a:r>
              <a:t>&gt;&gt;&gt; Isolation Forest</a:t>
            </a:r>
            <a:br/>
            <a:r>
              <a:t>&gt;&gt;&gt; Autoencoder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120640"/>
            <a:ext cx="11612880" cy="457200"/>
          </a:xfrm>
          <a:prstGeom prst="rect">
            <a:avLst/>
          </a:prstGeom>
          <a:solidFill>
            <a:srgbClr val="323219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1480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Not sure? Start Logistic Reg &gt;&gt;&gt; accuracy&lt;80%? Random Forest &gt;&gt;&gt; still bad? SVM or XGBoost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500"/>
                </a:solidFill>
              </a:defRPr>
            </a:pPr>
            <a:r>
              <a:t>Regression Master Flow — "Answer is a NUMBER"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011680" cy="10972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1. ALWAYS</a:t>
            </a:r>
            <a:br/>
            <a:r>
              <a:t>Linear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Try simplest</a:t>
            </a:r>
            <a:br/>
            <a:r>
              <a:t>Check R-squared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097280"/>
            <a:ext cx="2011680" cy="10972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R² &gt; 0.80?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Good enough?</a:t>
            </a:r>
            <a:br/>
            <a:r>
              <a:t>YES = DONE!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097280"/>
            <a:ext cx="2011680" cy="10972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</a:defRPr>
            </a:pPr>
            <a:r>
              <a:t>Data CURVED?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Plot it.</a:t>
            </a:r>
            <a:br/>
            <a:r>
              <a:t>Bends? = 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097280"/>
            <a:ext cx="2011680" cy="10972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</a:defRPr>
            </a:pPr>
            <a:r>
              <a:t>Many features</a:t>
            </a:r>
            <a:br/>
            <a:r>
              <a:t>(10+)?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Complex</a:t>
            </a:r>
            <a:br/>
            <a:r>
              <a:t>interactions?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097280"/>
            <a:ext cx="2011680" cy="109728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464FF"/>
                </a:solidFill>
              </a:defRPr>
            </a:pPr>
            <a:r>
              <a:t>MASSIVE</a:t>
            </a:r>
            <a:br/>
            <a:r>
              <a:t>data (100K+)?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C8D2"/>
                </a:solidFill>
              </a:defRPr>
            </a:pPr>
            <a:r>
              <a:t>50+ features?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377440"/>
            <a:ext cx="2011680" cy="731520"/>
          </a:xfrm>
          <a:prstGeom prst="rect">
            <a:avLst/>
          </a:prstGeom>
          <a:solidFill>
            <a:srgbClr val="1E371E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2423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LINEAR REG</a:t>
            </a:r>
            <a:br/>
            <a:r>
              <a:t>R²=0.85 DONE!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377440"/>
            <a:ext cx="2011680" cy="731520"/>
          </a:xfrm>
          <a:prstGeom prst="rect">
            <a:avLst/>
          </a:prstGeom>
          <a:solidFill>
            <a:srgbClr val="1E371E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423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</a:defRPr>
            </a:pPr>
            <a:r>
              <a:t>POLYNOMIAL</a:t>
            </a:r>
            <a:br/>
            <a:r>
              <a:t>Fits curves!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</a:defRPr>
            </a:pPr>
            <a:r>
              <a:t>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solidFill>
            <a:srgbClr val="1E37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2423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</a:defRPr>
            </a:pPr>
            <a:r>
              <a:t>RF REGRESSION</a:t>
            </a:r>
            <a:br/>
            <a:r>
              <a:t>100 trees average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</a:defRPr>
            </a:pPr>
            <a:r>
              <a:t>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2377440"/>
            <a:ext cx="2011680" cy="731520"/>
          </a:xfrm>
          <a:prstGeom prst="rect">
            <a:avLst/>
          </a:prstGeom>
          <a:solidFill>
            <a:srgbClr val="1E371E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2423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464FF"/>
                </a:solidFill>
              </a:defRPr>
            </a:pPr>
            <a:r>
              <a:t>NEURAL NET</a:t>
            </a:r>
            <a:br/>
            <a:r>
              <a:t>Most powerful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64FF"/>
                </a:solidFill>
              </a:defRPr>
            </a:pPr>
            <a: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383280"/>
            <a:ext cx="11612880" cy="457200"/>
          </a:xfrm>
          <a:prstGeom prst="rect">
            <a:avLst/>
          </a:prstGeom>
          <a:solidFill>
            <a:srgbClr val="323219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4107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THE RULE: Linear &gt;&gt;&gt; Polynomial &gt;&gt;&gt; RF Regression &gt;&gt;&gt; Neural Net. NEVER skip ahead. Always start simple.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464FF"/>
                </a:solidFill>
              </a:defRPr>
            </a:pPr>
            <a:r>
              <a:t>Unsupervised + RL Flow — "No Labels / Strategy"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365760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FIND GROUPS (Clustering)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C32"/>
                </a:solidFill>
              </a:defRPr>
            </a:pPr>
            <a:r>
              <a:t>Know how many groups?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YES &gt;&gt;&gt; K-MEANS (you pick 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</a:defRPr>
            </a:pPr>
            <a:r>
              <a:t>NO &gt;&gt;&gt; DBSCAN (finds K + outliers)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Not sure? Elbow Method for 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914400"/>
            <a:ext cx="3657600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960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</a:defRPr>
            </a:pPr>
            <a:r>
              <a:t>FIND WEIRD (Anomaly)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C32"/>
                </a:solidFill>
              </a:defRPr>
            </a:pPr>
            <a:r>
              <a:t>What type of data?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</a:defRPr>
            </a:pPr>
            <a:r>
              <a:t>NUMBERS &gt;&gt;&gt; Isolation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64FF"/>
                </a:solidFill>
              </a:defRPr>
            </a:pPr>
            <a:r>
              <a:t>IMAGES &gt;&gt;&gt; Autoencoder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560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Only know normal? &gt;&gt;&gt; Autoencoder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914400"/>
            <a:ext cx="3749039" cy="22860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9601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</a:defRPr>
            </a:pPr>
            <a:r>
              <a:t>LEARN STRATEGY (RL)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C32"/>
                </a:solidFill>
              </a:defRPr>
            </a:pPr>
            <a:r>
              <a:t>3 conditions needed: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37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</a:defRPr>
            </a:pPr>
            <a:r>
              <a:t>1. Sequential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116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</a:defRPr>
            </a:pPr>
            <a:r>
              <a:t>2. Actions affect 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</a:defRPr>
            </a:pPr>
            <a:r>
              <a:t>3. Can define rewards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603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Strategy=RL | Balance alerts=RL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FF"/>
                </a:solidFill>
              </a:defRPr>
            </a:pPr>
            <a:r>
              <a:t>Case 1: Logistic Regression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201168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2011680" y="12801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Answer =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774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2011680" y="26517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Have LABELS?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862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7947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4" name="Diamond 13"/>
          <p:cNvSpPr/>
          <p:nvPr/>
        </p:nvSpPr>
        <p:spPr>
          <a:xfrm>
            <a:off x="2011680" y="40233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Data = NUMBERS?</a:t>
            </a:r>
            <a:br/>
            <a:r>
              <a:t>(not images/text)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1206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1663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8" name="Diamond 17"/>
          <p:cNvSpPr/>
          <p:nvPr/>
        </p:nvSpPr>
        <p:spPr>
          <a:xfrm>
            <a:off x="2011680" y="5394960"/>
            <a:ext cx="2560320" cy="91440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Simple + small</a:t>
            </a:r>
            <a:br/>
            <a:r>
              <a:t>+ 2 categories?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623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48640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5303520"/>
            <a:ext cx="2286000" cy="73152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57200"/>
            <a:ext cx="4114800" cy="274320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502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Real Examples Following This Path: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822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64"/>
                </a:solidFill>
              </a:defRPr>
            </a:pPr>
            <a:r>
              <a:t>Email Spam (5K emails)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0972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Answer=Spam/Not(WORD) &gt; Labels=YES &gt;</a:t>
            </a:r>
            <a:br/>
            <a:r>
              <a:t>Data=word count,links(NUMBERS) &gt;</a:t>
            </a:r>
            <a:br/>
            <a:r>
              <a:t>Simple, 5K rows &gt; LOGISTIC REG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737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64"/>
                </a:solidFill>
              </a:defRPr>
            </a:pPr>
            <a:r>
              <a:t>Employee Quit (6K records)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0116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Answer=Quit/Stay(WORD) &gt; Labels=YES &gt;</a:t>
            </a:r>
            <a:br/>
            <a:r>
              <a:t>Data=salary,years(NUMBERS) &gt;</a:t>
            </a:r>
            <a:br/>
            <a:r>
              <a:t>Simple, 6K rows &gt; LOGISTIC REG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51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64"/>
                </a:solidFill>
              </a:defRPr>
            </a:pPr>
            <a:r>
              <a:t>Ad Click (8K sessions)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926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Answer=Buy/Abandon(WORD) &gt; Same path!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3474720"/>
            <a:ext cx="4114800" cy="2286000"/>
          </a:xfrm>
          <a:prstGeom prst="roundRect">
            <a:avLst/>
          </a:prstGeom>
          <a:solidFill>
            <a:srgbClr val="321E1E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520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WHY NOT Others?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840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CNN: Data is numbers, NOT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114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Neural Net: 5K rows too few, will overfit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389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Random Forest: Overkill. LR=83%, RF=85%.</a:t>
            </a:r>
            <a:br/>
            <a:r>
              <a:t>2% gain not worth complexity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754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Decision Tree: Nobody needs to EXPLAIN</a:t>
            </a:r>
            <a:br/>
            <a:r>
              <a:t>why an email is spam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1206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UPGRADE if accuracy &lt; 75%:</a:t>
            </a:r>
            <a:br/>
            <a:r>
              <a:t>Try Random Forest &gt; SVM &gt; XGBoost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FF"/>
                </a:solidFill>
              </a:defRPr>
            </a:pPr>
            <a:r>
              <a:t>Case 1: Logistic Regression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201168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2011680" y="12801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Answer =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774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2011680" y="26517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Have LABELS?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862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7947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4" name="Diamond 13"/>
          <p:cNvSpPr/>
          <p:nvPr/>
        </p:nvSpPr>
        <p:spPr>
          <a:xfrm>
            <a:off x="2011680" y="40233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Data = NUMBERS?</a:t>
            </a:r>
            <a:br/>
            <a:r>
              <a:t>(not images/text)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1206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1663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8" name="Diamond 17"/>
          <p:cNvSpPr/>
          <p:nvPr/>
        </p:nvSpPr>
        <p:spPr>
          <a:xfrm>
            <a:off x="2011680" y="5394960"/>
            <a:ext cx="2560320" cy="91440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Simple + small</a:t>
            </a:r>
            <a:br/>
            <a:r>
              <a:t>+ 2 categories?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623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48640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5303520"/>
            <a:ext cx="2286000" cy="73152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57200"/>
            <a:ext cx="4114800" cy="274320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502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Real Examples Following This Path: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822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64"/>
                </a:solidFill>
              </a:defRPr>
            </a:pPr>
            <a:r>
              <a:t>Email Spam (5K emails)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0972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Answer=Spam/Not(WORD) &gt; Labels=YES &gt;</a:t>
            </a:r>
            <a:br/>
            <a:r>
              <a:t>Data=word count,links(NUMBERS) &gt;</a:t>
            </a:r>
            <a:br/>
            <a:r>
              <a:t>Simple, 5K rows &gt; LOGISTIC REG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7373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64"/>
                </a:solidFill>
              </a:defRPr>
            </a:pPr>
            <a:r>
              <a:t>Employee Quit (6K records)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0116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Answer=Quit/Stay(WORD) &gt; Labels=YES &gt;</a:t>
            </a:r>
            <a:br/>
            <a:r>
              <a:t>Data=salary,years(NUMBERS) &gt;</a:t>
            </a:r>
            <a:br/>
            <a:r>
              <a:t>Simple, 6K rows &gt; LOGISTIC REG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51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64"/>
                </a:solidFill>
              </a:defRPr>
            </a:pPr>
            <a:r>
              <a:t>Ad Click (8K sessions)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926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Answer=Buy/Abandon(WORD) &gt; Same path!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3474720"/>
            <a:ext cx="4114800" cy="2286000"/>
          </a:xfrm>
          <a:prstGeom prst="roundRect">
            <a:avLst/>
          </a:prstGeom>
          <a:solidFill>
            <a:srgbClr val="321E1E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520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WHY NOT Others?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840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CNN: Data is numbers, NOT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114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Neural Net: 5K rows too few, will overfit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389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Random Forest: Overkill. LR=83%, RF=85%.</a:t>
            </a:r>
            <a:br/>
            <a:r>
              <a:t>2% gain not worth complexity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754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Decision Tree: Nobody needs to EXPLAIN</a:t>
            </a:r>
            <a:br/>
            <a:r>
              <a:t>why an email is spam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1206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UPGRADE if accuracy &lt; 75%:</a:t>
            </a:r>
            <a:br/>
            <a:r>
              <a:t>Try Random Forest &gt; SVM &gt; XGBoost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500"/>
                </a:solidFill>
              </a:defRPr>
            </a:pPr>
            <a:r>
              <a:t>Case 2: Decision Tree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201168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2011680" y="12801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Answer =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774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2011680" y="26517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Have LABELS?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862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7947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4" name="Diamond 13"/>
          <p:cNvSpPr/>
          <p:nvPr/>
        </p:nvSpPr>
        <p:spPr>
          <a:xfrm>
            <a:off x="2011680" y="40233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Data = NUMBERS?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1206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1663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8" name="Diamond 17"/>
          <p:cNvSpPr/>
          <p:nvPr/>
        </p:nvSpPr>
        <p:spPr>
          <a:xfrm>
            <a:off x="1645920" y="5394960"/>
            <a:ext cx="329184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Must EXPLAIN</a:t>
            </a:r>
            <a:br/>
            <a:r>
              <a:t>the decision?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7150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57784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5050"/>
                </a:solidFill>
              </a:defRPr>
            </a:pPr>
            <a:r>
              <a:t>YES!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5303520"/>
            <a:ext cx="2286000" cy="731520"/>
          </a:xfrm>
          <a:prstGeom prst="roundRect">
            <a:avLst/>
          </a:prstGeom>
          <a:solidFill>
            <a:srgbClr val="37280A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DECISION</a:t>
            </a:r>
            <a:br/>
            <a:r>
              <a:t>TREE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57200"/>
            <a:ext cx="4114800" cy="292608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502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Real Examples — MUST EXPLAIN: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822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Diabetes Diagnosis (15K patients)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0972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Doctor says: "Diabetes because sugar&gt;200</a:t>
            </a:r>
            <a:br/>
            <a:r>
              <a:t>AND age&gt;50 AND BP&gt;140"</a:t>
            </a:r>
            <a:br/>
            <a:r>
              <a:t>Patient UNDERSTANDS. Legally defensible.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828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Car Insurance (30K policies)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1031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Customer asks: "WHY is my premium high?"</a:t>
            </a:r>
            <a:br/>
            <a:r>
              <a:t>Tree: "age&lt;25 + accident + Karachi = high"</a:t>
            </a:r>
            <a:br/>
            <a:r>
              <a:t>Customer service can explain clearly.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834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Loan Approval, Bail Decision = same path!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3566160"/>
            <a:ext cx="4114800" cy="2743200"/>
          </a:xfrm>
          <a:prstGeom prst="roundRect">
            <a:avLst/>
          </a:prstGeom>
          <a:solidFill>
            <a:srgbClr val="321E1E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611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THE KEY TRADE-OFF: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9319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Random Forest: 88% accuracy</a:t>
            </a:r>
            <a:br/>
            <a:r>
              <a:t>Decision Tree:  82% accuracy</a:t>
            </a:r>
            <a:br/>
            <a:br/>
            <a:r>
              <a:t>BUT when a rejected patient's family</a:t>
            </a:r>
            <a:br/>
            <a:r>
              <a:t>asks "explain the algorithm":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754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DT: "sugar&gt;200 AND age&gt;50 = YES"</a:t>
            </a:r>
            <a:br/>
            <a:r>
              <a:t>RF: "100 trees voted, 67 said yes..."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3035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6% accuracy gain is NOT worth</a:t>
            </a:r>
            <a:br/>
            <a:r>
              <a:t>the legal and ethical risk!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500"/>
                </a:solidFill>
              </a:defRPr>
            </a:pPr>
            <a:r>
              <a:t>Case 2: Decision Tree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201168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2011680" y="12801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Answer =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774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2011680" y="26517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Have LABELS?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862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7947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4" name="Diamond 13"/>
          <p:cNvSpPr/>
          <p:nvPr/>
        </p:nvSpPr>
        <p:spPr>
          <a:xfrm>
            <a:off x="2011680" y="40233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Data = NUMBERS?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1206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1663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8" name="Diamond 17"/>
          <p:cNvSpPr/>
          <p:nvPr/>
        </p:nvSpPr>
        <p:spPr>
          <a:xfrm>
            <a:off x="1645920" y="5394960"/>
            <a:ext cx="329184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Must EXPLAIN</a:t>
            </a:r>
            <a:br/>
            <a:r>
              <a:t>the decision?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7150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57784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5050"/>
                </a:solidFill>
              </a:defRPr>
            </a:pPr>
            <a:r>
              <a:t>YES!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5303520"/>
            <a:ext cx="2286000" cy="731520"/>
          </a:xfrm>
          <a:prstGeom prst="roundRect">
            <a:avLst/>
          </a:prstGeom>
          <a:solidFill>
            <a:srgbClr val="37280A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DECISION</a:t>
            </a:r>
            <a:br/>
            <a:r>
              <a:t>TREE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57200"/>
            <a:ext cx="4114800" cy="292608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502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Real Examples — MUST EXPLAIN: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822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Diabetes Diagnosis (15K patients)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0972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Doctor says: "Diabetes because sugar&gt;200</a:t>
            </a:r>
            <a:br/>
            <a:r>
              <a:t>AND age&gt;50 AND BP&gt;140"</a:t>
            </a:r>
            <a:br/>
            <a:r>
              <a:t>Patient UNDERSTANDS. Legally defensible.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828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Car Insurance (30K policies)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1031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Customer asks: "WHY is my premium high?"</a:t>
            </a:r>
            <a:br/>
            <a:r>
              <a:t>Tree: "age&lt;25 + accident + Karachi = high"</a:t>
            </a:r>
            <a:br/>
            <a:r>
              <a:t>Customer service can explain clearly.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834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Loan Approval, Bail Decision = same path!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3566160"/>
            <a:ext cx="4114800" cy="2743200"/>
          </a:xfrm>
          <a:prstGeom prst="roundRect">
            <a:avLst/>
          </a:prstGeom>
          <a:solidFill>
            <a:srgbClr val="321E1E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611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THE KEY TRADE-OFF: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9319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Random Forest: 88% accuracy</a:t>
            </a:r>
            <a:br/>
            <a:r>
              <a:t>Decision Tree:  82% accuracy</a:t>
            </a:r>
            <a:br/>
            <a:br/>
            <a:r>
              <a:t>BUT when a rejected patient's family</a:t>
            </a:r>
            <a:br/>
            <a:r>
              <a:t>asks "explain the algorithm":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754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DT: "sugar&gt;200 AND age&gt;50 = YES"</a:t>
            </a:r>
            <a:br/>
            <a:r>
              <a:t>RF: "100 trees voted, 67 said yes..."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3035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6% accuracy gain is NOT worth</a:t>
            </a:r>
            <a:br/>
            <a:r>
              <a:t>the legal and ethical risk!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64"/>
                </a:solidFill>
              </a:defRPr>
            </a:pPr>
            <a:r>
              <a:t>Case 3: Random Forest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201168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2011680" y="12801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Answer =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774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2011680" y="26517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Labels + NUMBERS?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862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7947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4" name="Diamond 13"/>
          <p:cNvSpPr/>
          <p:nvPr/>
        </p:nvSpPr>
        <p:spPr>
          <a:xfrm>
            <a:off x="2011680" y="40233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Need to EXPLAIN?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1206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1663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5050"/>
                </a:solidFill>
              </a:defRPr>
            </a:pPr>
            <a:r>
              <a:t>NO</a:t>
            </a:r>
          </a:p>
        </p:txBody>
      </p:sp>
      <p:sp>
        <p:nvSpPr>
          <p:cNvPr id="18" name="Diamond 17"/>
          <p:cNvSpPr/>
          <p:nvPr/>
        </p:nvSpPr>
        <p:spPr>
          <a:xfrm>
            <a:off x="2011680" y="5303520"/>
            <a:ext cx="2560320" cy="91440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Want BEST</a:t>
            </a:r>
            <a:br/>
            <a:r>
              <a:t>accuracy?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577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440679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C864"/>
                </a:solidFill>
              </a:defRPr>
            </a:pPr>
            <a:r>
              <a:t>YES!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5212080"/>
            <a:ext cx="2286000" cy="73152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57200"/>
            <a:ext cx="4114800" cy="228600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502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WHY 100 Trees &gt; 1 Tree: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822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Accuracy Comparison: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Logistic Regression:  72%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371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Decision Tree:         75%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1645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SVM:                   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1920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Random Forest:        89%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286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100 doctors &gt; 1 doctor!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926080"/>
            <a:ext cx="4114800" cy="182880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971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Real Examples: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291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Disease Diagnosis (100K patients)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566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30 features, no explain needed</a:t>
            </a:r>
            <a:br/>
            <a:r>
              <a:t>Accuracy is KING 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0233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Product Defects (50K products)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297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20 features, LogReg too simple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64"/>
                </a:solidFill>
              </a:defRPr>
            </a:pPr>
            <a:r>
              <a:t>Case 3: Random Forest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201168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2011680" y="12801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Answer =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774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2011680" y="26517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Labels + NUMBERS?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862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7947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4" name="Diamond 13"/>
          <p:cNvSpPr/>
          <p:nvPr/>
        </p:nvSpPr>
        <p:spPr>
          <a:xfrm>
            <a:off x="2011680" y="40233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Need to EXPLAIN?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1206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257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1663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5050"/>
                </a:solidFill>
              </a:defRPr>
            </a:pPr>
            <a:r>
              <a:t>NO</a:t>
            </a:r>
          </a:p>
        </p:txBody>
      </p:sp>
      <p:sp>
        <p:nvSpPr>
          <p:cNvPr id="18" name="Diamond 17"/>
          <p:cNvSpPr/>
          <p:nvPr/>
        </p:nvSpPr>
        <p:spPr>
          <a:xfrm>
            <a:off x="2011680" y="5303520"/>
            <a:ext cx="2560320" cy="91440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Want BEST</a:t>
            </a:r>
            <a:br/>
            <a:r>
              <a:t>accuracy?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577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440679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C864"/>
                </a:solidFill>
              </a:defRPr>
            </a:pPr>
            <a:r>
              <a:t>YES!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5212080"/>
            <a:ext cx="2286000" cy="73152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57200"/>
            <a:ext cx="4114800" cy="228600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502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WHY 100 Trees &gt; 1 Tree: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822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Accuracy Comparison: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Logistic Regression:  72%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371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Decision Tree:         75%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1645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SVM:                   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1920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Random Forest:        89%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286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100 doctors &gt; 1 doctor!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926080"/>
            <a:ext cx="4114800" cy="182880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2971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Real Examples: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291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Disease Diagnosis (100K patients)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566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30 features, no explain needed</a:t>
            </a:r>
            <a:br/>
            <a:r>
              <a:t>Accuracy is KING 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0233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Product Defects (50K products)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297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20 features, LogReg too simple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5050"/>
                </a:solidFill>
              </a:defRPr>
            </a:pPr>
            <a:r>
              <a:t>Case 4: CNN / YOLO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201168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2011680" y="12801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Answer =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774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2011680" y="26517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Have LABELS?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862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7947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4" name="Diamond 13"/>
          <p:cNvSpPr/>
          <p:nvPr/>
        </p:nvSpPr>
        <p:spPr>
          <a:xfrm>
            <a:off x="1645920" y="4023360"/>
            <a:ext cx="3291840" cy="128016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5050"/>
                </a:solidFill>
              </a:defRPr>
            </a:pPr>
            <a:r>
              <a:t>Data = IMAGES</a:t>
            </a:r>
            <a:br/>
            <a:r>
              <a:t>or VIDEO?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440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349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5050"/>
                </a:solidFill>
              </a:defRPr>
            </a:pPr>
            <a:r>
              <a:t>YES!</a:t>
            </a:r>
          </a:p>
        </p:txBody>
      </p:sp>
      <p:sp>
        <p:nvSpPr>
          <p:cNvPr id="18" name="Diamond 17"/>
          <p:cNvSpPr/>
          <p:nvPr/>
        </p:nvSpPr>
        <p:spPr>
          <a:xfrm>
            <a:off x="457200" y="5486400"/>
            <a:ext cx="2286000" cy="91440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DC32"/>
                </a:solidFill>
              </a:defRPr>
            </a:pPr>
            <a:r>
              <a:t>Real-time</a:t>
            </a:r>
            <a:br/>
            <a:r>
              <a:t>needed?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760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23559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5486400"/>
            <a:ext cx="1645920" cy="548640"/>
          </a:xfrm>
          <a:prstGeom prst="roundRect">
            <a:avLst/>
          </a:prstGeom>
          <a:solidFill>
            <a:srgbClr val="321414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YOLO</a:t>
            </a:r>
            <a:br/>
            <a:r>
              <a:t>30+ fps</a:t>
            </a:r>
          </a:p>
        </p:txBody>
      </p:sp>
      <p:sp>
        <p:nvSpPr>
          <p:cNvPr id="22" name="Diamond 21"/>
          <p:cNvSpPr/>
          <p:nvPr/>
        </p:nvSpPr>
        <p:spPr>
          <a:xfrm>
            <a:off x="3200400" y="6126480"/>
            <a:ext cx="2286000" cy="6400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DC32"/>
                </a:solidFill>
              </a:defRPr>
            </a:pPr>
            <a:r>
              <a:t>&lt; 500 images?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263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126479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A500"/>
                </a:solidFill>
              </a:defRPr>
            </a:pPr>
            <a: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6126480"/>
            <a:ext cx="2011680" cy="457200"/>
          </a:xfrm>
          <a:prstGeom prst="roundRect">
            <a:avLst/>
          </a:prstGeom>
          <a:solidFill>
            <a:srgbClr val="37280A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A500"/>
                </a:solidFill>
              </a:defRPr>
            </a:pPr>
            <a:r>
              <a:t>Transfer Learning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57200"/>
            <a:ext cx="4114800" cy="256032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502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IMAGES = CNN. No Other Option!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822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LogReg, DT, RF, SVM, KNN:</a:t>
            </a:r>
            <a:br/>
            <a:r>
              <a:t>CANNOT process pixels.</a:t>
            </a:r>
            <a:br/>
            <a:r>
              <a:t>Only CNN sees images.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463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Speed Comparison: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17373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YOLO:         30+ fps (real-time)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1965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ResNet:       5-10 fps (slow)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194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EfficientNet: 8-15 fps (medium)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468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</a:defRPr>
            </a:pPr>
            <a:r>
              <a:t>Real-time exam monitoring = YOLO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200400"/>
            <a:ext cx="4114800" cy="182880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3246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Real Examples: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566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ExamGuard Phone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840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500 photos, real-time, YOLO+Transfer</a:t>
            </a:r>
            <a:br/>
            <a:r>
              <a:t>Pre-trained on millions, fine-tune 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297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Traffic Violations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572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Camera 24/7, real-time, YOLO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5050"/>
                </a:solidFill>
              </a:defRPr>
            </a:pPr>
            <a:r>
              <a:t>Case 4: CNN / YOLO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201168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2011680" y="12801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Answer =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774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2011680" y="26517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Have LABELS?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862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7947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4" name="Diamond 13"/>
          <p:cNvSpPr/>
          <p:nvPr/>
        </p:nvSpPr>
        <p:spPr>
          <a:xfrm>
            <a:off x="1645920" y="4023360"/>
            <a:ext cx="3291840" cy="128016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5050"/>
                </a:solidFill>
              </a:defRPr>
            </a:pPr>
            <a:r>
              <a:t>Data = IMAGES</a:t>
            </a:r>
            <a:br/>
            <a:r>
              <a:t>or VIDEO?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440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349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5050"/>
                </a:solidFill>
              </a:defRPr>
            </a:pPr>
            <a:r>
              <a:t>YES!</a:t>
            </a:r>
          </a:p>
        </p:txBody>
      </p:sp>
      <p:sp>
        <p:nvSpPr>
          <p:cNvPr id="18" name="Diamond 17"/>
          <p:cNvSpPr/>
          <p:nvPr/>
        </p:nvSpPr>
        <p:spPr>
          <a:xfrm>
            <a:off x="457200" y="5486400"/>
            <a:ext cx="2286000" cy="91440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DC32"/>
                </a:solidFill>
              </a:defRPr>
            </a:pPr>
            <a:r>
              <a:t>Real-time</a:t>
            </a:r>
            <a:br/>
            <a:r>
              <a:t>needed?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760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23559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5486400"/>
            <a:ext cx="1645920" cy="548640"/>
          </a:xfrm>
          <a:prstGeom prst="roundRect">
            <a:avLst/>
          </a:prstGeom>
          <a:solidFill>
            <a:srgbClr val="321414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YOLO</a:t>
            </a:r>
            <a:br/>
            <a:r>
              <a:t>30+ fps</a:t>
            </a:r>
          </a:p>
        </p:txBody>
      </p:sp>
      <p:sp>
        <p:nvSpPr>
          <p:cNvPr id="22" name="Diamond 21"/>
          <p:cNvSpPr/>
          <p:nvPr/>
        </p:nvSpPr>
        <p:spPr>
          <a:xfrm>
            <a:off x="3200400" y="6126480"/>
            <a:ext cx="2286000" cy="6400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DC32"/>
                </a:solidFill>
              </a:defRPr>
            </a:pPr>
            <a:r>
              <a:t>&lt; 500 images?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263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126479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A500"/>
                </a:solidFill>
              </a:defRPr>
            </a:pPr>
            <a: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6126480"/>
            <a:ext cx="2011680" cy="457200"/>
          </a:xfrm>
          <a:prstGeom prst="roundRect">
            <a:avLst/>
          </a:prstGeom>
          <a:solidFill>
            <a:srgbClr val="37280A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A500"/>
                </a:solidFill>
              </a:defRPr>
            </a:pPr>
            <a:r>
              <a:t>Transfer Learning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57200"/>
            <a:ext cx="4114800" cy="256032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502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IMAGES = CNN. No Other Option!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8229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LogReg, DT, RF, SVM, KNN:</a:t>
            </a:r>
            <a:br/>
            <a:r>
              <a:t>CANNOT process pixels.</a:t>
            </a:r>
            <a:br/>
            <a:r>
              <a:t>Only CNN sees images.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463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Speed Comparison: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17373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YOLO:         30+ fps (real-time)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1965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ResNet:       5-10 fps (slow)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194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EfficientNet: 8-15 fps (medium)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468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</a:defRPr>
            </a:pPr>
            <a:r>
              <a:t>Real-time exam monitoring = YOLO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200400"/>
            <a:ext cx="4114800" cy="182880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3246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Real Examples: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566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ExamGuard Phone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840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500 photos, real-time, YOLO+Transfer</a:t>
            </a:r>
            <a:br/>
            <a:r>
              <a:t>Pre-trained on millions, fine-tune 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297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Traffic Violations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572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Camera 24/7, real-time, YOLO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64FF"/>
                </a:solidFill>
              </a:defRPr>
            </a:pPr>
            <a:r>
              <a:t>Case 5: The Imbalance Trap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201168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2011680" y="12801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Answer =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774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2011680" y="26517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Have LABELS?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862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7947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A500"/>
                </a:solidFill>
              </a:defRPr>
            </a:pPr>
            <a:r>
              <a:t>YES but...</a:t>
            </a:r>
          </a:p>
        </p:txBody>
      </p:sp>
      <p:sp>
        <p:nvSpPr>
          <p:cNvPr id="14" name="Diamond 13"/>
          <p:cNvSpPr/>
          <p:nvPr/>
        </p:nvSpPr>
        <p:spPr>
          <a:xfrm>
            <a:off x="1371600" y="4023360"/>
            <a:ext cx="3840480" cy="137160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Is data</a:t>
            </a:r>
            <a:br/>
            <a:r>
              <a:t>IMBALANCED?</a:t>
            </a:r>
            <a:br/>
            <a:r>
              <a:t>99% one class?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864"/>
                </a:solidFill>
              </a:defRPr>
            </a:pPr>
            <a:r>
              <a:t>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4937760"/>
            <a:ext cx="137160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C864"/>
                </a:solidFill>
              </a:defRPr>
            </a:pPr>
            <a:r>
              <a:t>Regular</a:t>
            </a:r>
            <a:br/>
            <a: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480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34340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5050"/>
                </a:solidFill>
              </a:defRPr>
            </a:pPr>
            <a:r>
              <a:t>YES!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840480"/>
            <a:ext cx="2286000" cy="1097280"/>
          </a:xfrm>
          <a:prstGeom prst="roundRect">
            <a:avLst/>
          </a:prstGeom>
          <a:solidFill>
            <a:srgbClr val="3C0F0F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DANGER!</a:t>
            </a:r>
            <a:br/>
            <a:r>
              <a:t>DON'T use regular</a:t>
            </a:r>
            <a:br/>
            <a:r>
              <a:t>classification!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377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74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5212080"/>
            <a:ext cx="2286000" cy="731520"/>
          </a:xfrm>
          <a:prstGeom prst="roundRect">
            <a:avLst/>
          </a:prstGeom>
          <a:solidFill>
            <a:srgbClr val="231432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ISOLATION</a:t>
            </a:r>
            <a:br/>
            <a:r>
              <a:t>FOREST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57200"/>
            <a:ext cx="3840480" cy="2743200"/>
          </a:xfrm>
          <a:prstGeom prst="roundRect">
            <a:avLst/>
          </a:prstGeom>
          <a:solidFill>
            <a:srgbClr val="3C0F0F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THE MOST IMPORTANT LESSON: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822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Credit Card Fraud: 1M transactions</a:t>
            </a:r>
            <a:br/>
            <a:r>
              <a:t>99.9% normal, 0.1% fraud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</a:defRPr>
            </a:pPr>
            <a:r>
              <a:t>If you use LogReg or RF: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Model says "NORMAL" every time</a:t>
            </a:r>
            <a:br/>
            <a:r>
              <a:t>= 99.9% accuracy</a:t>
            </a:r>
            <a:br/>
            <a:r>
              <a:t>= 0% fraud caught!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Accuracy LIES when data is imbalanced!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64FF"/>
                </a:solidFill>
              </a:defRPr>
            </a:pPr>
            <a:r>
              <a:t>Isolation Forest: designed to find</a:t>
            </a:r>
            <a:br/>
            <a:r>
              <a:t>the 0.1% rare events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383280"/>
            <a:ext cx="3840480" cy="228600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429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Imbalance Rule: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</a:defRPr>
            </a:pPr>
            <a:r>
              <a:t>50/50 = Classification 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</a:defRPr>
            </a:pPr>
            <a:r>
              <a:t>80/20 = Classification 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500"/>
                </a:solidFill>
              </a:defRPr>
            </a:pPr>
            <a:r>
              <a:t>95/5  = Consider Anomaly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99/1  = Definitely Anomaly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99.9/0.1 = MUST use Anomaly!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64FF"/>
                </a:solidFill>
              </a:defRPr>
            </a:pPr>
            <a:r>
              <a:t>Case 5: The Imbalance Trap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548640"/>
            <a:ext cx="201168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2011680" y="12801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Answer = 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3774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2011680" y="2651760"/>
            <a:ext cx="25603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DC32"/>
                </a:solidFill>
              </a:defRPr>
            </a:pPr>
            <a:r>
              <a:t>Have LABELS?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8862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7947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A500"/>
                </a:solidFill>
              </a:defRPr>
            </a:pPr>
            <a:r>
              <a:t>YES but...</a:t>
            </a:r>
          </a:p>
        </p:txBody>
      </p:sp>
      <p:sp>
        <p:nvSpPr>
          <p:cNvPr id="14" name="Diamond 13"/>
          <p:cNvSpPr/>
          <p:nvPr/>
        </p:nvSpPr>
        <p:spPr>
          <a:xfrm>
            <a:off x="1371600" y="4023360"/>
            <a:ext cx="3840480" cy="137160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Is data</a:t>
            </a:r>
            <a:br/>
            <a:r>
              <a:t>IMBALANCED?</a:t>
            </a:r>
            <a:br/>
            <a:r>
              <a:t>99% one class?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864"/>
                </a:solidFill>
              </a:defRPr>
            </a:pPr>
            <a:r>
              <a:t>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4937760"/>
            <a:ext cx="137160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00C864"/>
                </a:solidFill>
              </a:defRPr>
            </a:pPr>
            <a:r>
              <a:t>Regular</a:t>
            </a:r>
            <a:br/>
            <a: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480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8C8D2"/>
                </a:solidFill>
              </a:defRPr>
            </a:pPr>
            <a:r>
              <a:t>&gt;&gt;&gt;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34340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5050"/>
                </a:solidFill>
              </a:defRPr>
            </a:pPr>
            <a:r>
              <a:t>YES!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840480"/>
            <a:ext cx="2286000" cy="1097280"/>
          </a:xfrm>
          <a:prstGeom prst="roundRect">
            <a:avLst/>
          </a:prstGeom>
          <a:solidFill>
            <a:srgbClr val="3C0F0F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DANGER!</a:t>
            </a:r>
            <a:br/>
            <a:r>
              <a:t>DON'T use regular</a:t>
            </a:r>
            <a:br/>
            <a:r>
              <a:t>classification!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377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74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5212080"/>
            <a:ext cx="2286000" cy="731520"/>
          </a:xfrm>
          <a:prstGeom prst="roundRect">
            <a:avLst/>
          </a:prstGeom>
          <a:solidFill>
            <a:srgbClr val="231432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ISOLATION</a:t>
            </a:r>
            <a:br/>
            <a:r>
              <a:t>FOREST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57200"/>
            <a:ext cx="3840480" cy="2743200"/>
          </a:xfrm>
          <a:prstGeom prst="roundRect">
            <a:avLst/>
          </a:prstGeom>
          <a:solidFill>
            <a:srgbClr val="3C0F0F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THE MOST IMPORTANT LESSON: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822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Credit Card Fraud: 1M transactions</a:t>
            </a:r>
            <a:br/>
            <a:r>
              <a:t>99.9% normal, 0.1% fraud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</a:defRPr>
            </a:pPr>
            <a:r>
              <a:t>If you use LogReg or RF: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Model says "NORMAL" every time</a:t>
            </a:r>
            <a:br/>
            <a:r>
              <a:t>= 99.9% accuracy</a:t>
            </a:r>
            <a:br/>
            <a:r>
              <a:t>= 0% fraud caught!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Accuracy LIES when data is imbalanced!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64FF"/>
                </a:solidFill>
              </a:defRPr>
            </a:pPr>
            <a:r>
              <a:t>Isolation Forest: designed to find</a:t>
            </a:r>
            <a:br/>
            <a:r>
              <a:t>the 0.1% rare events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383280"/>
            <a:ext cx="3840480" cy="228600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429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Imbalance Rule: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749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</a:defRPr>
            </a:pPr>
            <a:r>
              <a:t>50/50 = Classification 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</a:defRPr>
            </a:pPr>
            <a:r>
              <a:t>80/20 = Classification 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A500"/>
                </a:solidFill>
              </a:defRPr>
            </a:pPr>
            <a:r>
              <a:t>95/5  = Consider Anomaly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99/1  = Definitely Anomaly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99.9/0.1 = MUST use Anomaly!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FF"/>
                </a:solidFill>
              </a:defRPr>
            </a:pPr>
            <a:r>
              <a:t>Case 9: K-Means vs DBSCAN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548640"/>
            <a:ext cx="228600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NO LABELS — Find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3657600" y="1280160"/>
            <a:ext cx="2926080" cy="128016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Know how many</a:t>
            </a:r>
            <a:br/>
            <a:r>
              <a:t>groups you want?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3200400" cy="9144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K-MEANS</a:t>
            </a:r>
            <a:br/>
            <a:r>
              <a:t>You pick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28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</a:defRPr>
            </a:pPr>
            <a:r>
              <a:t>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377440"/>
            <a:ext cx="3200400" cy="914400"/>
          </a:xfrm>
          <a:prstGeom prst="roundRect">
            <a:avLst/>
          </a:prstGeom>
          <a:solidFill>
            <a:srgbClr val="141E32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DBSCAN</a:t>
            </a:r>
            <a:br/>
            <a:r>
              <a:t>Finds K + outliers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657600"/>
            <a:ext cx="5303520" cy="256032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703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64"/>
                </a:solidFill>
              </a:defRPr>
            </a:pPr>
            <a:r>
              <a:t>K-Means Examples: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Customer Segmentation (50K customers)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97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Marketing says: "Give me exactly 3 groups"</a:t>
            </a:r>
            <a:br/>
            <a:r>
              <a:t>K=3: Budget / Premium / Deal Hunters</a:t>
            </a:r>
            <a:br/>
            <a:r>
              <a:t>Each group gets different ad campaign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Student Performance (10K students)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120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Principal wants: "Group into 4 tiers"</a:t>
            </a:r>
            <a:br/>
            <a:r>
              <a:t>K=4: Struggling / Average / Good / Excellent</a:t>
            </a:r>
            <a:br/>
            <a:r>
              <a:t>Different support for each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669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Not sure about K? Use Elbow Method:</a:t>
            </a:r>
            <a:br/>
            <a:r>
              <a:t>Try K=2,3,4,5... pick the "elbow" 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669280" cy="256032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703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</a:defRPr>
            </a:pPr>
            <a:r>
              <a:t>DBSCAN Examples: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</a:defRPr>
            </a:pPr>
            <a:r>
              <a:t>GPS Truck Routes (10K GPS points)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Don't know how many route types exist</a:t>
            </a:r>
            <a:br/>
            <a:r>
              <a:t>DBSCAN found: City / Highway / Suburban / Mixed</a:t>
            </a:r>
            <a:br/>
            <a:r>
              <a:t>+ flagged 2 trucks going to wrong locations!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</a:defRPr>
            </a:pPr>
            <a:r>
              <a:t>Social Media Groups (user behavior)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Don't know how many behavior types</a:t>
            </a:r>
            <a:br/>
            <a:r>
              <a:t>DBSCAN finds natural clusters + bots(outliers)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Key advantage: finds groups AND outliers</a:t>
            </a:r>
            <a:br/>
            <a:r>
              <a:t>automatically. K-Means can't find outliers.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FF"/>
                </a:solidFill>
              </a:defRPr>
            </a:pPr>
            <a:r>
              <a:t>Case 9: K-Means vs DBSCAN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548640"/>
            <a:ext cx="228600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NO LABELS — Find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3657600" y="1280160"/>
            <a:ext cx="2926080" cy="128016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Know how many</a:t>
            </a:r>
            <a:br/>
            <a:r>
              <a:t>groups you want?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3200400" cy="9144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K-MEANS</a:t>
            </a:r>
            <a:br/>
            <a:r>
              <a:t>You pick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28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</a:defRPr>
            </a:pPr>
            <a:r>
              <a:t>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377440"/>
            <a:ext cx="3200400" cy="914400"/>
          </a:xfrm>
          <a:prstGeom prst="roundRect">
            <a:avLst/>
          </a:prstGeom>
          <a:solidFill>
            <a:srgbClr val="141E32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DBSCAN</a:t>
            </a:r>
            <a:br/>
            <a:r>
              <a:t>Finds K + outliers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657600"/>
            <a:ext cx="5303520" cy="256032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703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64"/>
                </a:solidFill>
              </a:defRPr>
            </a:pPr>
            <a:r>
              <a:t>K-Means Examples: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Customer Segmentation (50K customers)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97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Marketing says: "Give me exactly 3 groups"</a:t>
            </a:r>
            <a:br/>
            <a:r>
              <a:t>K=3: Budget / Premium / Deal Hunters</a:t>
            </a:r>
            <a:br/>
            <a:r>
              <a:t>Each group gets different ad campaign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</a:defRPr>
            </a:pPr>
            <a:r>
              <a:t>Student Performance (10K students)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120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Principal wants: "Group into 4 tiers"</a:t>
            </a:r>
            <a:br/>
            <a:r>
              <a:t>K=4: Struggling / Average / Good / Excellent</a:t>
            </a:r>
            <a:br/>
            <a:r>
              <a:t>Different support for each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669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Not sure about K? Use Elbow Method:</a:t>
            </a:r>
            <a:br/>
            <a:r>
              <a:t>Try K=2,3,4,5... pick the "elbow" 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669280" cy="256032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703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</a:defRPr>
            </a:pPr>
            <a:r>
              <a:t>DBSCAN Examples: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</a:defRPr>
            </a:pPr>
            <a:r>
              <a:t>GPS Truck Routes (10K GPS points)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Don't know how many route types exist</a:t>
            </a:r>
            <a:br/>
            <a:r>
              <a:t>DBSCAN found: City / Highway / Suburban / Mixed</a:t>
            </a:r>
            <a:br/>
            <a:r>
              <a:t>+ flagged 2 trucks going to wrong locations!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</a:defRPr>
            </a:pPr>
            <a:r>
              <a:t>Social Media Groups (user behavior)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Don't know how many behavior types</a:t>
            </a:r>
            <a:br/>
            <a:r>
              <a:t>DBSCAN finds natural clusters + bots(outliers)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A500"/>
                </a:solidFill>
              </a:defRPr>
            </a:pPr>
            <a:r>
              <a:t>Key advantage: finds groups AND outliers</a:t>
            </a:r>
            <a:br/>
            <a:r>
              <a:t>automatically. K-Means can't find outliers.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5050"/>
                </a:solidFill>
              </a:defRPr>
            </a:pPr>
            <a:r>
              <a:t>Case 11 &amp; 12: Reinforcement Learning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548640"/>
            <a:ext cx="228600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3474720" y="1280160"/>
            <a:ext cx="3474720" cy="128016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Is it SEQUENTIAL</a:t>
            </a:r>
            <a:br/>
            <a:r>
              <a:t>decisions over time?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69747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60603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3474720" y="2834640"/>
            <a:ext cx="3474720" cy="128016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Actions affect</a:t>
            </a:r>
            <a:br/>
            <a:r>
              <a:t>FUTURE outcomes?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114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251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4160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4" name="Diamond 13"/>
          <p:cNvSpPr/>
          <p:nvPr/>
        </p:nvSpPr>
        <p:spPr>
          <a:xfrm>
            <a:off x="3474720" y="4389120"/>
            <a:ext cx="34747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Can define</a:t>
            </a:r>
            <a:br/>
            <a:r>
              <a:t>rewards/penalties?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486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6235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5532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5669280"/>
            <a:ext cx="2286000" cy="640080"/>
          </a:xfrm>
          <a:prstGeom prst="roundRect">
            <a:avLst/>
          </a:prstGeom>
          <a:solidFill>
            <a:srgbClr val="321414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5050"/>
                </a:solidFill>
              </a:defRPr>
            </a:pPr>
            <a:r>
              <a:t>REINFORCEMENT</a:t>
            </a:r>
            <a:br/>
            <a:r>
              <a:t>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457200"/>
            <a:ext cx="3017520" cy="292608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02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RL for STRATEGY: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822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Self-Driving 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Sequential: brake/steer every 0.1s</a:t>
            </a:r>
            <a:br/>
            <a:r>
              <a:t>Affects future: steer left now =</a:t>
            </a:r>
            <a:br/>
            <a:r>
              <a:t>different road 5 sec later</a:t>
            </a:r>
            <a:br/>
            <a:r>
              <a:t>Reward: safe arrival +1000</a:t>
            </a:r>
            <a:br/>
            <a:r>
              <a:t>Crash: -10000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1828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Warehouse Robot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Sequential: pick/move/place</a:t>
            </a:r>
            <a:br/>
            <a:r>
              <a:t>Affects future: wrong pick =</a:t>
            </a:r>
            <a:br/>
            <a:r>
              <a:t>waste 30 seconds</a:t>
            </a:r>
            <a:br/>
            <a:r>
              <a:t>Reward: fast delivery +100</a:t>
            </a:r>
            <a:br/>
            <a:r>
              <a:t>Drop item: -500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57200"/>
            <a:ext cx="3840480" cy="292608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RL for BALANCE: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</a:defRPr>
            </a:pPr>
            <a:r>
              <a:t>ExamGuard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1097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Balance: too many alerts=fatigue</a:t>
            </a:r>
            <a:br/>
            <a:r>
              <a:t>too few=miss cheating</a:t>
            </a:r>
            <a:br/>
            <a:r>
              <a:t>Correct alert: +100</a:t>
            </a:r>
            <a:br/>
            <a:r>
              <a:t>False alarm: -50</a:t>
            </a:r>
            <a:br/>
            <a:r>
              <a:t>Missed cheating: -200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</a:defRPr>
            </a:pPr>
            <a:r>
              <a:t>ICU 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Balance: alarm fatigue vs safety</a:t>
            </a:r>
            <a:br/>
            <a:r>
              <a:t>Save life: +1000</a:t>
            </a:r>
            <a:br/>
            <a:r>
              <a:t>False alarm: -30</a:t>
            </a:r>
            <a:br/>
            <a:r>
              <a:t>Miss critical: -5000</a:t>
            </a:r>
            <a:br/>
            <a:r>
              <a:t>Learns WHEN to escalate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" y="3566160"/>
            <a:ext cx="3017520" cy="2560320"/>
          </a:xfrm>
          <a:prstGeom prst="roundRect">
            <a:avLst/>
          </a:prstGeom>
          <a:solidFill>
            <a:srgbClr val="321E1E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611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WHY NOT Supervised?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Can't label billions of driving</a:t>
            </a:r>
            <a:br/>
            <a:r>
              <a:t>scenarios. Can't label every</a:t>
            </a:r>
            <a:br/>
            <a:r>
              <a:t>possible exam situation.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480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WHY NOT Classification?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754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Classification: same answer always.</a:t>
            </a:r>
            <a:br/>
            <a:r>
              <a:t>RL: adapts to context.</a:t>
            </a:r>
            <a:br/>
            <a:r>
              <a:t>1st warning=gentle, 5th=escalate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303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Supervised = "WHAT is this?"</a:t>
            </a:r>
            <a:br/>
            <a:r>
              <a:t>RL = "HOW to act over TIME?"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566160"/>
            <a:ext cx="3840480" cy="2560320"/>
          </a:xfrm>
          <a:prstGeom prst="roundRect">
            <a:avLst/>
          </a:prstGeom>
          <a:solidFill>
            <a:srgbClr val="1E281E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3611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Quick Check: Is it RL?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864"/>
                </a:solidFill>
              </a:defRPr>
            </a:pPr>
            <a:r>
              <a:t>YES if all true: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&gt; Sequential decisions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&gt; Actions change future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&gt; Can define rewards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&gt; Can simulate many tries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</a:defRPr>
            </a:pPr>
            <a:r>
              <a:t>NOT RL if: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5050"/>
                </a:solidFill>
              </a:defRPr>
            </a:pPr>
            <a:r>
              <a:t>&gt; One-shot prediction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5050"/>
                </a:solidFill>
              </a:defRPr>
            </a:pPr>
            <a:r>
              <a:t>&gt; Just classify one thing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5897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5050"/>
                </a:solidFill>
              </a:defRPr>
            </a:pPr>
            <a:r>
              <a:t>&gt; Find groups in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5050"/>
                </a:solidFill>
              </a:defRPr>
            </a:pPr>
            <a:r>
              <a:t>Case 11 &amp; 12: Reinforcement Learning — Decision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548640"/>
            <a:ext cx="2286000" cy="45720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YOUR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05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43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6" name="Diamond 5"/>
          <p:cNvSpPr/>
          <p:nvPr/>
        </p:nvSpPr>
        <p:spPr>
          <a:xfrm>
            <a:off x="3474720" y="1280160"/>
            <a:ext cx="3474720" cy="128016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Is it SEQUENTIAL</a:t>
            </a:r>
            <a:br/>
            <a:r>
              <a:t>decisions over time?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697479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60603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0" name="Diamond 9"/>
          <p:cNvSpPr/>
          <p:nvPr/>
        </p:nvSpPr>
        <p:spPr>
          <a:xfrm>
            <a:off x="3474720" y="2834640"/>
            <a:ext cx="3474720" cy="128016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Actions affect</a:t>
            </a:r>
            <a:br/>
            <a:r>
              <a:t>FUTURE outcomes?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114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251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4160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4" name="Diamond 13"/>
          <p:cNvSpPr/>
          <p:nvPr/>
        </p:nvSpPr>
        <p:spPr>
          <a:xfrm>
            <a:off x="3474720" y="4389120"/>
            <a:ext cx="3474720" cy="109728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Can define</a:t>
            </a:r>
            <a:br/>
            <a:r>
              <a:t>rewards/penalties?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486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D2"/>
                </a:solidFill>
              </a:defRPr>
            </a:pPr>
            <a: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6235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8C8D2"/>
                </a:solidFill>
              </a:defRPr>
            </a:pPr>
            <a: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55321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5669280"/>
            <a:ext cx="2286000" cy="640080"/>
          </a:xfrm>
          <a:prstGeom prst="roundRect">
            <a:avLst/>
          </a:prstGeom>
          <a:solidFill>
            <a:srgbClr val="321414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5050"/>
                </a:solidFill>
              </a:defRPr>
            </a:pPr>
            <a:r>
              <a:t>REINFORCEMENT</a:t>
            </a:r>
            <a:br/>
            <a:r>
              <a:t>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457200"/>
            <a:ext cx="3017520" cy="292608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02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RL for STRATEGY: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822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Self-Driving 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Sequential: brake/steer every 0.1s</a:t>
            </a:r>
            <a:br/>
            <a:r>
              <a:t>Affects future: steer left now =</a:t>
            </a:r>
            <a:br/>
            <a:r>
              <a:t>different road 5 sec later</a:t>
            </a:r>
            <a:br/>
            <a:r>
              <a:t>Reward: safe arrival +1000</a:t>
            </a:r>
            <a:br/>
            <a:r>
              <a:t>Crash: -10000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1828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</a:defRPr>
            </a:pPr>
            <a:r>
              <a:t>Warehouse Robot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Sequential: pick/move/place</a:t>
            </a:r>
            <a:br/>
            <a:r>
              <a:t>Affects future: wrong pick =</a:t>
            </a:r>
            <a:br/>
            <a:r>
              <a:t>waste 30 seconds</a:t>
            </a:r>
            <a:br/>
            <a:r>
              <a:t>Reward: fast delivery +100</a:t>
            </a:r>
            <a:br/>
            <a:r>
              <a:t>Drop item: -500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57200"/>
            <a:ext cx="3840480" cy="2926080"/>
          </a:xfrm>
          <a:prstGeom prst="round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RL for BALANCE: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</a:defRPr>
            </a:pPr>
            <a:r>
              <a:t>ExamGuard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1097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Balance: too many alerts=fatigue</a:t>
            </a:r>
            <a:br/>
            <a:r>
              <a:t>too few=miss cheating</a:t>
            </a:r>
            <a:br/>
            <a:r>
              <a:t>Correct alert: +100</a:t>
            </a:r>
            <a:br/>
            <a:r>
              <a:t>False alarm: -50</a:t>
            </a:r>
            <a:br/>
            <a:r>
              <a:t>Missed cheating: -200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</a:defRPr>
            </a:pPr>
            <a:r>
              <a:t>ICU 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Balance: alarm fatigue vs safety</a:t>
            </a:r>
            <a:br/>
            <a:r>
              <a:t>Save life: +1000</a:t>
            </a:r>
            <a:br/>
            <a:r>
              <a:t>False alarm: -30</a:t>
            </a:r>
            <a:br/>
            <a:r>
              <a:t>Miss critical: -5000</a:t>
            </a:r>
            <a:br/>
            <a:r>
              <a:t>Learns WHEN to escalate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" y="3566160"/>
            <a:ext cx="3017520" cy="2560320"/>
          </a:xfrm>
          <a:prstGeom prst="roundRect">
            <a:avLst/>
          </a:prstGeom>
          <a:solidFill>
            <a:srgbClr val="321E1E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611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WHY NOT Supervised?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Can't label billions of driving</a:t>
            </a:r>
            <a:br/>
            <a:r>
              <a:t>scenarios. Can't label every</a:t>
            </a:r>
            <a:br/>
            <a:r>
              <a:t>possible exam situation.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480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WHY NOT Classification?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754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Classification: same answer always.</a:t>
            </a:r>
            <a:br/>
            <a:r>
              <a:t>RL: adapts to context.</a:t>
            </a:r>
            <a:br/>
            <a:r>
              <a:t>1st warning=gentle, 5th=escalate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303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Supervised = "WHAT is this?"</a:t>
            </a:r>
            <a:br/>
            <a:r>
              <a:t>RL = "HOW to act over TIME?"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566160"/>
            <a:ext cx="3840480" cy="2560320"/>
          </a:xfrm>
          <a:prstGeom prst="roundRect">
            <a:avLst/>
          </a:prstGeom>
          <a:solidFill>
            <a:srgbClr val="1E281E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3611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Quick Check: Is it RL?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864"/>
                </a:solidFill>
              </a:defRPr>
            </a:pPr>
            <a:r>
              <a:t>YES if all true: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&gt; Sequential decisions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&gt; Actions change future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&gt; Can define rewards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C864"/>
                </a:solidFill>
              </a:defRPr>
            </a:pPr>
            <a:r>
              <a:t>&gt; Can simulate many tries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</a:defRPr>
            </a:pPr>
            <a:r>
              <a:t>NOT RL if: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5050"/>
                </a:solidFill>
              </a:defRPr>
            </a:pPr>
            <a:r>
              <a:t>&gt; One-shot prediction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5050"/>
                </a:solidFill>
              </a:defRPr>
            </a:pPr>
            <a:r>
              <a:t>&gt; Just classify one thing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5897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5050"/>
                </a:solidFill>
              </a:defRPr>
            </a:pPr>
            <a:r>
              <a:t>&gt; Find groups in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864"/>
                </a:solidFill>
              </a:defRPr>
            </a:pPr>
            <a:r>
              <a:t>All Classification Models — Quick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73152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864"/>
                </a:solidFill>
              </a:defRPr>
            </a:pPr>
            <a:r>
              <a:t>Logistic Reg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73152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74980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9326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2 categories, simple, fast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73152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7498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932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Spam, quit, buy/abandon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73152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7498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932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&gt;2 categories or complex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50876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5544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</a:defRPr>
            </a:pPr>
            <a:r>
              <a:t>Decision Tree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50876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5270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170992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Must explain WHY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50876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5270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Diabetes, loan, insurance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150876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5270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accuracy &gt; explanation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28600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233172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</a:defRPr>
            </a:pPr>
            <a:r>
              <a:t>Random Forest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28600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0" y="230428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4871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BEST accuracy, tables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28600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23042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Disease, defects, credit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28600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23042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need to explain each step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063239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3108959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464FF"/>
                </a:solidFill>
              </a:defRPr>
            </a:pPr>
            <a:r>
              <a:t>SVM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063239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308152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32644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Clear boundary, medium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63239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308152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3264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Handwriting, gene classification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063239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308152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264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Very large data (slow)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384048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38862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KNN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384048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5960" y="385876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5960" y="40416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Simple, intuitive, small 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384048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80" y="38587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80" y="4041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House category, similar items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384048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9640" y="38587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4041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Large data (checks every point)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461772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" y="466344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Naive Bayes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20240" y="461772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463600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65960" y="48188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TEXT classification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0" y="461772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463600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3480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Reviews, tickets, spam text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461772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463600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49640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Non-text data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5394959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8600" y="5440679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050"/>
                </a:solidFill>
              </a:defRPr>
            </a:pPr>
            <a:r>
              <a:t>CNN/YOLO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5394959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65960" y="541324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65960" y="559612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IMAGES and VIDEO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0" y="5394959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83480" y="541324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83480" y="55961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ExamGuard, traffic, medical scans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5394959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49640" y="541324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49640" y="55961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Spreadsheet/number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864"/>
                </a:solidFill>
              </a:defRPr>
            </a:pPr>
            <a:r>
              <a:t>All Classification Models — Quick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73152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864"/>
                </a:solidFill>
              </a:defRPr>
            </a:pPr>
            <a:r>
              <a:t>Logistic Reg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73152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74980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9326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2 categories, simple, fast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73152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7498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932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Spam, quit, buy/abandon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73152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7498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932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&gt;2 categories or complex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50876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5544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</a:defRPr>
            </a:pPr>
            <a:r>
              <a:t>Decision Tree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50876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5270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170992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Must explain WHY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50876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5270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Diabetes, loan, insurance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150876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5270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accuracy &gt; explanation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28600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233172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6FF"/>
                </a:solidFill>
              </a:defRPr>
            </a:pPr>
            <a:r>
              <a:t>Random Forest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28600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0" y="230428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4871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BEST accuracy, tables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28600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23042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Disease, defects, credit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28600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23042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need to explain each step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063239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3108959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464FF"/>
                </a:solidFill>
              </a:defRPr>
            </a:pPr>
            <a:r>
              <a:t>SVM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063239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308152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32644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Clear boundary, medium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63239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308152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3264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Handwriting, gene classification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063239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308152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264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Very large data (slow)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384048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38862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C32"/>
                </a:solidFill>
              </a:defRPr>
            </a:pPr>
            <a:r>
              <a:t>KNN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384048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5960" y="385876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5960" y="40416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Simple, intuitive, small 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384048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80" y="38587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80" y="4041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House category, similar items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384048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9640" y="38587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4041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Large data (checks every point)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461772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" y="466344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C8FF"/>
                </a:solidFill>
              </a:defRPr>
            </a:pPr>
            <a:r>
              <a:t>Naive Bayes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20240" y="461772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463600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65960" y="48188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TEXT classification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0" y="461772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463600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3480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Reviews, tickets, spam text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461772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463600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49640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Non-text data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5394959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8600" y="5440679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050"/>
                </a:solidFill>
              </a:defRPr>
            </a:pPr>
            <a:r>
              <a:t>CNN/YOLO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5394959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65960" y="541324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65960" y="559612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IMAGES and VIDEO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0" y="5394959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83480" y="541324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83480" y="55961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ExamGuard, traffic, medical scans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5394959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49640" y="541324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49640" y="55961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Spreadsheet/number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500"/>
                </a:solidFill>
              </a:defRPr>
            </a:pPr>
            <a:r>
              <a:t>All Regression Models — Quick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914400"/>
            <a:ext cx="164592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64"/>
                </a:solidFill>
              </a:defRPr>
            </a:pPr>
            <a:r>
              <a:t>Linear Reg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914400"/>
            <a:ext cx="320040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93268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1430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Simple, straight relationship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914400"/>
            <a:ext cx="3200400" cy="8686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93268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1430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House price, salary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914400"/>
            <a:ext cx="3474720" cy="86868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9326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143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Curved data, complex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920240"/>
            <a:ext cx="164592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01168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500"/>
                </a:solidFill>
              </a:defRPr>
            </a:pPr>
            <a:r>
              <a:t>Polynomial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920240"/>
            <a:ext cx="320040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938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1488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Curved data, diminishing returns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1920240"/>
            <a:ext cx="3200400" cy="8686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938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1488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Crop yield, ad spend ROI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1920240"/>
            <a:ext cx="3474720" cy="86868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93852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148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Don't know if curved (try linear first)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926080"/>
            <a:ext cx="164592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301752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C32"/>
                </a:solidFill>
              </a:defRPr>
            </a:pPr>
            <a:r>
              <a:t>DT 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926080"/>
            <a:ext cx="320040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0" y="294436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1546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Need to explain prediction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926080"/>
            <a:ext cx="3200400" cy="8686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294436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1546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Explain house 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926080"/>
            <a:ext cx="3474720" cy="86868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29443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1546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When accuracy matters more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931920"/>
            <a:ext cx="164592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40233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FF"/>
                </a:solidFill>
              </a:defRPr>
            </a:pPr>
            <a:r>
              <a:t>RF Regression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931920"/>
            <a:ext cx="320040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395020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4160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Complex, many features, best 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931920"/>
            <a:ext cx="3200400" cy="8686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395020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4160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Delivery time, 15+ features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931920"/>
            <a:ext cx="3474720" cy="86868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39502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When need to explain each step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937760"/>
            <a:ext cx="164592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50292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464FF"/>
                </a:solidFill>
              </a:defRPr>
            </a:pPr>
            <a:r>
              <a:t>Neural Net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4937760"/>
            <a:ext cx="320040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5960" y="4956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5960" y="5166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Massive data, 50+ features, very complex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80" y="4937760"/>
            <a:ext cx="3200400" cy="8686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4956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5166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Stock prices, weather, 100K+ rows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4937760"/>
            <a:ext cx="3474720" cy="86868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9640" y="49560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51663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Small data (&lt;10K), simple problems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760720"/>
            <a:ext cx="11612880" cy="457200"/>
          </a:xfrm>
          <a:prstGeom prst="rect">
            <a:avLst/>
          </a:prstGeom>
          <a:solidFill>
            <a:srgbClr val="323219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788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ALWAYS: Linear &gt;&gt;&gt; Polynomial &gt;&gt;&gt; RF Regression &gt;&gt;&gt; Neural Net. Start simple, upgrade only when data demands.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A500"/>
                </a:solidFill>
              </a:defRPr>
            </a:pPr>
            <a:r>
              <a:t>All Regression Models — Quick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914400"/>
            <a:ext cx="164592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0584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64"/>
                </a:solidFill>
              </a:defRPr>
            </a:pPr>
            <a:r>
              <a:t>Linear Reg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914400"/>
            <a:ext cx="320040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93268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1430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Simple, straight relationship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914400"/>
            <a:ext cx="3200400" cy="8686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93268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1430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House price, salary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914400"/>
            <a:ext cx="3474720" cy="86868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9326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143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Curved data, complex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920240"/>
            <a:ext cx="164592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01168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500"/>
                </a:solidFill>
              </a:defRPr>
            </a:pPr>
            <a:r>
              <a:t>Polynomial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920240"/>
            <a:ext cx="320040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938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1488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Curved data, diminishing returns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1920240"/>
            <a:ext cx="3200400" cy="8686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93852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1488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Crop yield, ad spend ROI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1920240"/>
            <a:ext cx="3474720" cy="86868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93852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148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Don't know if curved (try linear first)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926080"/>
            <a:ext cx="164592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301752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C32"/>
                </a:solidFill>
              </a:defRPr>
            </a:pPr>
            <a:r>
              <a:t>DT 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926080"/>
            <a:ext cx="320040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0" y="294436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1546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Need to explain prediction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2926080"/>
            <a:ext cx="3200400" cy="8686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294436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1546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Explain house 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926080"/>
            <a:ext cx="3474720" cy="86868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29443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1546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When accuracy matters more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931920"/>
            <a:ext cx="164592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40233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FF"/>
                </a:solidFill>
              </a:defRPr>
            </a:pPr>
            <a:r>
              <a:t>RF Regression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931920"/>
            <a:ext cx="320040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395020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4160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Complex, many features, best 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931920"/>
            <a:ext cx="3200400" cy="8686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395020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4160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Delivery time, 15+ features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931920"/>
            <a:ext cx="3474720" cy="86868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39502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When need to explain each step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937760"/>
            <a:ext cx="164592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50292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464FF"/>
                </a:solidFill>
              </a:defRPr>
            </a:pPr>
            <a:r>
              <a:t>Neural Net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4937760"/>
            <a:ext cx="3200400" cy="86868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5960" y="4956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5960" y="5166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Massive data, 50+ features, very complex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80" y="4937760"/>
            <a:ext cx="3200400" cy="8686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4956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5166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Stock prices, weather, 100K+ rows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4937760"/>
            <a:ext cx="3474720" cy="86868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9640" y="49560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51663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Small data (&lt;10K), simple problems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760720"/>
            <a:ext cx="11612880" cy="457200"/>
          </a:xfrm>
          <a:prstGeom prst="rect">
            <a:avLst/>
          </a:prstGeom>
          <a:solidFill>
            <a:srgbClr val="323219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788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ALWAYS: Linear &gt;&gt;&gt; Polynomial &gt;&gt;&gt; RF Regression &gt;&gt;&gt; Neural Net. Start simple, upgrade only when data demands.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464FF"/>
                </a:solidFill>
              </a:defRPr>
            </a:pPr>
            <a:r>
              <a:t>Unsupervised + RL Models — Quick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73152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73152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74980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9326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Groups, you pick K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73152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7498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932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Customer segments, K=3 for marketing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73152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7498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932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Don't know how many groups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50876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5544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</a:defRPr>
            </a:pPr>
            <a:r>
              <a:t>DBSCAN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50876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5270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170992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Groups, auto K + outliers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50876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5270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GPS routes, unknown clusters + flag weird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150876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5270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Very high-dimensional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28600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233172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</a:defRPr>
            </a:pPr>
            <a:r>
              <a:t>Isolation Forest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28600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0" y="230428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4871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Rare events in NUMBERS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28600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23042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Credit fraud, sensor anomalies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28600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23042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Image/video anomalies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063239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3108959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464FF"/>
                </a:solidFill>
              </a:defRPr>
            </a:pPr>
            <a:r>
              <a:t>Autoencoder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063239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308152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32644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Learn normal, flag rest (images)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63239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308152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3264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ExamGuard unusual, factory QC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063239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308152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264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you have labeled anomalies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384048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38862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PCA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384048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5960" y="385876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5960" y="40416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Reduce dimensions, 100 cols to 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384048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80" y="38587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80" y="4041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Speed up other models, visualization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384048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9640" y="38587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4041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all features are important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461772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" y="466344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RL (Strategy)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20240" y="461772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463600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65960" y="48188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Sequential decisions, learn HOW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0" y="461772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463600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3480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Self-driving, chess, warehouse robot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461772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463600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49640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One-shot predictions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5394959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8600" y="5440679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250"/>
                </a:solidFill>
              </a:defRPr>
            </a:pPr>
            <a:r>
              <a:t>RL (Balance)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5394959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65960" y="541324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65960" y="559612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Balance competing goals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0" y="5394959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83480" y="541324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83480" y="55961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ExamGuard alerts, ICU monitor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5394959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49640" y="541324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49640" y="55961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same answer always works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464FF"/>
                </a:solidFill>
              </a:defRPr>
            </a:pPr>
            <a:r>
              <a:t>Unsupervised + RL Models — Quick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73152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73152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74980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9326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Groups, you pick K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73152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7498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932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Customer segments, K=3 for marketing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73152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74980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9326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Don't know how many groups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50876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5544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</a:defRPr>
            </a:pPr>
            <a:r>
              <a:t>DBSCAN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50876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152704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170992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Groups, auto K + outliers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50876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5270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GPS routes, unknown clusters + flag weird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150876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5270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7099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Very high-dimensional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28600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233172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</a:defRPr>
            </a:pPr>
            <a:r>
              <a:t>Isolation Forest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28600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0" y="230428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4871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Rare events in NUMBERS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28600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23042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Credit fraud, sensor anomalies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28600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230428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Image/video anomalies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063239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3108959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464FF"/>
                </a:solidFill>
              </a:defRPr>
            </a:pPr>
            <a:r>
              <a:t>Autoencoder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3063239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308152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32644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Learn normal, flag rest (images)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63239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308152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3264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ExamGuard unusual, factory QC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063239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308152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264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you have labeled anomalies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384048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38862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C32"/>
                </a:solidFill>
              </a:defRPr>
            </a:pPr>
            <a:r>
              <a:t>PCA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384048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5960" y="385876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65960" y="40416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Reduce dimensions, 100 cols to 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384048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80" y="38587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80" y="4041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Speed up other models, visualization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384048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9640" y="38587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40416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all features are important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4617720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" y="466344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RL (Strategy)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20240" y="4617720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65960" y="463600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65960" y="48188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Sequential decisions, learn HOW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0" y="4617720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83480" y="463600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3480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Self-driving, chess, warehouse robot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4617720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463600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49640" y="48188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One-shot predictions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5394959"/>
            <a:ext cx="164592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8600" y="5440679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250"/>
                </a:solidFill>
              </a:defRPr>
            </a:pPr>
            <a:r>
              <a:t>RL (Balance)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5394959"/>
            <a:ext cx="2926080" cy="685800"/>
          </a:xfrm>
          <a:prstGeom prst="rect">
            <a:avLst/>
          </a:prstGeom>
          <a:solidFill>
            <a:srgbClr val="2D2D3C"/>
          </a:solidFill>
          <a:ln w="25400">
            <a:solidFill>
              <a:srgbClr val="FF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65960" y="5413247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BEST FOR: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65960" y="5596127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Balance competing goals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0" y="5394959"/>
            <a:ext cx="3474720" cy="6858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83480" y="541324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C8D2"/>
                </a:solidFill>
              </a:defRPr>
            </a:pPr>
            <a:r>
              <a:t>EXAMPLE: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83480" y="55961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ExamGuard alerts, ICU monitor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5394959"/>
            <a:ext cx="3474720" cy="685800"/>
          </a:xfrm>
          <a:prstGeom prst="rect">
            <a:avLst/>
          </a:prstGeom>
          <a:solidFill>
            <a:srgbClr val="37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49640" y="541324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5050"/>
                </a:solidFill>
              </a:defRPr>
            </a:pPr>
            <a:r>
              <a:t>DON'T USE: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49640" y="559612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When same answer always 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C32"/>
                </a:solidFill>
              </a:defRPr>
            </a:pPr>
            <a:r>
              <a:t>6 Expert Tricks for Model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</a:defRPr>
            </a:pPr>
            <a:r>
              <a:t>1. Start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Tried CNN for spam=85%. Tried LogReg=83%.</a:t>
            </a:r>
            <a:br/>
            <a:r>
              <a:t>83% with simple model &gt; 85% with complex.</a:t>
            </a:r>
            <a:br/>
            <a:r>
              <a:t>Always start simplest, upgrade IF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82296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79" y="868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2. Data Size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118872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500 patients? Decision Tree.</a:t>
            </a:r>
            <a:br/>
            <a:r>
              <a:t>500K X-rays? CNN.</a:t>
            </a:r>
            <a:br/>
            <a:r>
              <a:t>Small data = simple model. Big data = complex OK.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82296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868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</a:defRPr>
            </a:pPr>
            <a:r>
              <a:t>3. Check What Others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Google 'object detection' = everyone uses YOLO.</a:t>
            </a:r>
            <a:br/>
            <a:r>
              <a:t>Don't reinvent. Stand on shoulders of giants.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464FF"/>
                </a:solidFill>
              </a:defRPr>
            </a:pPr>
            <a:r>
              <a:t>4. Transfer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2336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YOLO trained on millions of images.</a:t>
            </a:r>
            <a:br/>
            <a:r>
              <a:t>Fine-tune with YOUR 500 exam photos.</a:t>
            </a:r>
            <a:br/>
            <a:r>
              <a:t>Pre-trained + your data = magic.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65760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</a:defRPr>
            </a:pPr>
            <a:r>
              <a:t>5. Break Into Sub-Problems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402336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ExamGuard = 7 different problems.</a:t>
            </a:r>
            <a:br/>
            <a:r>
              <a:t>Phone detection (CNN) + behavior (Autoencoder)</a:t>
            </a:r>
            <a:br/>
            <a:r>
              <a:t>+ alerts (RL). Each sub-problem = different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65760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C32"/>
                </a:solidFill>
              </a:defRPr>
            </a:pPr>
            <a:r>
              <a:t>6. Test Multiple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2336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Try 3-4 models on same data.</a:t>
            </a:r>
            <a:br/>
            <a:r>
              <a:t>Compare accuracy + speed + explainability.</a:t>
            </a:r>
            <a:br/>
            <a:r>
              <a:t>Pick the best balance, not just highest accuracy.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C32"/>
                </a:solidFill>
              </a:defRPr>
            </a:pPr>
            <a:r>
              <a:t>6 Expert Tricks for Model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</a:defRPr>
            </a:pPr>
            <a:r>
              <a:t>1. Start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Tried CNN for spam=85%. Tried LogReg=83%.</a:t>
            </a:r>
            <a:br/>
            <a:r>
              <a:t>83% with simple model &gt; 85% with complex.</a:t>
            </a:r>
            <a:br/>
            <a:r>
              <a:t>Always start simplest, upgrade IF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82296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79" y="868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2. Data Size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118872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500 patients? Decision Tree.</a:t>
            </a:r>
            <a:br/>
            <a:r>
              <a:t>500K X-rays? CNN.</a:t>
            </a:r>
            <a:br/>
            <a:r>
              <a:t>Small data = simple model. Big data = complex OK.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82296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868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</a:defRPr>
            </a:pPr>
            <a:r>
              <a:t>3. Check What Others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Google 'object detection' = everyone uses YOLO.</a:t>
            </a:r>
            <a:br/>
            <a:r>
              <a:t>Don't reinvent. Stand on shoulders of giants.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464FF"/>
                </a:solidFill>
              </a:defRPr>
            </a:pPr>
            <a:r>
              <a:t>4. Transfer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2336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YOLO trained on millions of images.</a:t>
            </a:r>
            <a:br/>
            <a:r>
              <a:t>Fine-tune with YOUR 500 exam photos.</a:t>
            </a:r>
            <a:br/>
            <a:r>
              <a:t>Pre-trained + your data = magic.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65760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</a:defRPr>
            </a:pPr>
            <a:r>
              <a:t>5. Break Into Sub-Problems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402336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ExamGuard = 7 different problems.</a:t>
            </a:r>
            <a:br/>
            <a:r>
              <a:t>Phone detection (CNN) + behavior (Autoencoder)</a:t>
            </a:r>
            <a:br/>
            <a:r>
              <a:t>+ alerts (RL). Each sub-problem = different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657600"/>
            <a:ext cx="3657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C32"/>
                </a:solidFill>
              </a:defRPr>
            </a:pPr>
            <a:r>
              <a:t>6. Test Multiple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2336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Try 3-4 models on same data.</a:t>
            </a:r>
            <a:br/>
            <a:r>
              <a:t>Compare accuracy + speed + explainability.</a:t>
            </a:r>
            <a:br/>
            <a:r>
              <a:t>Pick the best balance, not just highest accuracy.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FF"/>
                </a:solidFill>
              </a:defRPr>
            </a:pPr>
            <a:r>
              <a:t>Quick Reference — Answer These 5, Model Picks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731520"/>
            <a:ext cx="2834640" cy="53035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Answer = WORD +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&gt; Images? CNN/YOLO</a:t>
            </a:r>
            <a:br/>
            <a:r>
              <a:t>&gt; Text? Naive Bayes</a:t>
            </a:r>
            <a:br/>
            <a:r>
              <a:t>&gt; Explain? Decision Tree</a:t>
            </a:r>
            <a:br/>
            <a:r>
              <a:t>&gt; Best accuracy? Random Forest</a:t>
            </a:r>
            <a:br/>
            <a:r>
              <a:t>&gt; Simple? Logistic Regression</a:t>
            </a:r>
            <a:br/>
            <a:r>
              <a:t>&gt; Imbalanced? Anomaly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731520"/>
            <a:ext cx="2834640" cy="53035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777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</a:defRPr>
            </a:pPr>
            <a:r>
              <a:t>Answer = NUMBER +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55448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&gt; Always start Linear</a:t>
            </a:r>
            <a:br/>
            <a:r>
              <a:t>&gt; R² bad + curved? Polynomial</a:t>
            </a:r>
            <a:br/>
            <a:r>
              <a:t>&gt; Many features? RF Regression</a:t>
            </a:r>
            <a:br/>
            <a:r>
              <a:t>&gt; Massive data? Neural Network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31520"/>
            <a:ext cx="2834640" cy="530352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777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464FF"/>
                </a:solidFill>
              </a:defRPr>
            </a:pPr>
            <a:r>
              <a:t>No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UNSUPERVISED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&gt; Groups + know K? K-Means</a:t>
            </a:r>
            <a:br/>
            <a:r>
              <a:t>&gt; Groups + unknown K? DBSCAN</a:t>
            </a:r>
            <a:br/>
            <a:r>
              <a:t>&gt; Weird + numbers? Isolation Forest</a:t>
            </a:r>
            <a:br/>
            <a:r>
              <a:t>&gt; Weird + images? Autoencoder</a:t>
            </a:r>
            <a:br/>
            <a:r>
              <a:t>&gt; Too many features? PCA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731520"/>
            <a:ext cx="2834640" cy="53035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777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Learn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REINFORCEMENT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155448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&gt; Sequential decisions? RL</a:t>
            </a:r>
            <a:br/>
            <a:r>
              <a:t>&gt; Balance competing goals? RL</a:t>
            </a:r>
            <a:br/>
            <a:r>
              <a:t>&gt; Can simulate millions? RL</a:t>
            </a:r>
            <a:br/>
            <a:r>
              <a:t>&gt; One-shot answer? NOT 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6217920"/>
            <a:ext cx="11795760" cy="457200"/>
          </a:xfrm>
          <a:prstGeom prst="rect">
            <a:avLst/>
          </a:prstGeom>
          <a:solidFill>
            <a:srgbClr val="323219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24535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C32"/>
                </a:solidFill>
              </a:defRPr>
            </a:pPr>
            <a:r>
              <a:t>The data decides the model, not your preference. Follow the questions. The answer reveals itself.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FF"/>
                </a:solidFill>
              </a:defRPr>
            </a:pPr>
            <a:r>
              <a:t>Quick Reference — Answer These 5, Model Picks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731520"/>
            <a:ext cx="2834640" cy="53035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Answer = WORD +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&gt; Images? CNN/YOLO</a:t>
            </a:r>
            <a:br/>
            <a:r>
              <a:t>&gt; Text? Naive Bayes</a:t>
            </a:r>
            <a:br/>
            <a:r>
              <a:t>&gt; Explain? Decision Tree</a:t>
            </a:r>
            <a:br/>
            <a:r>
              <a:t>&gt; Best accuracy? Random Forest</a:t>
            </a:r>
            <a:br/>
            <a:r>
              <a:t>&gt; Simple? Logistic Regression</a:t>
            </a:r>
            <a:br/>
            <a:r>
              <a:t>&gt; Imbalanced? Anomaly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731520"/>
            <a:ext cx="2834640" cy="53035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777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</a:defRPr>
            </a:pPr>
            <a:r>
              <a:t>Answer = NUMBER +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55448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&gt; Always start Linear</a:t>
            </a:r>
            <a:br/>
            <a:r>
              <a:t>&gt; R² bad + curved? Polynomial</a:t>
            </a:r>
            <a:br/>
            <a:r>
              <a:t>&gt; Many features? RF Regression</a:t>
            </a:r>
            <a:br/>
            <a:r>
              <a:t>&gt; Massive data? Neural Network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31520"/>
            <a:ext cx="2834640" cy="5303520"/>
          </a:xfrm>
          <a:prstGeom prst="rect">
            <a:avLst/>
          </a:prstGeom>
          <a:solidFill>
            <a:srgbClr val="2D2D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777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464FF"/>
                </a:solidFill>
              </a:defRPr>
            </a:pPr>
            <a:r>
              <a:t>No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UNSUPERVISED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&gt; Groups + know K? K-Means</a:t>
            </a:r>
            <a:br/>
            <a:r>
              <a:t>&gt; Groups + unknown K? DBSCAN</a:t>
            </a:r>
            <a:br/>
            <a:r>
              <a:t>&gt; Weird + numbers? Isolation Forest</a:t>
            </a:r>
            <a:br/>
            <a:r>
              <a:t>&gt; Weird + images? Autoencoder</a:t>
            </a:r>
            <a:br/>
            <a:r>
              <a:t>&gt; Too many features? PCA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731520"/>
            <a:ext cx="2834640" cy="530352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777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5050"/>
                </a:solidFill>
              </a:defRPr>
            </a:pPr>
            <a:r>
              <a:t>Learn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10972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REINFORCEMENT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155448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&gt; Sequential decisions? RL</a:t>
            </a:r>
            <a:br/>
            <a:r>
              <a:t>&gt; Balance competing goals? RL</a:t>
            </a:r>
            <a:br/>
            <a:r>
              <a:t>&gt; Can simulate millions? RL</a:t>
            </a:r>
            <a:br/>
            <a:r>
              <a:t>&gt; One-shot answer? NOT 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6217920"/>
            <a:ext cx="11795760" cy="457200"/>
          </a:xfrm>
          <a:prstGeom prst="rect">
            <a:avLst/>
          </a:prstGeom>
          <a:solidFill>
            <a:srgbClr val="323219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24535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C32"/>
                </a:solidFill>
              </a:defRPr>
            </a:pPr>
            <a:r>
              <a:t>The data decides the model, not your preference. Follow the questions. The answer reveals itself.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C32"/>
                </a:solidFill>
              </a:defRPr>
            </a:pPr>
            <a:r>
              <a:t>Step 0: From Problem to Data — "I Have No Data Yet"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You don't need data to CHOOSE the model. You need the PROBLEM.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1645920" cy="640080"/>
          </a:xfrm>
          <a:prstGeom prst="roundRect">
            <a:avLst/>
          </a:prstGeom>
          <a:solidFill>
            <a:srgbClr val="321414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5050"/>
                </a:solidFill>
              </a:defRPr>
            </a:pPr>
            <a:r>
              <a:t>PROBLEM</a:t>
            </a:r>
            <a:br/>
            <a:r>
              <a:t>"I want to ___"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88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&gt;&gt;&gt;</a:t>
            </a:r>
          </a:p>
        </p:txBody>
      </p:sp>
      <p:sp>
        <p:nvSpPr>
          <p:cNvPr id="6" name="Diamond 5"/>
          <p:cNvSpPr/>
          <p:nvPr/>
        </p:nvSpPr>
        <p:spPr>
          <a:xfrm>
            <a:off x="2194560" y="914400"/>
            <a:ext cx="2011680" cy="914400"/>
          </a:xfrm>
          <a:prstGeom prst="diamond">
            <a:avLst/>
          </a:prstGeom>
          <a:solidFill>
            <a:srgbClr val="323223"/>
          </a:solidFill>
          <a:ln w="25400">
            <a:solidFill>
              <a:srgbClr val="FFD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DC32"/>
                </a:solidFill>
              </a:defRPr>
            </a:pPr>
            <a:r>
              <a:t>Answer</a:t>
            </a:r>
            <a:br/>
            <a:r>
              <a:t>looks like?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188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&gt;&gt;&gt;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05840"/>
            <a:ext cx="1645920" cy="640080"/>
          </a:xfrm>
          <a:prstGeom prst="roundRect">
            <a:avLst/>
          </a:prstGeom>
          <a:solidFill>
            <a:srgbClr val="142832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96FF"/>
                </a:solidFill>
              </a:defRPr>
            </a:pPr>
            <a:r>
              <a:t>WHAT data</a:t>
            </a:r>
            <a:br/>
            <a:r>
              <a:t>to collect?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88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&gt;&gt;&gt;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05840"/>
            <a:ext cx="1645920" cy="640080"/>
          </a:xfrm>
          <a:prstGeom prst="roundRect">
            <a:avLst/>
          </a:prstGeom>
          <a:solidFill>
            <a:srgbClr val="282814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A500"/>
                </a:solidFill>
              </a:defRPr>
            </a:pPr>
            <a:r>
              <a:t>WHERE</a:t>
            </a:r>
            <a:br/>
            <a:r>
              <a:t>to get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188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&gt;&gt;&gt;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005840"/>
            <a:ext cx="1645920" cy="640080"/>
          </a:xfrm>
          <a:prstGeom prst="roundRect">
            <a:avLst/>
          </a:prstGeom>
          <a:solidFill>
            <a:srgbClr val="143214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C864"/>
                </a:solidFill>
              </a:defRPr>
            </a:pPr>
            <a:r>
              <a:t>HOW MUCH</a:t>
            </a:r>
            <a:br/>
            <a:r>
              <a:t>do I need?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1188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C32"/>
                </a:solidFill>
              </a:defRPr>
            </a:pPr>
            <a:r>
              <a:t>&gt;&gt;&gt;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1005840"/>
            <a:ext cx="1645920" cy="640080"/>
          </a:xfrm>
          <a:prstGeom prst="roundRect">
            <a:avLst/>
          </a:prstGeom>
          <a:solidFill>
            <a:srgbClr val="1E321E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864"/>
                </a:solidFill>
              </a:defRPr>
            </a:pPr>
            <a:r>
              <a:t>MODEL</a:t>
            </a:r>
            <a:br/>
            <a:r>
              <a:t>PICKED!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20240"/>
            <a:ext cx="54864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965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Answer Type Tells You What Data to Collect: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286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8C8D2"/>
                </a:solidFill>
              </a:defRPr>
            </a:pPr>
            <a:r>
              <a:t>Answer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2860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8C8D2"/>
                </a:solidFill>
              </a:defRPr>
            </a:pPr>
            <a:r>
              <a:t>Data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860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8C8D2"/>
                </a:solidFill>
              </a:defRPr>
            </a:pPr>
            <a:r>
              <a:t>Labels?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864"/>
                </a:solidFill>
              </a:defRPr>
            </a:pPr>
            <a:r>
              <a:t>WORD (spam/not)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Labeled 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A500"/>
                </a:solidFill>
              </a:defRPr>
            </a:pPr>
            <a:r>
              <a:t>NUMBER (Rs 72L)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880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Past records with numbers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864"/>
                </a:solidFill>
              </a:defRPr>
            </a:pPr>
            <a: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6FF"/>
                </a:solidFill>
              </a:defRPr>
            </a:pPr>
            <a:r>
              <a:t>GROUPS (types)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246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Just raw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246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</a:defRPr>
            </a:pPr>
            <a: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464FF"/>
                </a:solidFill>
              </a:defRPr>
            </a:pPr>
            <a:r>
              <a:t>WEIRD (anomaly)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Normal examples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9776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</a:defRPr>
            </a:pPr>
            <a:r>
              <a:t>STRATEGY (RL)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9776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Simulator / environment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9776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</a:defRPr>
            </a:pPr>
            <a: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1920240"/>
            <a:ext cx="5943600" cy="2560320"/>
          </a:xfrm>
          <a:prstGeom prst="rect">
            <a:avLst/>
          </a:prstGeom>
          <a:solidFill>
            <a:srgbClr val="2D2D3C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19659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How Much Data Do You Need?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22860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8C8D2"/>
                </a:solidFill>
              </a:defRPr>
            </a:pPr>
            <a:r>
              <a:t>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22860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8C8D2"/>
                </a:solidFill>
              </a:defRPr>
            </a:pPr>
            <a:r>
              <a:t>Minimum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2860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8C8D2"/>
                </a:solidFill>
              </a:defRPr>
            </a:pPr>
            <a:r>
              <a:t>Ideal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2514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C864"/>
                </a:solidFill>
              </a:defRPr>
            </a:pPr>
            <a:r>
              <a:t>Logistic Reg / DT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2514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2514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5K+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2788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96FF"/>
                </a:solidFill>
              </a:defRPr>
            </a:pPr>
            <a:r>
              <a:t>Random Forest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2788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1K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788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10K+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3063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5050"/>
                </a:solidFill>
              </a:defRPr>
            </a:pPr>
            <a:r>
              <a:t>CNN from scratch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3063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10K imgs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3063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100K+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337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A500"/>
                </a:solidFill>
              </a:defRPr>
            </a:pPr>
            <a:r>
              <a:t>CNN + Transfer Learn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200 imgs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1K+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3611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464FF"/>
                </a:solidFill>
              </a:defRPr>
            </a:pPr>
            <a:r>
              <a:t>K-Means / DBSCAN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3611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500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611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5K+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0" y="3886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464FF"/>
                </a:solidFill>
              </a:defRPr>
            </a:pPr>
            <a:r>
              <a:t>Autoencoder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3886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1K normal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3886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10K+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41605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5050"/>
                </a:solidFill>
              </a:defRPr>
            </a:pPr>
            <a:r>
              <a:t>RL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4160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1M simulated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4160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8C8D2"/>
                </a:solidFill>
              </a:defRPr>
            </a:pPr>
            <a:r>
              <a:t>More=better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663440"/>
            <a:ext cx="3749039" cy="20116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709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</a:defRPr>
            </a:pPr>
            <a:r>
              <a:t>ExamGuard Phones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5029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Phone/No Phone = WORD</a:t>
            </a:r>
            <a:br/>
            <a:r>
              <a:t>Need labeled IMAGES</a:t>
            </a:r>
            <a:br/>
            <a:r>
              <a:t>Take 500 photos + augment</a:t>
            </a:r>
            <a:br/>
            <a:r>
              <a:t>YOLO + Transfer Learning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59" y="4663440"/>
            <a:ext cx="3749039" cy="2011680"/>
          </a:xfrm>
          <a:prstGeom prst="rect">
            <a:avLst/>
          </a:prstGeom>
          <a:solidFill>
            <a:srgbClr val="2D2D3C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43399" y="4709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Predict Sales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43399" y="5029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Rs amount = NUMBER</a:t>
            </a:r>
            <a:br/>
            <a:r>
              <a:t>Need past sales records</a:t>
            </a:r>
            <a:br/>
            <a:r>
              <a:t>Export from database (60 months)</a:t>
            </a:r>
            <a:br/>
            <a:r>
              <a:t>Linear Regression first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0" y="4663440"/>
            <a:ext cx="3749039" cy="2011680"/>
          </a:xfrm>
          <a:prstGeom prst="rect">
            <a:avLst/>
          </a:prstGeom>
          <a:solidFill>
            <a:srgbClr val="2D2D3C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21040" y="4709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Customer Groups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0292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D2"/>
                </a:solidFill>
              </a:defRPr>
            </a:pPr>
            <a:r>
              <a:t>Groups = CLUSTERING</a:t>
            </a:r>
            <a:br/>
            <a:r>
              <a:t>Need customer info</a:t>
            </a:r>
            <a:br/>
            <a:r>
              <a:t>Export 50K from CRM</a:t>
            </a:r>
            <a:br/>
            <a:r>
              <a:t>K-Means (K=3)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