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00C864"/>
                </a:solidFill>
              </a:defRPr>
            </a:pPr>
            <a:r>
              <a:t>Supervised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With Real-World Examples &amp; ExamGuard Connections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D2"/>
                </a:solidFill>
              </a:defRPr>
            </a:pPr>
            <a:r>
              <a:t>Personal Study Guide |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64"/>
                </a:solidFill>
              </a:defRPr>
            </a:pPr>
            <a:r>
              <a:t>What is Supervised Learning?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C8C8D2"/>
                </a:solidFill>
              </a:defRPr>
            </a:pPr>
            <a:r>
              <a:t>Learning WITH a teacher — Data + Correct Answers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553212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CLASSIFICATION</a:t>
            </a:r>
            <a:br/>
            <a:r>
              <a:t>= WORD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349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Spam/Not Spam</a:t>
            </a:r>
            <a:br/>
            <a:r>
              <a:t>Cat/Dog</a:t>
            </a:r>
            <a:br/>
            <a:r>
              <a:t>Pass/Fail</a:t>
            </a:r>
            <a:br/>
            <a:r>
              <a:t>S/M/L</a:t>
            </a:r>
            <a:br/>
            <a:br/>
            <a:r>
              <a:t>Answer is a CATEGORY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2200" y="1371600"/>
            <a:ext cx="5532120" cy="32004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1732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REGRESSION</a:t>
            </a:r>
            <a:br/>
            <a:r>
              <a:t>=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1783080"/>
            <a:ext cx="5349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Rs 72 lakhs</a:t>
            </a:r>
            <a:br/>
            <a:r>
              <a:t>33.5 deg C</a:t>
            </a:r>
            <a:br/>
            <a:r>
              <a:t>87 marks</a:t>
            </a:r>
            <a:br/>
            <a:r>
              <a:t>2.5 hours</a:t>
            </a:r>
            <a:br/>
            <a:br/>
            <a:r>
              <a:t>Answer is on a SCALE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C32"/>
                </a:solidFill>
              </a:defRPr>
            </a:pPr>
            <a:r>
              <a:t>"Will student pass?" = Classification  |  "What marks?" = Regression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64"/>
                </a:solidFill>
              </a:defRPr>
            </a:pPr>
            <a:r>
              <a:t>Classification Models — Real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Logistic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EMAIL SPAM FILTER</a:t>
            </a:r>
            <a:br/>
            <a:r>
              <a:t>5000 emails, labeled</a:t>
            </a:r>
            <a:br/>
            <a:r>
              <a:t>Draws a line between</a:t>
            </a:r>
            <a:br/>
            <a:r>
              <a:t>spam &amp; not-spam</a:t>
            </a:r>
            <a:br/>
            <a:r>
              <a:t>Small data, 2 categories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1097280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8640" y="114300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Decision Tree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8640" y="150876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LOAN APPROVAL</a:t>
            </a:r>
            <a:br/>
            <a:r>
              <a:t>Income &gt; 50K? Yes</a:t>
            </a:r>
            <a:br/>
            <a:r>
              <a:t>Credit &gt; 700? Yes</a:t>
            </a:r>
            <a:br/>
            <a:r>
              <a:t>APPROVE!</a:t>
            </a:r>
            <a:br/>
            <a:r>
              <a:t>20 Questions game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7200" y="1097280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8640" y="114300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8640" y="150876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DISEASE DIAGNOSIS</a:t>
            </a:r>
            <a:br/>
            <a:r>
              <a:t>100 trees each vote</a:t>
            </a:r>
            <a:br/>
            <a:r>
              <a:t>Majority says Diabetes</a:t>
            </a:r>
            <a:br/>
            <a:r>
              <a:t>= Final answer</a:t>
            </a:r>
            <a:br/>
            <a:r>
              <a:t>100 doctors consulting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59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79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64FF"/>
                </a:solidFill>
              </a:defRPr>
            </a:pPr>
            <a:r>
              <a:t>SVM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HANDWRITING</a:t>
            </a:r>
            <a:br/>
            <a:r>
              <a:t>Is this A or B?</a:t>
            </a:r>
            <a:br/>
            <a:r>
              <a:t>Widest gap between</a:t>
            </a:r>
            <a:br/>
            <a:r>
              <a:t>the two groups</a:t>
            </a:r>
            <a:br/>
            <a:r>
              <a:t>Wall with max space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200" y="3794759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8640" y="3840479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KNN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8640" y="420624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HOUSE CATEGORY</a:t>
            </a:r>
            <a:br/>
            <a:r>
              <a:t>5 nearest houses</a:t>
            </a:r>
            <a:br/>
            <a:r>
              <a:t>3 are "expensive"</a:t>
            </a:r>
            <a:br/>
            <a:r>
              <a:t>Your house = expensive</a:t>
            </a:r>
            <a:br/>
            <a:r>
              <a:t>You are your neighbors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7200" y="3794759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8640" y="3840479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C32"/>
                </a:solidFill>
              </a:defRPr>
            </a:pPr>
            <a:r>
              <a:t>CNN (Deep Learning)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8640" y="420624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EXAMGUARD!</a:t>
            </a:r>
            <a:br/>
            <a:r>
              <a:t>Camera frames -&gt; layers</a:t>
            </a:r>
            <a:br/>
            <a:r>
              <a:t>Edges -&gt; shapes -&gt; faces</a:t>
            </a:r>
            <a:br/>
            <a:r>
              <a:t>-&gt; "CHEATING detected"</a:t>
            </a:r>
            <a:br/>
            <a:r>
              <a:t>THE model for images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A500"/>
                </a:solidFill>
              </a:defRPr>
            </a:pPr>
            <a:r>
              <a:t>Regression Models — Real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362712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Linear Regression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3444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HOUSE PRICE</a:t>
            </a:r>
            <a:br/>
            <a:r>
              <a:t>1000 sqft = 50L</a:t>
            </a:r>
            <a:br/>
            <a:r>
              <a:t>1500 sqft = 75L</a:t>
            </a:r>
            <a:br/>
            <a:r>
              <a:t>Draw straight line</a:t>
            </a:r>
            <a:br/>
            <a:r>
              <a:t>Predict any size!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1371600"/>
            <a:ext cx="362712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8640" y="141732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Polynomial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8640" y="1783080"/>
            <a:ext cx="3444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CROP YIELD</a:t>
            </a:r>
            <a:br/>
            <a:r>
              <a:t>Too little fertilizer = low</a:t>
            </a:r>
            <a:br/>
            <a:r>
              <a:t>Right amount = high</a:t>
            </a:r>
            <a:br/>
            <a:r>
              <a:t>Too much = drops again</a:t>
            </a:r>
            <a:br/>
            <a:r>
              <a:t>Curved, not straight!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7200" y="1371600"/>
            <a:ext cx="3627120" cy="274320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8640" y="141732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Neural Networks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8640" y="1783080"/>
            <a:ext cx="34442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STOCK PRICE</a:t>
            </a:r>
            <a:br/>
            <a:r>
              <a:t>50+ features: price,</a:t>
            </a:r>
            <a:br/>
            <a:r>
              <a:t>volume, news, earnings</a:t>
            </a:r>
            <a:br/>
            <a:r>
              <a:t>Too complex for a line</a:t>
            </a:r>
            <a:br/>
            <a:r>
              <a:t>Needs massive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C32"/>
                </a:solidFill>
              </a:defRPr>
            </a:pPr>
            <a:r>
              <a:t>Start with Linear Regression → if curved try Polynomial → if complex try Neural Network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C864"/>
                </a:solidFill>
              </a:defRPr>
            </a:pPr>
            <a:r>
              <a:t>When to Use Which? (Classification)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C864"/>
                </a:solidFill>
              </a:defRPr>
            </a:pPr>
            <a:r>
              <a:t>Small data</a:t>
            </a:r>
            <a:br/>
            <a:r>
              <a:t>&lt; 1000 rows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Logistic Regression</a:t>
            </a:r>
            <a:br/>
            <a:r>
              <a:t>or Decision Tree</a:t>
            </a:r>
            <a:br/>
            <a:br/>
            <a:r>
              <a:t>Fast, simple,</a:t>
            </a:r>
            <a:br/>
            <a:r>
              <a:t>explainable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67200" y="1097280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58640" y="114300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0"/>
                </a:solidFill>
              </a:defRPr>
            </a:pPr>
            <a:r>
              <a:t>Medium data</a:t>
            </a:r>
            <a:br/>
            <a:r>
              <a:t>1K - 100K rows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58640" y="150876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Random Forest</a:t>
            </a:r>
            <a:br/>
            <a:r>
              <a:t>or SVM</a:t>
            </a:r>
            <a:br/>
            <a:br/>
            <a:r>
              <a:t>More accurate,</a:t>
            </a:r>
            <a:br/>
            <a:r>
              <a:t>handles complexity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8077200" y="1097280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68640" y="1143000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5050"/>
                </a:solidFill>
              </a:defRPr>
            </a:pPr>
            <a:r>
              <a:t>Images / Video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68640" y="150876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CNN (Deep Learning)</a:t>
            </a:r>
            <a:br/>
            <a:r>
              <a:t>+ Transfer Learning</a:t>
            </a:r>
            <a:br/>
            <a:br/>
            <a:r>
              <a:t>ONLY option for</a:t>
            </a:r>
            <a:br/>
            <a:r>
              <a:t>visual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794759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840479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96FF"/>
                </a:solidFill>
              </a:defRPr>
            </a:pPr>
            <a:r>
              <a:t>Need to EXPLAIN</a:t>
            </a:r>
            <a:br/>
            <a:r>
              <a:t>the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20624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Decision Tree</a:t>
            </a:r>
            <a:br/>
            <a:br/>
            <a:r>
              <a:t>Doctors/banks need</a:t>
            </a:r>
            <a:br/>
            <a:r>
              <a:t>to show reasoning:</a:t>
            </a:r>
            <a:br/>
            <a:r>
              <a:t>"BECAUSE X AND Y"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67200" y="3794759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8640" y="3840479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B464FF"/>
                </a:solidFill>
              </a:defRPr>
            </a:pPr>
            <a:r>
              <a:t>Best accuracy</a:t>
            </a:r>
            <a:br/>
            <a:r>
              <a:t>don't care about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58640" y="420624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Random Forest</a:t>
            </a:r>
            <a:br/>
            <a:br/>
            <a:r>
              <a:t>100+ trees vote</a:t>
            </a:r>
            <a:br/>
            <a:r>
              <a:t>Slower but more</a:t>
            </a:r>
            <a:br/>
            <a:r>
              <a:t>accurate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7200" y="3794759"/>
            <a:ext cx="3627120" cy="2560320"/>
          </a:xfrm>
          <a:prstGeom prst="rect">
            <a:avLst/>
          </a:prstGeom>
          <a:solidFill>
            <a:srgbClr val="2D2D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8640" y="3840479"/>
            <a:ext cx="344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DC32"/>
                </a:solidFill>
              </a:defRPr>
            </a:pPr>
            <a:r>
              <a:t>Text / Language</a:t>
            </a:r>
            <a:br/>
            <a:r>
              <a:t>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8640" y="4206240"/>
            <a:ext cx="344424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8C8D2"/>
                </a:solidFill>
              </a:defRPr>
            </a:pPr>
            <a:r>
              <a:t>Transformer / LLM</a:t>
            </a:r>
            <a:br/>
            <a:br/>
            <a:r>
              <a:t>Only these understand</a:t>
            </a:r>
            <a:br/>
            <a:r>
              <a:t>language deeply</a:t>
            </a:r>
            <a:br/>
            <a:r>
              <a:t>BERT, GPT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